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62_0.xml" ContentType="application/vnd.ms-powerpoint.comment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7F_0.xml" ContentType="application/vnd.ms-powerpoint.comment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66_0.xml" ContentType="application/vnd.ms-powerpoint.comments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66" r:id="rId2"/>
    <p:sldId id="265" r:id="rId3"/>
    <p:sldId id="365" r:id="rId4"/>
    <p:sldId id="354" r:id="rId5"/>
    <p:sldId id="383" r:id="rId6"/>
    <p:sldId id="358" r:id="rId7"/>
    <p:sldId id="359" r:id="rId8"/>
    <p:sldId id="363" r:id="rId9"/>
    <p:sldId id="389" r:id="rId10"/>
    <p:sldId id="390" r:id="rId11"/>
    <p:sldId id="391" r:id="rId12"/>
    <p:sldId id="396" r:id="rId13"/>
    <p:sldId id="382" r:id="rId14"/>
    <p:sldId id="357" r:id="rId15"/>
    <p:sldId id="360" r:id="rId16"/>
    <p:sldId id="395" r:id="rId17"/>
    <p:sldId id="361" r:id="rId18"/>
    <p:sldId id="394" r:id="rId19"/>
    <p:sldId id="380" r:id="rId20"/>
    <p:sldId id="375" r:id="rId21"/>
    <p:sldId id="280" r:id="rId22"/>
  </p:sldIdLst>
  <p:sldSz cx="12192000" cy="6858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Sitka Text" pitchFamily="2" charset="0"/>
      <p:regular r:id="rId33"/>
      <p:bold r:id="rId34"/>
      <p:italic r:id="rId35"/>
      <p:boldItalic r:id="rId36"/>
    </p:embeddedFont>
    <p:embeddedFont>
      <p:font typeface="等线" panose="02010600030101010101" pitchFamily="2" charset="-122"/>
      <p:regular r:id="rId37"/>
      <p:bold r:id="rId38"/>
    </p:embeddedFont>
    <p:embeddedFont>
      <p:font typeface="微软雅黑" panose="020B0503020204020204" pitchFamily="34" charset="-122"/>
      <p:regular r:id="rId39"/>
      <p:bold r:id="rId40"/>
    </p:embeddedFont>
  </p:embeddedFontLst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7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FD311B-2A4D-FE5C-20B7-230E6D183768}" name="Damon Tong" initials="DT" userId="f3777fc0d6de9f4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1F497D"/>
    <a:srgbClr val="8F9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86732" autoAdjust="0"/>
  </p:normalViewPr>
  <p:slideViewPr>
    <p:cSldViewPr snapToGrid="0" showGuides="1">
      <p:cViewPr varScale="1">
        <p:scale>
          <a:sx n="52" d="100"/>
          <a:sy n="52" d="100"/>
        </p:scale>
        <p:origin x="64" y="1004"/>
      </p:cViewPr>
      <p:guideLst>
        <p:guide orient="horz" pos="2159"/>
        <p:guide pos="37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comments/modernComment_17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42F09A-02C6-4CEC-B398-737CA359B1EB}" authorId="{78FD311B-2A4D-FE5C-20B7-230E6D183768}" created="2026-06-28T03:15:21.1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83"/>
      <ac:spMk id="6"/>
      <ac:txMk cp="0" len="20">
        <ac:context len="21" hash="2005145258"/>
      </ac:txMk>
    </ac:txMkLst>
    <p188:pos x="4237121" y="231345"/>
    <p188:txBody>
      <a:bodyPr/>
      <a:lstStyle/>
      <a:p>
        <a:r>
          <a:rPr lang="zh-CN" altLang="en-US"/>
          <a:t>5,6页合并</a:t>
        </a:r>
      </a:p>
    </p188:txBody>
  </p188:cm>
</p188:cmLst>
</file>

<file path=ppt/comments/modernComment_16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89BEE8-C12E-4178-B59D-238FED4A5ECA}" authorId="{78FD311B-2A4D-FE5C-20B7-230E6D183768}" created="2026-06-28T03:01:00.2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4"/>
      <ac:spMk id="13"/>
      <ac:txMk cp="34" len="56">
        <ac:context len="732" hash="2312459078"/>
      </ac:txMk>
    </ac:txMkLst>
    <p188:pos x="6202680" y="501278"/>
    <p188:txBody>
      <a:bodyPr/>
      <a:lstStyle/>
      <a:p>
        <a:r>
          <a:rPr lang="zh-CN" altLang="en-US"/>
          <a:t>说明是构建优化模型，用固定求解器求解。有缺陷</a:t>
        </a:r>
      </a:p>
    </p188:txBody>
  </p188:cm>
  <p188:cm id="{D74E3BC9-7B94-4C23-BB4A-3560765C7CC8}" authorId="{78FD311B-2A4D-FE5C-20B7-230E6D183768}" status="resolved" created="2026-06-28T03:02:42.78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4"/>
      <ac:spMk id="13"/>
      <ac:txMk cp="522" len="32">
        <ac:context len="732" hash="2312459078"/>
      </ac:txMk>
    </ac:txMkLst>
    <p188:pos x="3916680" y="2695838"/>
    <p188:txBody>
      <a:bodyPr/>
      <a:lstStyle/>
      <a:p>
        <a:r>
          <a:rPr lang="zh-CN" altLang="en-US"/>
          <a:t>加一下deeparies
</a:t>
        </a:r>
      </a:p>
    </p188:txBody>
  </p188:cm>
  <p188:cm id="{6B477CBA-EC29-4676-A08B-E906EA5C211A}" authorId="{78FD311B-2A4D-FE5C-20B7-230E6D183768}" created="2026-06-28T03:05:55.89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4"/>
      <ac:spMk id="13"/>
      <ac:txMk cp="618" len="12">
        <ac:context len="732" hash="2312459078"/>
      </ac:txMk>
    </ac:txMkLst>
    <p188:pos x="10469880" y="3793118"/>
    <p188:txBody>
      <a:bodyPr/>
      <a:lstStyle/>
      <a:p>
        <a:r>
          <a:rPr lang="zh-CN" altLang="en-US"/>
          <a:t>先预测再决策的过程</a:t>
        </a:r>
      </a:p>
    </p188:txBody>
  </p188:cm>
  <p188:cm id="{3D32B7D9-2130-45D7-839A-9E2CD6C7E726}" authorId="{78FD311B-2A4D-FE5C-20B7-230E6D183768}" created="2026-06-28T03:07:47.6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4"/>
      <ac:spMk id="13"/>
      <ac:txMk cp="292" len="28">
        <ac:context len="732" hash="2312459078"/>
      </ac:txMk>
    </ac:txMkLst>
    <p188:pos x="3642360" y="1324238"/>
    <p188:txBody>
      <a:bodyPr/>
      <a:lstStyle/>
      <a:p>
        <a:r>
          <a:rPr lang="zh-CN" altLang="en-US"/>
          <a:t>解释投资组合怎么建模，然后被管理成序贯决策的过程，因此被用于RL，但是存在问题。引出下面有一些分层的做法来解决这类问题。</a:t>
        </a:r>
      </a:p>
    </p188:txBody>
  </p188:cm>
</p188:cmLst>
</file>

<file path=ppt/comments/modernComment_16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AE0567-8931-4499-AD95-53961E506699}" authorId="{78FD311B-2A4D-FE5C-20B7-230E6D183768}" created="2026-06-28T04:08:36.66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8"/>
      <ac:spMk id="43"/>
      <ac:txMk cp="1">
        <ac:context len="78" hash="2564980837"/>
      </ac:txMk>
    </ac:txMkLst>
    <p188:pos x="6254116" y="197142"/>
    <p188:txBody>
      <a:bodyPr/>
      <a:lstStyle/>
      <a:p>
        <a:r>
          <a:rPr lang="zh-CN" altLang="en-US"/>
          <a:t>现有方法主要关注what to hold</a:t>
        </a:r>
      </a:p>
    </p188:txBody>
  </p188:cm>
  <p188:cm id="{83396606-84CD-4B0B-9E67-1AD388632B6D}" authorId="{78FD311B-2A4D-FE5C-20B7-230E6D183768}" created="2026-06-28T04:08:47.8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8"/>
      <ac:spMk id="43"/>
      <ac:txMk cp="1" len="76">
        <ac:context len="78" hash="2564980837"/>
      </ac:txMk>
    </ac:txMkLst>
    <p188:pos x="8984616" y="197142"/>
    <p188:txBody>
      <a:bodyPr/>
      <a:lstStyle/>
      <a:p>
        <a:r>
          <a:rPr lang="zh-CN" altLang="en-US"/>
          <a:t>挑战1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D8C7-CC7A-46D2-91BC-004A931958A1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C2776-708E-45EF-B4EF-306FEFC18D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`</a:t>
            </a:r>
            <a:r>
              <a:rPr lang="en-US" altLang="zh-CN" b="1" dirty="0"/>
              <a:t>Classical methods </a:t>
            </a:r>
            <a:r>
              <a:rPr lang="en-US" altLang="zh-CN" dirty="0"/>
              <a:t>usually estimate asset return, risk, or covariance, and then solve an optimization problem to obtain portfolio weights </a:t>
            </a:r>
            <a:r>
              <a:rPr lang="en-US" altLang="zh-CN" dirty="0" err="1"/>
              <a:t>w_t.`Representative</a:t>
            </a:r>
            <a:r>
              <a:rPr lang="en-US" altLang="zh-CN" dirty="0"/>
              <a:t> methods include mean-variance optimization, CAPM(Markowitz, 1952; Sharpe, 1964; Perold and Sharpe, 1988; Sullivan, 2008)</a:t>
            </a:r>
          </a:p>
          <a:p>
            <a:endParaRPr lang="en-US" altLang="zh-CN" dirty="0"/>
          </a:p>
          <a:p>
            <a:r>
              <a:rPr lang="en-US" altLang="zh-CN" dirty="0"/>
              <a:t>`Deep reinforcement learning methods formulate PM as a sequential decision problem and directly learn a policy from market states to portfolio weights </a:t>
            </a:r>
            <a:r>
              <a:rPr lang="en-US" altLang="zh-CN" dirty="0" err="1"/>
              <a:t>w_t</a:t>
            </a:r>
            <a:r>
              <a:rPr lang="en-US" altLang="zh-CN" dirty="0"/>
              <a:t>.`</a:t>
            </a:r>
          </a:p>
          <a:p>
            <a:endParaRPr lang="en-US" altLang="zh-CN" dirty="0"/>
          </a:p>
          <a:p>
            <a:r>
              <a:rPr lang="en-US" altLang="zh-CN" dirty="0"/>
              <a:t>`Hierarchical or adaptive methods improve policy flexibility through adaptive rebalancing intervals, hierarchical asset selection, or multi-module decision making.`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`Motivation from Real Quantitative Investment </a:t>
            </a:r>
            <a:r>
              <a:rPr lang="en-US" altLang="zh-CN" dirty="0" err="1"/>
              <a:t>Teams``In</a:t>
            </a:r>
            <a:r>
              <a:rPr lang="en-US" altLang="zh-CN" dirty="0"/>
              <a:t> a real quantitative investment team, portfolio management is usually not handled by a single policy that re-decides all asset weights every day. Instead, multiple roles cooperate at different time </a:t>
            </a:r>
            <a:r>
              <a:rPr lang="en-US" altLang="zh-CN" dirty="0" err="1"/>
              <a:t>scales.``Portfolio</a:t>
            </a:r>
            <a:r>
              <a:rPr lang="en-US" altLang="zh-CN" dirty="0"/>
              <a:t> </a:t>
            </a:r>
            <a:r>
              <a:rPr lang="en-US" altLang="zh-CN" dirty="0" err="1"/>
              <a:t>Manager``First</a:t>
            </a:r>
            <a:r>
              <a:rPr lang="en-US" altLang="zh-CN" dirty="0"/>
              <a:t> determines which assets should be the core holdings over the next period and provides a medium-horizon base allocation </a:t>
            </a:r>
            <a:r>
              <a:rPr lang="en-US" altLang="zh-CN" dirty="0" err="1"/>
              <a:t>framework.``Corresponding</a:t>
            </a:r>
            <a:r>
              <a:rPr lang="en-US" altLang="zh-CN" dirty="0"/>
              <a:t> </a:t>
            </a:r>
            <a:r>
              <a:rPr lang="en-US" altLang="zh-CN" dirty="0" err="1"/>
              <a:t>CMTFlow</a:t>
            </a:r>
            <a:r>
              <a:rPr lang="en-US" altLang="zh-CN" dirty="0"/>
              <a:t> module: Outer Actor, which answers WHAT base to </a:t>
            </a:r>
            <a:r>
              <a:rPr lang="en-US" altLang="zh-CN" dirty="0" err="1"/>
              <a:t>hold.``Trader``Adjusts</a:t>
            </a:r>
            <a:r>
              <a:rPr lang="en-US" altLang="zh-CN" dirty="0"/>
              <a:t> actual execution weights around the base portfolio according to newly arriving prices, volumes, and short-term </a:t>
            </a:r>
            <a:r>
              <a:rPr lang="en-US" altLang="zh-CN" dirty="0" err="1"/>
              <a:t>fluctuations.``Corresponding</a:t>
            </a:r>
            <a:r>
              <a:rPr lang="en-US" altLang="zh-CN" dirty="0"/>
              <a:t> </a:t>
            </a:r>
            <a:r>
              <a:rPr lang="en-US" altLang="zh-CN" dirty="0" err="1"/>
              <a:t>CMTFlow</a:t>
            </a:r>
            <a:r>
              <a:rPr lang="en-US" altLang="zh-CN" dirty="0"/>
              <a:t> module: Inner Actor, which answers HOW to refine daily </a:t>
            </a:r>
            <a:r>
              <a:rPr lang="en-US" altLang="zh-CN" dirty="0" err="1"/>
              <a:t>weights.``Risk</a:t>
            </a:r>
            <a:r>
              <a:rPr lang="en-US" altLang="zh-CN" dirty="0"/>
              <a:t> </a:t>
            </a:r>
            <a:r>
              <a:rPr lang="en-US" altLang="zh-CN" dirty="0" err="1"/>
              <a:t>Controller``Continuously</a:t>
            </a:r>
            <a:r>
              <a:rPr lang="en-US" altLang="zh-CN" dirty="0"/>
              <a:t> monitors return, drawdown, risk exposure, and candidate replacement portfolios, and triggers revision when the current portfolio may become </a:t>
            </a:r>
            <a:r>
              <a:rPr lang="en-US" altLang="zh-CN" dirty="0" err="1"/>
              <a:t>risky.``Corresponding</a:t>
            </a:r>
            <a:r>
              <a:rPr lang="en-US" altLang="zh-CN" dirty="0"/>
              <a:t> </a:t>
            </a:r>
            <a:r>
              <a:rPr lang="en-US" altLang="zh-CN" dirty="0" err="1"/>
              <a:t>CMTFlow</a:t>
            </a:r>
            <a:r>
              <a:rPr lang="en-US" altLang="zh-CN" dirty="0"/>
              <a:t> module: Controller, which answers WHEN to </a:t>
            </a:r>
            <a:r>
              <a:rPr lang="en-US" altLang="zh-CN" dirty="0" err="1"/>
              <a:t>revise.``Core</a:t>
            </a:r>
            <a:r>
              <a:rPr lang="en-US" altLang="zh-CN" dirty="0"/>
              <a:t> intuition: portfolio management is naturally a multi-scale sequential decision problem, not a single daily weight-output problem.`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`Overview of </a:t>
            </a:r>
            <a:r>
              <a:rPr lang="en-US" altLang="zh-CN" dirty="0" err="1"/>
              <a:t>CMTFlow</a:t>
            </a:r>
            <a:r>
              <a:rPr lang="en-US" altLang="zh-CN" dirty="0"/>
              <a:t>``To match the multi-role structure in real investment teams, </a:t>
            </a:r>
            <a:r>
              <a:rPr lang="en-US" altLang="zh-CN" dirty="0" err="1"/>
              <a:t>CMTFlow</a:t>
            </a:r>
            <a:r>
              <a:rPr lang="en-US" altLang="zh-CN" dirty="0"/>
              <a:t> builds three coordinated reinforcement learning </a:t>
            </a:r>
            <a:r>
              <a:rPr lang="en-US" altLang="zh-CN" dirty="0" err="1"/>
              <a:t>modules.``Controller``Compares</a:t>
            </a:r>
            <a:r>
              <a:rPr lang="en-US" altLang="zh-CN" dirty="0"/>
              <a:t> the drifted current holding with the candidate base generated by the Outer Actor, and learns whether the current base should be </a:t>
            </a:r>
            <a:r>
              <a:rPr lang="en-US" altLang="zh-CN" dirty="0" err="1"/>
              <a:t>revised.``Question</a:t>
            </a:r>
            <a:r>
              <a:rPr lang="en-US" altLang="zh-CN" dirty="0"/>
              <a:t> answered: WHEN to </a:t>
            </a:r>
            <a:r>
              <a:rPr lang="en-US" altLang="zh-CN" dirty="0" err="1"/>
              <a:t>revise?``Outer</a:t>
            </a:r>
            <a:r>
              <a:rPr lang="en-US" altLang="zh-CN" dirty="0"/>
              <a:t> </a:t>
            </a:r>
            <a:r>
              <a:rPr lang="en-US" altLang="zh-CN" dirty="0" err="1"/>
              <a:t>Actor``Generates</a:t>
            </a:r>
            <a:r>
              <a:rPr lang="en-US" altLang="zh-CN" dirty="0"/>
              <a:t> a sparse segment-level candidate base portfolio from long-horizon market </a:t>
            </a:r>
            <a:r>
              <a:rPr lang="en-US" altLang="zh-CN" dirty="0" err="1"/>
              <a:t>windows.``Question</a:t>
            </a:r>
            <a:r>
              <a:rPr lang="en-US" altLang="zh-CN" dirty="0"/>
              <a:t> answered: WHAT base to </a:t>
            </a:r>
            <a:r>
              <a:rPr lang="en-US" altLang="zh-CN" dirty="0" err="1"/>
              <a:t>hold?``Inner</a:t>
            </a:r>
            <a:r>
              <a:rPr lang="en-US" altLang="zh-CN" dirty="0"/>
              <a:t> </a:t>
            </a:r>
            <a:r>
              <a:rPr lang="en-US" altLang="zh-CN" dirty="0" err="1"/>
              <a:t>Actor``Performs</a:t>
            </a:r>
            <a:r>
              <a:rPr lang="en-US" altLang="zh-CN" dirty="0"/>
              <a:t> local daily weight refinement inside the asset support of the active base </a:t>
            </a:r>
            <a:r>
              <a:rPr lang="en-US" altLang="zh-CN" dirty="0" err="1"/>
              <a:t>portfolio.``Question</a:t>
            </a:r>
            <a:r>
              <a:rPr lang="en-US" altLang="zh-CN" dirty="0"/>
              <a:t> answered: HOW to </a:t>
            </a:r>
            <a:r>
              <a:rPr lang="en-US" altLang="zh-CN" dirty="0" err="1"/>
              <a:t>refine?``Overall</a:t>
            </a:r>
            <a:r>
              <a:rPr lang="en-US" altLang="zh-CN" dirty="0"/>
              <a:t> flow: the Controller decides whether to keep or switch the base, the Outer Actor provides candidate bases, and the Inner Actor converts the active base into the final executed portfolio.`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`The previous slide has already introduced the overall decision flow of </a:t>
            </a:r>
            <a:r>
              <a:rPr lang="en-US" altLang="zh-CN" dirty="0" err="1"/>
              <a:t>CMTFlow</a:t>
            </a:r>
            <a:r>
              <a:rPr lang="en-US" altLang="zh-CN" dirty="0"/>
              <a:t>: generate a candidate base, let the Controller decide whether to replace the active base, and use the Inner Actor for daily </a:t>
            </a:r>
            <a:r>
              <a:rPr lang="en-US" altLang="zh-CN" dirty="0" err="1"/>
              <a:t>refinement.``Therefore</a:t>
            </a:r>
            <a:r>
              <a:rPr lang="en-US" altLang="zh-CN" dirty="0"/>
              <a:t>, this slide focuses on the concrete network architecture instead of repeating the daily decision flow.`</a:t>
            </a:r>
          </a:p>
          <a:p>
            <a:r>
              <a:rPr lang="en-US" altLang="zh-CN" dirty="0"/>
              <a:t>`Outer Actor: Medium-horizon base </a:t>
            </a:r>
            <a:r>
              <a:rPr lang="en-US" altLang="zh-CN" dirty="0" err="1"/>
              <a:t>generator``It</a:t>
            </a:r>
            <a:r>
              <a:rPr lang="en-US" altLang="zh-CN" dirty="0"/>
              <a:t> takes the long-horizon market window </a:t>
            </a:r>
            <a:r>
              <a:rPr lang="en-US" altLang="zh-CN" dirty="0" err="1"/>
              <a:t>X_t</a:t>
            </a:r>
            <a:r>
              <a:rPr lang="en-US" altLang="zh-CN" dirty="0"/>
              <a:t>^{out} and the drifted portfolio \tilde{w}_t as inputs, and uses a temporal encoder, cross-asset attention, and an MLP head to produce the candidate base portfolio </a:t>
            </a:r>
            <a:r>
              <a:rPr lang="en-US" altLang="zh-CN" dirty="0" err="1"/>
              <a:t>w_t</a:t>
            </a:r>
            <a:r>
              <a:rPr lang="en-US" altLang="zh-CN" dirty="0"/>
              <a:t>^{out}.``Function: learn what to hold over the next period and provide a stable medium-horizon asset selection and base </a:t>
            </a:r>
            <a:r>
              <a:rPr lang="en-US" altLang="zh-CN" dirty="0" err="1"/>
              <a:t>allocation.``Controller</a:t>
            </a:r>
            <a:r>
              <a:rPr lang="en-US" altLang="zh-CN" dirty="0"/>
              <a:t>: Risk-aware base revision </a:t>
            </a:r>
            <a:r>
              <a:rPr lang="en-US" altLang="zh-CN" dirty="0" err="1"/>
              <a:t>module``It</a:t>
            </a:r>
            <a:r>
              <a:rPr lang="en-US" altLang="zh-CN" dirty="0"/>
              <a:t> takes the current active base, the candidate base, the drifted holding state, and risk-related features as inputs, and outputs an exit probability </a:t>
            </a:r>
            <a:r>
              <a:rPr lang="en-US" altLang="zh-CN" dirty="0" err="1"/>
              <a:t>p_t</a:t>
            </a:r>
            <a:r>
              <a:rPr lang="en-US" altLang="zh-CN" dirty="0"/>
              <a:t>^{exit}.``Function: learn when to revise, converting a fixed holding horizon into a learnable switching decision driven by market states and portfolio </a:t>
            </a:r>
            <a:r>
              <a:rPr lang="en-US" altLang="zh-CN" dirty="0" err="1"/>
              <a:t>risk.``Inner</a:t>
            </a:r>
            <a:r>
              <a:rPr lang="en-US" altLang="zh-CN" dirty="0"/>
              <a:t> Actor: Daily local refinement </a:t>
            </a:r>
            <a:r>
              <a:rPr lang="en-US" altLang="zh-CN" dirty="0" err="1"/>
              <a:t>module``It</a:t>
            </a:r>
            <a:r>
              <a:rPr lang="en-US" altLang="zh-CN" dirty="0"/>
              <a:t> takes the short-horizon market window </a:t>
            </a:r>
            <a:r>
              <a:rPr lang="en-US" altLang="zh-CN" dirty="0" err="1"/>
              <a:t>X_t</a:t>
            </a:r>
            <a:r>
              <a:rPr lang="en-US" altLang="zh-CN" dirty="0"/>
              <a:t>^{in} and the active base support as inputs, and outputs locally refined daily weights </a:t>
            </a:r>
            <a:r>
              <a:rPr lang="en-US" altLang="zh-CN" dirty="0" err="1"/>
              <a:t>w_t</a:t>
            </a:r>
            <a:r>
              <a:rPr lang="en-US" altLang="zh-CN" dirty="0"/>
              <a:t>^{in} around the base </a:t>
            </a:r>
            <a:r>
              <a:rPr lang="en-US" altLang="zh-CN" dirty="0" err="1"/>
              <a:t>portfolio.``Function</a:t>
            </a:r>
            <a:r>
              <a:rPr lang="en-US" altLang="zh-CN" dirty="0"/>
              <a:t>: learn how to refine, absorbing daily information without completely overriding the medium-horizon </a:t>
            </a:r>
            <a:r>
              <a:rPr lang="en-US" altLang="zh-CN" dirty="0" err="1"/>
              <a:t>base.``Next</a:t>
            </a:r>
            <a:r>
              <a:rPr lang="en-US" altLang="zh-CN" dirty="0"/>
              <a:t>, we introduce how each module is formulated as a Markov decision process, including its state, action, reward, and training objective.`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`Role: the Outer Actor operates at the holding-segment level, rather than at the final daily trading level. It answers: WHAT to hold next?`</a:t>
            </a:r>
          </a:p>
          <a:p>
            <a:r>
              <a:rPr lang="en-US" altLang="zh-CN" dirty="0"/>
              <a:t>`X_{\</a:t>
            </a:r>
            <a:r>
              <a:rPr lang="en-US" altLang="zh-CN" dirty="0" err="1"/>
              <a:t>tau_k</a:t>
            </a:r>
            <a:r>
              <a:rPr lang="en-US" altLang="zh-CN" dirty="0"/>
              <a:t>}^{out}: long-horizon market window for capturing medium-term trends and cross-asset relationships.``\tilde{w}_{\</a:t>
            </a:r>
            <a:r>
              <a:rPr lang="en-US" altLang="zh-CN" dirty="0" err="1"/>
              <a:t>tau_k</a:t>
            </a:r>
            <a:r>
              <a:rPr lang="en-US" altLang="zh-CN" dirty="0"/>
              <a:t>}: current drifted executed portfolio, providing portfolio context.`</a:t>
            </a:r>
          </a:p>
          <a:p>
            <a:r>
              <a:rPr lang="en-US" altLang="zh-CN" b="1" dirty="0"/>
              <a:t>the Outer Actor provides a stable medium-horizon strategic anchor, preventing the strategy from being fully driven by daily noise.`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`Role: the Inner Actor does not re-select the asset universe, but adjusts weights inside the active base portfolio. It answers: HOW to refine daily weights?`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`The Inner Actor can only redistribute weights among assets selected by the active base, and cannot introduce arbitrary new assets.`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reward measures the incremental value of daily refinement relative to the active base.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 Inner Actor provides daily flexibility while staying anchored to the medium-horizon base portfolio.`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`Role: the Controller does not allocate capital directly. It decides whether the current active base should continue to be held. It answers: WHEN to revise?`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`Daily </a:t>
            </a:r>
            <a:r>
              <a:rPr lang="en-US" altLang="zh-CN" dirty="0" err="1"/>
              <a:t>update``The</a:t>
            </a:r>
            <a:r>
              <a:rPr lang="en-US" altLang="zh-CN" dirty="0"/>
              <a:t> Controller is checked every trading day. If the exit probability crosses the threshold, it switches to the candidate base; otherwise it keeps the current </a:t>
            </a:r>
            <a:r>
              <a:rPr lang="en-US" altLang="zh-CN" dirty="0" err="1"/>
              <a:t>base.``If</a:t>
            </a:r>
            <a:r>
              <a:rPr lang="en-US" altLang="zh-CN" dirty="0"/>
              <a:t> the 30-day maximum-hold cap is reached, revision is forced.`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2C16-0F2B-6E75-5CD4-27FEC312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012630-4AD2-897B-CD2C-B31DB8995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A99DDA-8DA7-C654-7796-CD394894F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design of the controller state is to answer whether the current holding has deteriorated and whether the candidate base is worth switching to.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exit probability is a nonlinear policy signal, not a one-dimensional future-return predictor.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F6090-9B7D-4473-5445-8793ECC52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030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`Why stage-wise </a:t>
            </a:r>
            <a:r>
              <a:rPr lang="en-US" altLang="zh-CN" dirty="0" err="1"/>
              <a:t>training?``The</a:t>
            </a:r>
            <a:r>
              <a:rPr lang="en-US" altLang="zh-CN" dirty="0"/>
              <a:t> three modules operate at different time scales and receive different reward signals. Training all modules jointly from scratch would be </a:t>
            </a:r>
            <a:r>
              <a:rPr lang="en-US" altLang="zh-CN" dirty="0" err="1"/>
              <a:t>unstable.``Training</a:t>
            </a:r>
            <a:r>
              <a:rPr lang="en-US" altLang="zh-CN" dirty="0"/>
              <a:t> idea: first obtain a stable fixed-segment HRL backbone, then train the Controller, and finally jointly finetune under the same daily protocol used at test time.`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Next, I will introduce the experimental setup of our work.</a:t>
            </a:r>
          </a:p>
          <a:p>
            <a:r>
              <a:rPr lang="zh-CN" altLang="zh-CN" dirty="0">
                <a:effectLst/>
              </a:rPr>
              <a:t>We conduct experiments on two mainstream financial datasets: the Nasdaq-100 and the CSI 300. For the Nasdaq-100 dataset, we select 39 constituent stocks.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For the CSI 300 dataset, we adopt 53 stocks.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0" dirty="0"/>
              <a:t>`This slide highlights that </a:t>
            </a:r>
            <a:r>
              <a:rPr lang="en-US" altLang="zh-CN" b="0" dirty="0" err="1"/>
              <a:t>CMTFlow</a:t>
            </a:r>
            <a:r>
              <a:rPr lang="en-US" altLang="zh-CN" b="0" dirty="0"/>
              <a:t> is not the best on every single metric, but it achieves a strong overall balance between return and </a:t>
            </a:r>
            <a:r>
              <a:rPr lang="en-US" altLang="zh-CN" b="0" dirty="0" err="1"/>
              <a:t>risk.``Baselines``Traditional</a:t>
            </a:r>
            <a:r>
              <a:rPr lang="en-US" altLang="zh-CN" b="0" dirty="0"/>
              <a:t> / Online: </a:t>
            </a:r>
            <a:r>
              <a:rPr lang="en-US" altLang="zh-CN" b="0" dirty="0" err="1"/>
              <a:t>Buy&amp;Hold</a:t>
            </a:r>
            <a:r>
              <a:rPr lang="en-US" altLang="zh-CN" b="0" dirty="0"/>
              <a:t>, Markowitz, UCRP, </a:t>
            </a:r>
            <a:r>
              <a:rPr lang="en-US" altLang="zh-CN" b="0" dirty="0" err="1"/>
              <a:t>Anticor</a:t>
            </a:r>
            <a:r>
              <a:rPr lang="en-US" altLang="zh-CN" b="0" dirty="0"/>
              <a:t>, OLMAR, </a:t>
            </a:r>
            <a:r>
              <a:rPr lang="en-US" altLang="zh-CN" b="0" dirty="0" err="1"/>
              <a:t>WMAMR``Deep</a:t>
            </a:r>
            <a:r>
              <a:rPr lang="en-US" altLang="zh-CN" b="0" dirty="0"/>
              <a:t> RL: </a:t>
            </a:r>
            <a:r>
              <a:rPr lang="en-US" altLang="zh-CN" b="0" dirty="0" err="1"/>
              <a:t>AlphaStock</a:t>
            </a:r>
            <a:r>
              <a:rPr lang="en-US" altLang="zh-CN" b="0" dirty="0"/>
              <a:t>, </a:t>
            </a:r>
            <a:r>
              <a:rPr lang="en-US" altLang="zh-CN" b="0" dirty="0" err="1"/>
              <a:t>DeepAries</a:t>
            </a:r>
            <a:r>
              <a:rPr lang="en-US" altLang="zh-CN" b="0" dirty="0"/>
              <a:t>, DeepTrader``Nasdaq-100``CMTFlow obtains the highest matched total return: TR = 265.53%.``Meanwhile, its MDD is 18.62%, much lower than high-return traditional baselines such as WMAMR and </a:t>
            </a:r>
            <a:r>
              <a:rPr lang="en-US" altLang="zh-CN" b="0" dirty="0" err="1"/>
              <a:t>Anticor</a:t>
            </a:r>
            <a:r>
              <a:rPr lang="en-US" altLang="zh-CN" b="0" dirty="0"/>
              <a:t>.``</a:t>
            </a:r>
            <a:r>
              <a:rPr lang="en-US" altLang="zh-CN" b="0" dirty="0" err="1"/>
              <a:t>DeepAries</a:t>
            </a:r>
            <a:r>
              <a:rPr lang="en-US" altLang="zh-CN" b="0" dirty="0"/>
              <a:t> has better Sharpe, MDD, and CR, but its TR is only 162.96%, substantially lower than </a:t>
            </a:r>
            <a:r>
              <a:rPr lang="en-US" altLang="zh-CN" b="0" dirty="0" err="1"/>
              <a:t>CMTFlow</a:t>
            </a:r>
            <a:r>
              <a:rPr lang="en-US" altLang="zh-CN" b="0" dirty="0"/>
              <a:t>.``CSI 300``CMTFlow obtains TR = 204.99%, slightly below </a:t>
            </a:r>
            <a:r>
              <a:rPr lang="en-US" altLang="zh-CN" b="0" dirty="0" err="1"/>
              <a:t>DeepTrader's</a:t>
            </a:r>
            <a:r>
              <a:rPr lang="en-US" altLang="zh-CN" b="0" dirty="0"/>
              <a:t> 212.81%.``However, </a:t>
            </a:r>
            <a:r>
              <a:rPr lang="en-US" altLang="zh-CN" b="0" dirty="0" err="1"/>
              <a:t>CMTFlow</a:t>
            </a:r>
            <a:r>
              <a:rPr lang="en-US" altLang="zh-CN" b="0" dirty="0"/>
              <a:t> improves Sharpe from 1.03 to 1.14 and reduces MDD from 31.86% to 22.78%.``Its CR is 1.09, second only to </a:t>
            </a:r>
            <a:r>
              <a:rPr lang="en-US" altLang="zh-CN" b="0" dirty="0" err="1"/>
              <a:t>DeepAries</a:t>
            </a:r>
            <a:r>
              <a:rPr lang="en-US" altLang="zh-CN" b="0" dirty="0"/>
              <a:t>.``Conclusion: </a:t>
            </a:r>
            <a:r>
              <a:rPr lang="en-US" altLang="zh-CN" b="0" dirty="0" err="1"/>
              <a:t>CMTFlow</a:t>
            </a:r>
            <a:r>
              <a:rPr lang="en-US" altLang="zh-CN" b="0" dirty="0"/>
              <a:t> does not simply maximize terminal wealth; it improves return-path quality and the risk-return trade-off.`</a:t>
            </a:r>
            <a:endParaRPr lang="zh-CN" altLang="en-US" b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This slide shows that the Controller is the main source of adaptation, while the Inner Actor mainly provides local weight refinement and risk control.``Nasdaq-100``Outer-only: TR = 220.42%, MDD = 32.09%, CR = 0.74``Outer + Controller: TR = 237.50%, MDD = 21.24%, CR = 1.18``Full </a:t>
            </a:r>
            <a:r>
              <a:rPr lang="en-US" altLang="zh-CN" dirty="0" err="1"/>
              <a:t>CMTFlow</a:t>
            </a:r>
            <a:r>
              <a:rPr lang="en-US" altLang="zh-CN" dirty="0"/>
              <a:t>: TR = 265.53%, MDD = 18.62%, CR = 1.42``Interpretation: adding the Controller improves total return, clearly reduces maximum drawdown, and increases CR.``CSI 300``Outer + Controller: TR = 237.77%, Sharpe = 1.22, CR = 1.16``Full </a:t>
            </a:r>
            <a:r>
              <a:rPr lang="en-US" altLang="zh-CN" dirty="0" err="1"/>
              <a:t>CMTFlow</a:t>
            </a:r>
            <a:r>
              <a:rPr lang="en-US" altLang="zh-CN" dirty="0"/>
              <a:t>: TR = 204.99%, Sharpe = 1.14, MDD = 22.78%, CR = 1.09``Interpretation: in the noisy A-share market, the Inner Actor's return contribution is less stable, but the full model has lower MDD, indicating local risk-control </a:t>
            </a:r>
            <a:r>
              <a:rPr lang="en-US" altLang="zh-CN" dirty="0" err="1"/>
              <a:t>value.``Conclusion</a:t>
            </a:r>
            <a:r>
              <a:rPr lang="en-US" altLang="zh-CN" dirty="0"/>
              <a:t>: the performance gain mainly comes from learning when to revise the base portfolio.`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</a:t>
            </a:r>
            <a:r>
              <a:rPr lang="zh-CN" altLang="zh-CN" dirty="0"/>
              <a:t>给出了代表性切换案例。核心思想是比较两条路径：如果继续持有旧基础组合会怎样，如果切换到新基础组合会怎样。在 Nasdaq 案例中，控制器在 2021 年 4 月 19 日触发关键切换，使 20 天反事实收益从负 % 改善到负 2.63%，并把未来最大回撤从 8.82% 降到 5.51%。在 CSI 300 案例中，2021 年 7 月 7 日的切换把 20 天反事实收益从负 10.</a:t>
            </a:r>
            <a:r>
              <a:rPr lang="en-US" altLang="zh-CN" dirty="0"/>
              <a:t>29</a:t>
            </a:r>
            <a:r>
              <a:rPr lang="zh-CN" altLang="zh-CN" dirty="0"/>
              <a:t>% 提升到正 </a:t>
            </a:r>
            <a:r>
              <a:rPr lang="en-US" altLang="zh-CN" dirty="0"/>
              <a:t>10.25</a:t>
            </a:r>
            <a:r>
              <a:rPr lang="zh-CN" altLang="zh-CN" dirty="0"/>
              <a:t>%，并降低了未来回撤。这说明控制器确实可以在旧基础组合进一步恶化之前提前退出。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Due to ​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​time constraints​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​, I may not have covered all aspects as thoroughly as I would have liked.</a:t>
            </a:r>
          </a:p>
          <a:p>
            <a:pPr fontAlgn="base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appreciate your understanding and welcome any ​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​further questions or discussion​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after the session.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2776-708E-45EF-B4EF-306FEFC18D9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41571" y="322644"/>
            <a:ext cx="11508859" cy="621271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35015" y="419582"/>
            <a:ext cx="11321970" cy="60188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0" y="0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rot="16200000">
            <a:off x="10316901" y="4982901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295910" y="313055"/>
            <a:ext cx="11599545" cy="6233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69070" y="618109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 descr="c9e032cdb926aee22d4a8cb5f24abe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3005" y="147955"/>
            <a:ext cx="674370" cy="674370"/>
          </a:xfrm>
          <a:prstGeom prst="rect">
            <a:avLst/>
          </a:prstGeom>
        </p:spPr>
      </p:pic>
      <p:grpSp>
        <p:nvGrpSpPr>
          <p:cNvPr id="9" name="Group 7"/>
          <p:cNvGrpSpPr/>
          <p:nvPr userDrawn="1"/>
        </p:nvGrpSpPr>
        <p:grpSpPr bwMode="auto">
          <a:xfrm>
            <a:off x="325037" y="317599"/>
            <a:ext cx="698500" cy="368935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0" name="直线连接符 4"/>
          <p:cNvCxnSpPr/>
          <p:nvPr userDrawn="1"/>
        </p:nvCxnSpPr>
        <p:spPr>
          <a:xfrm>
            <a:off x="1141012" y="818296"/>
            <a:ext cx="1000315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2_0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18/10/relationships/comments" Target="../comments/modernComment_17F_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18/10/relationships/comments" Target="../comments/modernComment_166_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06730" y="1441450"/>
            <a:ext cx="111283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rPr lang="en-US" altLang="zh-CN" sz="3000" b="1" i="1" dirty="0">
                <a:solidFill>
                  <a:srgbClr val="FF0000"/>
                </a:solidFill>
                <a:latin typeface="+mj-lt"/>
                <a:cs typeface="Times New Roman" panose="02020603050405020304" charset="0"/>
              </a:rPr>
              <a:t>CMTFlow</a:t>
            </a:r>
            <a:r>
              <a:rPr lang="en-US" altLang="zh-CN" sz="3000" b="1" dirty="0">
                <a:latin typeface="+mj-lt"/>
                <a:cs typeface="Times New Roman" panose="02020603050405020304" charset="0"/>
              </a:rPr>
              <a:t>: Hierarchical Portfolio Management with Controller-Guided Base</a:t>
            </a:r>
          </a:p>
          <a:p>
            <a:pPr algn="ctr" fontAlgn="auto">
              <a:lnSpc>
                <a:spcPct val="120000"/>
              </a:lnSpc>
            </a:pPr>
            <a:r>
              <a:rPr lang="en-US" altLang="zh-CN" sz="3000" b="1" dirty="0">
                <a:latin typeface="+mj-lt"/>
                <a:cs typeface="Times New Roman" panose="02020603050405020304" charset="0"/>
              </a:rPr>
              <a:t>Revision and Daily Refinement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87320" y="3369945"/>
            <a:ext cx="677926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en-US" altLang="zh-CN" sz="2400" b="1" dirty="0">
                <a:latin typeface="Sitka Text" pitchFamily="2" charset="0"/>
                <a:sym typeface="+mn-ea"/>
              </a:rPr>
              <a:t>Wenxuan Tong</a:t>
            </a:r>
          </a:p>
          <a:p>
            <a:pPr indent="0" algn="ctr" fontAlgn="auto">
              <a:lnSpc>
                <a:spcPct val="130000"/>
              </a:lnSpc>
            </a:pPr>
            <a:r>
              <a:rPr lang="en-US" altLang="zh-CN" sz="2400" i="1" dirty="0">
                <a:latin typeface="Sitka Text" pitchFamily="2" charset="0"/>
                <a:sym typeface="+mn-ea"/>
              </a:rPr>
              <a:t>Joint work with Zihan Feng, Junjie Wu</a:t>
            </a:r>
            <a:endParaRPr lang="en-US" altLang="zh-CN" sz="2400" dirty="0">
              <a:latin typeface="Sitka Text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8398" y="5602362"/>
            <a:ext cx="306279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July 4</a:t>
            </a:r>
            <a:r>
              <a:rPr lang="en-US" altLang="zh-CN" sz="1600" b="1" baseline="30000" dirty="0" err="1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b="1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2026</a:t>
            </a:r>
            <a:endParaRPr lang="zh-CN" altLang="en-US" sz="1600" b="1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363198" y="718095"/>
            <a:ext cx="3400313" cy="610772"/>
            <a:chOff x="4631" y="3790"/>
            <a:chExt cx="12285" cy="2207"/>
          </a:xfrm>
        </p:grpSpPr>
        <p:pic>
          <p:nvPicPr>
            <p:cNvPr id="5" name="图片 4" descr="buaamark_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1" y="3790"/>
              <a:ext cx="2207" cy="2207"/>
            </a:xfrm>
            <a:prstGeom prst="rect">
              <a:avLst/>
            </a:prstGeom>
          </p:spPr>
        </p:pic>
        <p:pic>
          <p:nvPicPr>
            <p:cNvPr id="12" name="图片 11" descr="buaaname_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6" y="4075"/>
              <a:ext cx="9360" cy="1638"/>
            </a:xfrm>
            <a:prstGeom prst="rect">
              <a:avLst/>
            </a:prstGeom>
          </p:spPr>
        </p:pic>
      </p:grpSp>
      <p:pic>
        <p:nvPicPr>
          <p:cNvPr id="2" name="图片 1" descr="a3379ef9344add65578fb9123398f7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4548445"/>
            <a:ext cx="6977380" cy="874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7805">
        <p:wipe dir="d"/>
      </p:transition>
    </mc:Choice>
    <mc:Fallback xmlns="">
      <p:transition advTm="17805">
        <p:wipe dir="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19739" y="218235"/>
            <a:ext cx="29296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Background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5950" y="937895"/>
            <a:ext cx="107524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Portfolio Management in Non-Stationary Markets</a:t>
            </a:r>
            <a:endParaRPr lang="zh-CN" altLang="en-US" b="1" dirty="0">
              <a:solidFill>
                <a:schemeClr val="tx1"/>
              </a:solidFill>
              <a:effectLst/>
              <a:latin typeface="Georgia" panose="02040502050405020303" charset="0"/>
              <a:ea typeface="宋体" panose="02010600030101010101" pitchFamily="2" charset="-122"/>
              <a:cs typeface="Georgia" panose="02040502050405020303" charset="0"/>
              <a:sym typeface="+mn-ea"/>
            </a:endParaRPr>
          </a:p>
          <a:p>
            <a:pPr marL="342900" indent="-342900" algn="just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Portfolio Management (PM)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aims to allocate capital across multiple assets under uncertainty, with the goal of maximizing long-horizon risk-adjusted returns. </a:t>
            </a:r>
            <a:r>
              <a:rPr lang="en-US" altLang="zh-CN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In quantitative trading, many studies try to discover exploitable patterns from historical prices, volumes, and asset relationships, and then construct profitable portfolios.</a:t>
            </a:r>
            <a:endParaRPr lang="zh-CN" altLang="en-US" dirty="0">
              <a:solidFill>
                <a:schemeClr val="tx1"/>
              </a:solidFill>
              <a:effectLst/>
              <a:latin typeface="Georgia" panose="02040502050405020303" charset="0"/>
              <a:ea typeface="宋体" panose="02010600030101010101" pitchFamily="2" charset="-122"/>
              <a:cs typeface="Georgia" panose="02040502050405020303" charset="0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" y="4275455"/>
            <a:ext cx="5503545" cy="22707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5950" y="3028315"/>
            <a:ext cx="10752455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However, In real financial markets, return distributions, asset correlations, and market regimes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evolve over time</a:t>
            </a:r>
            <a:r>
              <a:rPr lang="en-US" altLang="zh-CN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. A portfolio that works well in one period may gradually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become ineffective in another period</a:t>
            </a:r>
            <a:r>
              <a:rPr lang="en-US" altLang="zh-CN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14160" y="4857115"/>
            <a:ext cx="4525010" cy="13239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000" b="1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</a:rPr>
              <a:t>Core question</a:t>
            </a:r>
            <a:r>
              <a:rPr lang="en-US" altLang="zh-CN" sz="1800" dirty="0">
                <a:effectLst/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</a:rPr>
              <a:t>: how can we balance return, risk, cost, and market adaptability?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74158">
        <p:wipe dir="d"/>
      </p:transition>
    </mc:Choice>
    <mc:Fallback xmlns="">
      <p:transition advTm="74158">
        <p:wipe dir="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48715" y="226060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  <a:cs typeface="+mj-lt"/>
              </a:rPr>
              <a:t>Problem Definition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9445" y="966470"/>
            <a:ext cx="10859135" cy="40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effectLst/>
                <a:latin typeface="+mj-lt"/>
                <a:ea typeface="宋体" panose="02010600030101010101" pitchFamily="2" charset="-122"/>
                <a:cs typeface="Georgia" panose="02040502050405020303" charset="0"/>
              </a:rPr>
              <a:t>Dynamic Portfolio Problem with Drift and Transaction 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39446" y="1541699"/>
                <a:ext cx="10382782" cy="7350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l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en-US" altLang="zh-CN" b="0" i="0" dirty="0">
                    <a:solidFill>
                      <a:srgbClr val="333333"/>
                    </a:solidFill>
                    <a:latin typeface="+mj-lt"/>
                    <a:ea typeface="var(--monospace)"/>
                    <a:cs typeface="+mj-lt"/>
                  </a:rPr>
                  <a:t>Given M tradable assets, the strategy determines the portfolio weight vector at each trading day t </a:t>
                </a:r>
                <a:r>
                  <a:rPr lang="en-US" altLang="zh-CN" dirty="0">
                    <a:solidFill>
                      <a:srgbClr val="333333"/>
                    </a:solidFill>
                    <a:latin typeface="+mj-lt"/>
                    <a:ea typeface="var(--monospace)"/>
                    <a:cs typeface="+mj-lt"/>
                  </a:rPr>
                  <a:t>is</a:t>
                </a:r>
                <a:r>
                  <a:rPr lang="en-US" altLang="zh-CN" b="0" i="0" dirty="0">
                    <a:solidFill>
                      <a:srgbClr val="333333"/>
                    </a:solidFill>
                    <a:latin typeface="+mj-lt"/>
                    <a:ea typeface="var(--monospace)"/>
                    <a:cs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altLang="zh-CN" b="0" i="0">
                        <a:solidFill>
                          <a:srgbClr val="FF0000"/>
                        </a:solidFill>
                        <a:latin typeface="+mj-lt"/>
                        <a:ea typeface="var(--monospace)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0">
                                <a:solidFill>
                                  <a:srgbClr val="FF0000"/>
                                </a:solidFill>
                                <a:latin typeface="+mj-lt"/>
                                <a:ea typeface="var(--monospace)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b="0" i="0">
                                <a:solidFill>
                                  <a:srgbClr val="FF0000"/>
                                </a:solidFill>
                                <a:latin typeface="+mj-lt"/>
                                <a:ea typeface="var(--monospace)"/>
                                <a:cs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0">
                                    <a:solidFill>
                                      <a:srgbClr val="FF0000"/>
                                    </a:solidFill>
                                    <a:latin typeface="+mj-lt"/>
                                    <a:ea typeface="var(--monospace)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b="0" i="0">
                        <a:solidFill>
                          <a:srgbClr val="FF0000"/>
                        </a:solidFill>
                        <a:latin typeface="+mj-lt"/>
                        <a:ea typeface="var(--monospace)"/>
                        <a:cs typeface="Cambria Math" panose="02040503050406030204" pitchFamily="18" charset="0"/>
                      </a:rPr>
                      <m:t>, </m:t>
                    </m:r>
                    <m:sSup>
                      <m:sSupPr>
                        <m:ctrlP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altLang="zh-CN" b="0" i="0">
                        <a:solidFill>
                          <a:srgbClr val="FF0000"/>
                        </a:solidFill>
                        <a:latin typeface="+mj-lt"/>
                        <a:ea typeface="var(--monospace)"/>
                        <a:cs typeface="Cambria Math" panose="02040503050406030204" pitchFamily="18" charset="0"/>
                      </a:rPr>
                      <m:t>=1, </m:t>
                    </m:r>
                    <m:sSub>
                      <m:sSubPr>
                        <m:ctrlP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zh-CN" b="0" i="0">
                            <a:solidFill>
                              <a:srgbClr val="FF0000"/>
                            </a:solidFill>
                            <a:latin typeface="+mj-lt"/>
                            <a:ea typeface="var(--monospace)"/>
                            <a:cs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altLang="zh-CN" b="0" i="0">
                        <a:solidFill>
                          <a:srgbClr val="FF0000"/>
                        </a:solidFill>
                        <a:latin typeface="+mj-lt"/>
                        <a:ea typeface="var(--monospace)"/>
                        <a:cs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b="0" i="0" dirty="0">
                  <a:solidFill>
                    <a:srgbClr val="333333"/>
                  </a:solidFill>
                  <a:latin typeface="+mj-lt"/>
                  <a:ea typeface="var(--monospace)"/>
                  <a:cs typeface="+mj-lt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6" y="1541699"/>
                <a:ext cx="10382782" cy="735009"/>
              </a:xfrm>
              <a:prstGeom prst="rect">
                <a:avLst/>
              </a:prstGeom>
              <a:blipFill>
                <a:blip r:embed="rId3"/>
                <a:stretch>
                  <a:fillRect l="-528" t="-5000" b="-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55EF51-7A63-BEC9-CAA2-6E97870344DF}"/>
                  </a:ext>
                </a:extLst>
              </p:cNvPr>
              <p:cNvSpPr txBox="1"/>
              <p:nvPr/>
            </p:nvSpPr>
            <p:spPr>
              <a:xfrm>
                <a:off x="639444" y="2387262"/>
                <a:ext cx="11284825" cy="458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j-lt"/>
                  </a:rPr>
                  <a:t>The close-to-close gross return vector from day t to day t+1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zh-CN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𝐲</m:t>
                        </m:r>
                      </m:e>
                      <m:sub>
                        <m:r>
                          <a:rPr lang="zh-CN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𝐭</m:t>
                        </m:r>
                      </m:sub>
                    </m:sSub>
                    <m:r>
                      <a:rPr lang="zh-CN" altLang="zh-CN" i="1" dirty="0" smtClean="0">
                        <a:solidFill>
                          <a:srgbClr val="FF0000"/>
                        </a:solidFill>
                        <a:latin typeface="+mj-lt"/>
                      </a:rPr>
                      <m:t>=</m:t>
                    </m:r>
                    <m:sSup>
                      <m:sSupPr>
                        <m:ctrlPr>
                          <a:rPr lang="zh-CN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1,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𝑡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+1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zh-CN" altLang="zh-CN" i="1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1,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zh-CN" altLang="zh-CN" i="1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𝑀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,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𝑡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+1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zh-CN" altLang="zh-CN" i="1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𝑀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,</m:t>
                                </m:r>
                                <m:r>
                                  <a:rPr lang="zh-CN" altLang="zh-CN" i="1" dirty="0" smtClean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⊤</m:t>
                        </m:r>
                      </m:sup>
                    </m:sSup>
                  </m:oMath>
                </a14:m>
                <a:endParaRPr lang="zh-CN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55EF51-7A63-BEC9-CAA2-6E9787034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4" y="2387262"/>
                <a:ext cx="11284825" cy="458011"/>
              </a:xfrm>
              <a:prstGeom prst="rect">
                <a:avLst/>
              </a:prstGeom>
              <a:blipFill>
                <a:blip r:embed="rId4"/>
                <a:stretch>
                  <a:fillRect l="-486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376F03-66BC-A7A0-A064-26B9B63E90CB}"/>
                  </a:ext>
                </a:extLst>
              </p:cNvPr>
              <p:cNvSpPr txBox="1"/>
              <p:nvPr/>
            </p:nvSpPr>
            <p:spPr>
              <a:xfrm>
                <a:off x="639443" y="3027319"/>
                <a:ext cx="10172719" cy="548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j-lt"/>
                  </a:rPr>
                  <a:t>portfolio passively drifts due to price movements </a:t>
                </a:r>
                <a:r>
                  <a:rPr lang="en-US" altLang="zh-CN" dirty="0">
                    <a:latin typeface="+mj-lt"/>
                  </a:rPr>
                  <a:t>is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altLang="zh-CN" i="1" dirty="0">
                        <a:solidFill>
                          <a:srgbClr val="FF0000"/>
                        </a:solidFill>
                        <a:latin typeface="+mj-lt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𝐭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+mj-lt"/>
                          </a:rPr>
                          <m:t>⊙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𝐭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𝐭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𝐭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376F03-66BC-A7A0-A064-26B9B63E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3" y="3027319"/>
                <a:ext cx="10172719" cy="548420"/>
              </a:xfrm>
              <a:prstGeom prst="rect">
                <a:avLst/>
              </a:prstGeom>
              <a:blipFill>
                <a:blip r:embed="rId5"/>
                <a:stretch>
                  <a:fillRect l="-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7F7635-0F33-10B8-845C-869519A1BA99}"/>
                  </a:ext>
                </a:extLst>
              </p:cNvPr>
              <p:cNvSpPr txBox="1"/>
              <p:nvPr/>
            </p:nvSpPr>
            <p:spPr>
              <a:xfrm>
                <a:off x="639443" y="3756696"/>
                <a:ext cx="9839087" cy="662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:r>
                  <a:rPr lang="zh-CN" altLang="zh-CN" b="0" i="0" dirty="0">
                    <a:solidFill>
                      <a:srgbClr val="333333"/>
                    </a:solidFill>
                    <a:effectLst/>
                    <a:latin typeface="+mj-lt"/>
                  </a:rPr>
                  <a:t>Rebalancing from the drifted portfolio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zh-CN" b="0" i="1" dirty="0" smtClean="0">
                            <a:solidFill>
                              <a:srgbClr val="333333"/>
                            </a:solidFill>
                            <a:effectLst/>
                            <a:latin typeface="+mj-lt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CN" altLang="zh-CN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+mj-lt"/>
                              </a:rPr>
                              <m:t>𝐰</m:t>
                            </m:r>
                          </m:e>
                          <m:sub>
                            <m:r>
                              <a:rPr lang="zh-CN" altLang="zh-CN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+mj-lt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zh-CN" b="0" i="0" dirty="0">
                    <a:solidFill>
                      <a:srgbClr val="333333"/>
                    </a:solidFill>
                    <a:effectLst/>
                    <a:latin typeface="+mj-lt"/>
                  </a:rPr>
                  <a:t> to the new portfolio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 dirty="0" smtClean="0">
                            <a:solidFill>
                              <a:srgbClr val="333333"/>
                            </a:solidFill>
                            <a:effectLst/>
                            <a:latin typeface="+mj-lt"/>
                          </a:rPr>
                        </m:ctrlPr>
                      </m:sSubPr>
                      <m:e>
                        <m:r>
                          <a:rPr lang="zh-CN" altLang="zh-CN" b="0" i="1" dirty="0" smtClean="0">
                            <a:solidFill>
                              <a:srgbClr val="333333"/>
                            </a:solidFill>
                            <a:effectLst/>
                            <a:latin typeface="+mj-lt"/>
                          </a:rPr>
                          <m:t>𝐰</m:t>
                        </m:r>
                      </m:e>
                      <m:sub>
                        <m:r>
                          <a:rPr lang="zh-CN" altLang="zh-CN" b="0" i="1" dirty="0" smtClean="0">
                            <a:solidFill>
                              <a:srgbClr val="333333"/>
                            </a:solidFill>
                            <a:effectLst/>
                            <a:latin typeface="+mj-lt"/>
                          </a:rPr>
                          <m:t>𝐭</m:t>
                        </m:r>
                      </m:sub>
                    </m:sSub>
                  </m:oMath>
                </a14:m>
                <a:r>
                  <a:rPr lang="zh-CN" altLang="zh-CN" b="0" i="0" dirty="0">
                    <a:solidFill>
                      <a:srgbClr val="333333"/>
                    </a:solidFill>
                    <a:effectLst/>
                    <a:latin typeface="+mj-lt"/>
                  </a:rPr>
                  <a:t>induces transaction cost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+mj-lt"/>
                  </a:rPr>
                  <a:t> is</a:t>
                </a:r>
                <a:r>
                  <a:rPr lang="en-US" altLang="zh-CN" dirty="0">
                    <a:solidFill>
                      <a:srgbClr val="333333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 dirty="0" smtClean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</m:ctrlPr>
                      </m:sSubPr>
                      <m:e>
                        <m:r>
                          <a:rPr lang="zh-CN" altLang="zh-CN" b="0" i="1" dirty="0" smtClean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  <m:t>𝜇</m:t>
                        </m:r>
                      </m:e>
                      <m:sub>
                        <m:r>
                          <a:rPr lang="zh-CN" altLang="zh-CN" b="0" i="1" dirty="0" smtClean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  <m:t>𝑡</m:t>
                        </m:r>
                      </m:sub>
                    </m:sSub>
                    <m:r>
                      <a:rPr lang="zh-CN" altLang="zh-CN" b="0" i="1" dirty="0" smtClean="0">
                        <a:solidFill>
                          <a:srgbClr val="FF0000"/>
                        </a:solidFill>
                        <a:effectLst/>
                        <a:latin typeface="+mj-lt"/>
                      </a:rPr>
                      <m:t>=1−</m:t>
                    </m:r>
                    <m:r>
                      <a:rPr lang="zh-CN" altLang="zh-CN" b="0" i="1" dirty="0" smtClean="0">
                        <a:solidFill>
                          <a:srgbClr val="FF0000"/>
                        </a:solidFill>
                        <a:effectLst/>
                        <a:latin typeface="+mj-lt"/>
                      </a:rPr>
                      <m:t>𝜌</m:t>
                    </m:r>
                    <m:r>
                      <m:rPr>
                        <m:lit/>
                      </m:rPr>
                      <a:rPr lang="zh-CN" altLang="zh-CN" b="0" i="1" dirty="0">
                        <a:solidFill>
                          <a:srgbClr val="FF0000"/>
                        </a:solidFill>
                        <a:effectLst/>
                        <a:latin typeface="+mj-lt"/>
                      </a:rPr>
                      <m:t>|</m:t>
                    </m:r>
                    <m:sSub>
                      <m:sSubPr>
                        <m:ctrlPr>
                          <a:rPr lang="zh-CN" altLang="zh-CN" b="0" i="1" dirty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</m:ctrlPr>
                      </m:sSubPr>
                      <m:e>
                        <m:r>
                          <a:rPr lang="zh-CN" altLang="zh-CN" b="0" i="1" dirty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  <m:t>𝐰</m:t>
                        </m:r>
                      </m:e>
                      <m:sub>
                        <m:r>
                          <a:rPr lang="zh-CN" altLang="zh-CN" b="0" i="1" dirty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  <m:t>𝐭</m:t>
                        </m:r>
                      </m:sub>
                    </m:sSub>
                    <m:r>
                      <a:rPr lang="zh-CN" altLang="zh-CN" b="0" i="1" dirty="0">
                        <a:solidFill>
                          <a:srgbClr val="FF0000"/>
                        </a:solidFill>
                        <a:effectLst/>
                        <a:latin typeface="+mj-lt"/>
                      </a:rPr>
                      <m:t>−</m:t>
                    </m:r>
                    <m:acc>
                      <m:accPr>
                        <m:chr m:val="̃"/>
                        <m:ctrlPr>
                          <a:rPr lang="zh-CN" altLang="zh-CN" b="0" i="1" dirty="0">
                            <a:solidFill>
                              <a:srgbClr val="FF0000"/>
                            </a:solidFill>
                            <a:effectLst/>
                            <a:latin typeface="+mj-lt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  <m:t>𝐰</m:t>
                            </m:r>
                          </m:e>
                          <m:sub>
                            <m: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  <m:t>|</m:t>
                            </m:r>
                          </m:e>
                          <m:sub>
                            <m:r>
                              <a:rPr lang="zh-CN" altLang="zh-CN" b="0" i="1" dirty="0">
                                <a:solidFill>
                                  <a:srgbClr val="FF0000"/>
                                </a:solidFill>
                                <a:effectLst/>
                                <a:latin typeface="+mj-lt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7F7635-0F33-10B8-845C-869519A1B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3" y="3756696"/>
                <a:ext cx="9839087" cy="662297"/>
              </a:xfrm>
              <a:prstGeom prst="rect">
                <a:avLst/>
              </a:prstGeom>
              <a:blipFill>
                <a:blip r:embed="rId6"/>
                <a:stretch>
                  <a:fillRect l="-558" t="-4587" b="-12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2E341C-C89E-8D89-571C-F8BD1387093B}"/>
                  </a:ext>
                </a:extLst>
              </p:cNvPr>
              <p:cNvSpPr txBox="1"/>
              <p:nvPr/>
            </p:nvSpPr>
            <p:spPr>
              <a:xfrm>
                <a:off x="666432" y="4599951"/>
                <a:ext cx="10859135" cy="715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j-lt"/>
                  </a:rPr>
                  <a:t>The portfolio value evolves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𝑉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𝑡</m:t>
                        </m:r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+1</m:t>
                        </m:r>
                      </m:sub>
                    </m:sSub>
                    <m:r>
                      <a:rPr lang="zh-CN" altLang="en-US" i="1" dirty="0" smtClean="0">
                        <a:solidFill>
                          <a:srgbClr val="FF0000"/>
                        </a:solidFill>
                        <a:latin typeface="+mj-lt"/>
                      </a:rPr>
                      <m:t>=</m:t>
                    </m:r>
                    <m:sSub>
                      <m:sSub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𝑉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𝜇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𝐲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𝐭</m:t>
                        </m:r>
                      </m:sub>
                      <m:sup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𝐰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  <m:t>𝐭</m:t>
                        </m:r>
                      </m:sub>
                    </m:sSub>
                    <m:r>
                      <a:rPr lang="en-US" altLang="zh-CN" b="0" i="0" dirty="0" smtClean="0">
                        <a:latin typeface="+mj-lt"/>
                      </a:rPr>
                      <m:t> </m:t>
                    </m:r>
                    <m:r>
                      <a:rPr lang="en-US" altLang="zh-CN" b="0" i="1" dirty="0" smtClean="0">
                        <a:latin typeface="+mj-lt"/>
                      </a:rPr>
                      <m:t>. </m:t>
                    </m:r>
                  </m:oMath>
                </a14:m>
                <a:r>
                  <a:rPr lang="zh-CN" altLang="en-US" dirty="0">
                    <a:latin typeface="+mj-lt"/>
                  </a:rPr>
                  <a:t>The objective is to maximize terminal wealth over the full horizon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+mj-lt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 dirty="0" smtClean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lit/>
                              </m:r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𝐭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}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𝐭</m:t>
                                </m:r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=</m:t>
                                </m:r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𝐓</m:t>
                                </m:r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+mj-lt"/>
                                  </a:rPr>
                                  <m:t>𝟏</m:t>
                                </m:r>
                              </m:sup>
                            </m:sSubSup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+mj-lt"/>
                              </a:rPr>
                              <m:t>𝑇</m:t>
                            </m:r>
                          </m:sub>
                        </m:sSub>
                      </m:e>
                    </m:func>
                  </m:oMath>
                </a14:m>
                <a:endParaRPr lang="zh-CN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2E341C-C89E-8D89-571C-F8BD13870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32" y="4599951"/>
                <a:ext cx="10859135" cy="715773"/>
              </a:xfrm>
              <a:prstGeom prst="rect">
                <a:avLst/>
              </a:prstGeom>
              <a:blipFill>
                <a:blip r:embed="rId7"/>
                <a:stretch>
                  <a:fillRect l="-449" t="-5128" r="-56" b="-3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75735">
        <p:wipe dir="d"/>
      </p:transition>
    </mc:Choice>
    <mc:Fallback xmlns="">
      <p:transition advTm="75735">
        <p:wipe dir="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9510" y="226695"/>
            <a:ext cx="81457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Related Work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20992" y="810260"/>
                <a:ext cx="11691277" cy="5195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/>
                  <a:t>Classical Portfolio Optimization</a:t>
                </a:r>
                <a:r>
                  <a:rPr lang="zh-CN" altLang="zh-CN" dirty="0"/>
                  <a:t>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dirty="0"/>
                  <a:t>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from historical return-risk estimates.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Limitations</a:t>
                </a:r>
                <a:r>
                  <a:rPr lang="zh-CN" altLang="zh-CN" dirty="0"/>
                  <a:t>: </a:t>
                </a:r>
                <a:r>
                  <a:rPr lang="en-US" altLang="zh-CN" dirty="0"/>
                  <a:t>depends heavily on return and covariance estimation</a:t>
                </a:r>
                <a:r>
                  <a:rPr lang="zh-CN" altLang="zh-CN" dirty="0"/>
                  <a:t>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Citations</a:t>
                </a:r>
                <a:r>
                  <a:rPr lang="zh-CN" altLang="zh-CN" dirty="0"/>
                  <a:t>: </a:t>
                </a:r>
                <a:r>
                  <a:rPr lang="en-US" altLang="zh-CN" dirty="0"/>
                  <a:t>mean-variance optimization, CAPM, dynamic asset allocation, and opportunistic rebalancing (Markowitz, 1952; Sharpe, 1964)</a:t>
                </a:r>
                <a:r>
                  <a:rPr lang="zh-CN" altLang="zh-CN" dirty="0"/>
                  <a:t>.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1800"/>
                  </a:spcBef>
                </a:pPr>
                <a:r>
                  <a:rPr lang="zh-CN" altLang="zh-CN" b="1" dirty="0"/>
                  <a:t>Deep RL Portfolio Management</a:t>
                </a:r>
                <a14:m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dirty="0"/>
                  <a:t>Learn portfolio policies as sequential decisions.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Limitations</a:t>
                </a:r>
                <a:r>
                  <a:rPr lang="zh-CN" altLang="zh-CN" dirty="0"/>
                  <a:t>:</a:t>
                </a:r>
                <a:r>
                  <a:rPr lang="en-US" altLang="zh-CN" dirty="0"/>
                  <a:t>It is difficult to balance strategy flexibility and stability</a:t>
                </a:r>
                <a:r>
                  <a:rPr lang="zh-CN" altLang="zh-CN" dirty="0"/>
                  <a:t>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Citations</a:t>
                </a:r>
                <a:r>
                  <a:rPr lang="zh-CN" altLang="zh-CN" dirty="0"/>
                  <a:t>: </a:t>
                </a:r>
                <a:r>
                  <a:rPr lang="en-US" altLang="zh-CN" dirty="0" err="1"/>
                  <a:t>DeepTrader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AlphaStock</a:t>
                </a:r>
                <a:r>
                  <a:rPr lang="en-US" altLang="zh-CN" dirty="0"/>
                  <a:t> (Wang et al., 2021; Wang et al., 2019)</a:t>
                </a:r>
                <a:r>
                  <a:rPr lang="zh-CN" altLang="zh-CN" dirty="0"/>
                  <a:t>.</a:t>
                </a:r>
              </a:p>
              <a:p>
                <a:pPr>
                  <a:lnSpc>
                    <a:spcPct val="110000"/>
                  </a:lnSpc>
                  <a:spcBef>
                    <a:spcPts val="1800"/>
                  </a:spcBef>
                </a:pPr>
                <a:r>
                  <a:rPr lang="zh-CN" altLang="zh-CN" b="1" dirty="0"/>
                  <a:t>Hierarchical / Adaptive Methods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dirty="0"/>
                  <a:t>Use hierarchical selection or adaptive rebalancing intervals.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Limitations</a:t>
                </a:r>
                <a:r>
                  <a:rPr lang="zh-CN" altLang="zh-CN" dirty="0"/>
                  <a:t>:</a:t>
                </a:r>
                <a:r>
                  <a:rPr lang="en-US" altLang="zh-CN" dirty="0"/>
                  <a:t> Lack of real-time risk perception.</a:t>
                </a:r>
                <a:endParaRPr lang="zh-CN" altLang="zh-CN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zh-CN" altLang="zh-CN" b="1" dirty="0">
                    <a:solidFill>
                      <a:srgbClr val="FF0000"/>
                    </a:solidFill>
                  </a:rPr>
                  <a:t>Citations</a:t>
                </a:r>
                <a:r>
                  <a:rPr lang="zh-CN" altLang="zh-CN" dirty="0"/>
                  <a:t>: </a:t>
                </a:r>
                <a:r>
                  <a:rPr lang="en-US" altLang="zh-CN" dirty="0"/>
                  <a:t>HADAPS, </a:t>
                </a:r>
                <a:r>
                  <a:rPr lang="en-US" altLang="zh-CN" dirty="0" err="1"/>
                  <a:t>DeepAries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(Kim et al., 2023; Kim et al., 2025)</a:t>
                </a: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92" y="810260"/>
                <a:ext cx="11691277" cy="5195589"/>
              </a:xfrm>
              <a:prstGeom prst="rect">
                <a:avLst/>
              </a:prstGeom>
              <a:blipFill>
                <a:blip r:embed="rId4"/>
                <a:stretch>
                  <a:fillRect l="-469" t="-587" b="-1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17701AC6-E22B-BB5E-2963-3A428F41A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665" y="890876"/>
            <a:ext cx="2947837" cy="5029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29BED4-CE25-1A76-9416-40EADA5CC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665" y="2952418"/>
            <a:ext cx="1999223" cy="50294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A9490D-5024-4337-B607-65C4416A3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9907" y="4701159"/>
            <a:ext cx="2128227" cy="466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45640">
        <p:wipe dir="d"/>
      </p:transition>
    </mc:Choice>
    <mc:Fallback xmlns="">
      <p:transition advTm="145640">
        <p:wipe dir="d"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19739" y="218235"/>
            <a:ext cx="5654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From our daily life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3890" y="1051560"/>
            <a:ext cx="10715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Georgia" panose="02040502050405020303" charset="0"/>
                <a:ea typeface="宋体" panose="02010600030101010101" pitchFamily="2" charset="-122"/>
                <a:cs typeface="Georgia" panose="02040502050405020303" charset="0"/>
                <a:sym typeface="+mn-ea"/>
              </a:rPr>
              <a:t>From Real Quantitative Investment Teams</a:t>
            </a:r>
            <a:endParaRPr lang="zh-CN" altLang="en-US" sz="2000" b="1" dirty="0">
              <a:effectLst/>
              <a:latin typeface="Georgia" panose="02040502050405020303" charset="0"/>
              <a:ea typeface="宋体" panose="02010600030101010101" pitchFamily="2" charset="-122"/>
              <a:cs typeface="Georgia" panose="02040502050405020303" charset="0"/>
              <a:sym typeface="+mn-ea"/>
            </a:endParaRPr>
          </a:p>
        </p:txBody>
      </p:sp>
      <p:pic>
        <p:nvPicPr>
          <p:cNvPr id="10" name="图片 9"/>
          <p:cNvPicPr>
            <a:picLocks/>
          </p:cNvPicPr>
          <p:nvPr/>
        </p:nvPicPr>
        <p:blipFill>
          <a:blip r:embed="rId5"/>
          <a:srcRect l="17214" r="16529"/>
          <a:stretch>
            <a:fillRect/>
          </a:stretch>
        </p:blipFill>
        <p:spPr>
          <a:xfrm>
            <a:off x="2821457" y="1669442"/>
            <a:ext cx="5927126" cy="413108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D7F19F5-71F1-ED00-BE60-9289AF3DF33C}"/>
              </a:ext>
            </a:extLst>
          </p:cNvPr>
          <p:cNvSpPr txBox="1"/>
          <p:nvPr/>
        </p:nvSpPr>
        <p:spPr>
          <a:xfrm>
            <a:off x="9069070" y="4218526"/>
            <a:ext cx="3227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What to Hold</a:t>
            </a:r>
            <a:r>
              <a:rPr lang="zh-CN" altLang="en-US" sz="2400" b="1" dirty="0">
                <a:solidFill>
                  <a:srgbClr val="FF0000"/>
                </a:solidFill>
              </a:rPr>
              <a:t>？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78CE3C-BC05-0233-9ACD-00F71EDA3F61}"/>
              </a:ext>
            </a:extLst>
          </p:cNvPr>
          <p:cNvSpPr txBox="1"/>
          <p:nvPr/>
        </p:nvSpPr>
        <p:spPr>
          <a:xfrm>
            <a:off x="9069069" y="3273320"/>
            <a:ext cx="3227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How to Refine</a:t>
            </a:r>
            <a:r>
              <a:rPr lang="zh-CN" altLang="en-US" sz="2400" b="1" dirty="0">
                <a:solidFill>
                  <a:srgbClr val="FF0000"/>
                </a:solidFill>
              </a:rPr>
              <a:t>？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337796-B002-09E8-2D91-91B84ABA66D5}"/>
              </a:ext>
            </a:extLst>
          </p:cNvPr>
          <p:cNvSpPr txBox="1"/>
          <p:nvPr/>
        </p:nvSpPr>
        <p:spPr>
          <a:xfrm>
            <a:off x="9069069" y="2358043"/>
            <a:ext cx="3227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When to Revise</a:t>
            </a:r>
            <a:r>
              <a:rPr lang="zh-CN" altLang="en-US" sz="2400" b="1" dirty="0">
                <a:solidFill>
                  <a:srgbClr val="FF0000"/>
                </a:solidFill>
              </a:rPr>
              <a:t>？</a:t>
            </a:r>
            <a:endParaRPr lang="zh-CN" altLang="en-US" sz="24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19B6D8-FC1D-7897-3F51-99AF64A1C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739" y="4079484"/>
            <a:ext cx="942798" cy="120141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64F1896-1CD6-F005-CE4B-353600052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861" y="2784694"/>
            <a:ext cx="1008902" cy="120141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CFF1C8A-F6AA-8B37-29ED-5C7F434B29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739" y="1420892"/>
            <a:ext cx="880397" cy="119010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76440">
        <p:wipe dir="d"/>
      </p:transition>
    </mc:Choice>
    <mc:Fallback xmlns="">
      <p:transition advTm="76440">
        <p:wipe dir="d"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latin typeface="+mj-lt"/>
              </a:rPr>
              <a:t>6</a:t>
            </a:fld>
            <a:endParaRPr lang="zh-CN" altLang="en-US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19504" y="218440"/>
            <a:ext cx="9548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Challenges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3920" y="1034576"/>
            <a:ext cx="106927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+mj-lt"/>
              </a:rPr>
              <a:t>The Gap between Existing Methods and Practical Multi-Role Decisions</a:t>
            </a:r>
            <a:endParaRPr lang="zh-CN" altLang="en-US" sz="2000" b="1" dirty="0">
              <a:latin typeface="+mj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15004" y="1480526"/>
            <a:ext cx="87642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+mj-lt"/>
              </a:rPr>
              <a:t>Challenge 1: Daily policy is noisy</a:t>
            </a:r>
            <a:endParaRPr lang="zh-CN" altLang="zh-CN" b="1" dirty="0">
              <a:latin typeface="+mj-lt"/>
            </a:endParaRPr>
          </a:p>
          <a:p>
            <a:pPr>
              <a:buNone/>
            </a:pPr>
            <a:r>
              <a:rPr lang="en-US" altLang="zh-CN" dirty="0">
                <a:latin typeface="+mj-lt"/>
              </a:rPr>
              <a:t>RL policies that execute full daily portfolio adjustments and simultaneously undertake portfolio manager and trader roles are vulnerable to noisy daily market signals, leading to overreactions to short-term swings and volatile turnover rates</a:t>
            </a:r>
            <a:r>
              <a:rPr lang="zh-CN" altLang="zh-CN" dirty="0">
                <a:latin typeface="+mj-lt"/>
              </a:rPr>
              <a:t>.</a:t>
            </a:r>
            <a:endParaRPr lang="en-US" altLang="zh-CN" dirty="0">
              <a:latin typeface="+mj-lt"/>
            </a:endParaRPr>
          </a:p>
          <a:p>
            <a:pPr>
              <a:buNone/>
            </a:pPr>
            <a:endParaRPr lang="zh-CN" altLang="zh-CN" dirty="0">
              <a:latin typeface="+mj-lt"/>
            </a:endParaRPr>
          </a:p>
          <a:p>
            <a:pPr>
              <a:buNone/>
            </a:pPr>
            <a:r>
              <a:rPr lang="en-US" altLang="zh-CN" b="1" dirty="0">
                <a:latin typeface="+mj-lt"/>
              </a:rPr>
              <a:t>Challenge 2: Fixed holding is inflexible</a:t>
            </a:r>
            <a:endParaRPr lang="zh-CN" altLang="zh-CN" b="1" dirty="0">
              <a:latin typeface="+mj-lt"/>
            </a:endParaRPr>
          </a:p>
          <a:p>
            <a:pPr>
              <a:buNone/>
            </a:pPr>
            <a:r>
              <a:rPr lang="en-US" altLang="zh-CN" dirty="0">
                <a:latin typeface="+mj-lt"/>
              </a:rPr>
              <a:t>Rebalancing strategies with predefined fixed holding periods fail to accommodate market regimes evolving at variable speeds, lacking flexibility to adapt to diverse market conditions</a:t>
            </a:r>
            <a:r>
              <a:rPr lang="zh-CN" altLang="zh-CN" dirty="0">
                <a:latin typeface="+mj-lt"/>
              </a:rPr>
              <a:t>.</a:t>
            </a:r>
            <a:endParaRPr lang="en-US" altLang="zh-CN" dirty="0">
              <a:latin typeface="+mj-lt"/>
            </a:endParaRPr>
          </a:p>
          <a:p>
            <a:pPr>
              <a:buNone/>
            </a:pPr>
            <a:endParaRPr lang="zh-CN" altLang="zh-CN" dirty="0">
              <a:latin typeface="+mj-lt"/>
            </a:endParaRPr>
          </a:p>
          <a:p>
            <a:pPr>
              <a:buNone/>
            </a:pPr>
            <a:r>
              <a:rPr lang="en-US" altLang="zh-CN" b="1" dirty="0">
                <a:latin typeface="+mj-lt"/>
              </a:rPr>
              <a:t>Challenge 3: Lack of real-time risk awareness</a:t>
            </a:r>
          </a:p>
          <a:p>
            <a:pPr>
              <a:buNone/>
            </a:pPr>
            <a:r>
              <a:rPr lang="en-US" altLang="zh-CN" dirty="0">
                <a:latin typeface="+mj-lt"/>
              </a:rPr>
              <a:t>Most strategies only formulate portfolio plans at the start of each holding cycle without real-time monitoring of ongoing portfolio risks and performance, making them unable to spot outdated positions and timely switch to alternative portfolios</a:t>
            </a:r>
            <a:r>
              <a:rPr lang="zh-CN" altLang="zh-CN" dirty="0">
                <a:latin typeface="+mj-lt"/>
              </a:rPr>
              <a:t>.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83920" y="5685798"/>
            <a:ext cx="10457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j-lt"/>
              </a:rPr>
              <a:t>E</a:t>
            </a:r>
            <a:r>
              <a:rPr lang="zh-CN" altLang="zh-CN" sz="2000" b="1" dirty="0">
                <a:latin typeface="+mj-lt"/>
              </a:rPr>
              <a:t>xplicitly learn whether and when to revise, what to hold, and how to refine?</a:t>
            </a:r>
            <a:endParaRPr lang="zh-CN" altLang="en-US" sz="2000" b="1" dirty="0">
              <a:latin typeface="+mj-lt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20" y="1646645"/>
            <a:ext cx="2380800" cy="821133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20" y="4369125"/>
            <a:ext cx="2712426" cy="63821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20" y="2978878"/>
            <a:ext cx="2826498" cy="8017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80661">
        <p:wipe dir="d"/>
      </p:transition>
    </mc:Choice>
    <mc:Fallback xmlns="">
      <p:transition advTm="180661">
        <p:wipe dir="d"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latin typeface="+mj-lt"/>
              </a:rPr>
              <a:t>7</a:t>
            </a:fld>
            <a:endParaRPr lang="zh-CN" altLang="en-US"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9505" y="218440"/>
            <a:ext cx="10126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Overview of Our Solution CMTFlow </a:t>
            </a:r>
            <a:r>
              <a:rPr lang="zh-CN" altLang="en-US" sz="3200" b="1" dirty="0">
                <a:latin typeface="+mj-lt"/>
              </a:rPr>
              <a:t>总体框架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76144"/>
            <a:ext cx="6759531" cy="340668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040389"/>
            <a:ext cx="10988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lt"/>
              </a:rPr>
              <a:t>To match the multi-role structure in real investment teams, </a:t>
            </a:r>
            <a:r>
              <a:rPr lang="en-US" altLang="zh-CN" b="1" dirty="0" err="1">
                <a:latin typeface="+mj-lt"/>
              </a:rPr>
              <a:t>CMTFlow</a:t>
            </a:r>
            <a:r>
              <a:rPr lang="en-US" altLang="zh-CN" dirty="0">
                <a:latin typeface="+mj-lt"/>
              </a:rPr>
              <a:t> builds three coordinated reinforcement learning modules</a:t>
            </a:r>
            <a:r>
              <a:rPr lang="zh-CN" altLang="zh-CN" dirty="0">
                <a:latin typeface="+mj-lt"/>
              </a:rPr>
              <a:t>.</a:t>
            </a:r>
            <a:endParaRPr lang="zh-CN" altLang="en-US" dirty="0"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15495" y="4380596"/>
            <a:ext cx="44472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+mj-lt"/>
              </a:rPr>
              <a:t>Inner Actor</a:t>
            </a:r>
          </a:p>
          <a:p>
            <a:pPr>
              <a:buNone/>
            </a:pPr>
            <a:r>
              <a:rPr lang="en-US" altLang="zh-CN" dirty="0">
                <a:latin typeface="+mj-lt"/>
              </a:rPr>
              <a:t>Performs local daily weight refinement inside the asset support of the active base portfolio and Answer </a:t>
            </a:r>
            <a:r>
              <a:rPr lang="en-US" altLang="zh-CN" b="1" dirty="0">
                <a:latin typeface="+mj-lt"/>
              </a:rPr>
              <a:t>HOW to refine</a:t>
            </a:r>
            <a:r>
              <a:rPr lang="zh-CN" altLang="zh-CN" dirty="0">
                <a:latin typeface="+mj-lt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522EA3-1454-FF4A-EF2B-1E0D9F8A656A}"/>
              </a:ext>
            </a:extLst>
          </p:cNvPr>
          <p:cNvSpPr txBox="1"/>
          <p:nvPr/>
        </p:nvSpPr>
        <p:spPr>
          <a:xfrm>
            <a:off x="5814060" y="1529813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+mj-lt"/>
              </a:rPr>
              <a:t>Controller</a:t>
            </a:r>
          </a:p>
          <a:p>
            <a:pPr>
              <a:buNone/>
            </a:pPr>
            <a:r>
              <a:rPr lang="zh-CN" altLang="zh-CN" dirty="0">
                <a:latin typeface="+mj-lt"/>
              </a:rPr>
              <a:t>Compares the drifted current holding with the outer actor's candidate base and</a:t>
            </a:r>
            <a:r>
              <a:rPr lang="en-US" altLang="zh-CN" dirty="0">
                <a:latin typeface="+mj-lt"/>
              </a:rPr>
              <a:t> Answer Whether and </a:t>
            </a:r>
            <a:r>
              <a:rPr lang="zh-CN" altLang="zh-CN" b="1" dirty="0">
                <a:latin typeface="+mj-lt"/>
              </a:rPr>
              <a:t>WHEN to revise</a:t>
            </a:r>
            <a:r>
              <a:rPr lang="zh-CN" altLang="zh-CN" dirty="0">
                <a:latin typeface="+mj-lt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129FBB-2994-7C86-ADF5-2AF6AD17DDD1}"/>
              </a:ext>
            </a:extLst>
          </p:cNvPr>
          <p:cNvSpPr txBox="1"/>
          <p:nvPr/>
        </p:nvSpPr>
        <p:spPr>
          <a:xfrm>
            <a:off x="6096000" y="2880184"/>
            <a:ext cx="6184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+mj-lt"/>
              </a:rPr>
              <a:t>Outer Actor</a:t>
            </a:r>
          </a:p>
          <a:p>
            <a:pPr>
              <a:buNone/>
            </a:pPr>
            <a:r>
              <a:rPr lang="en-US" altLang="zh-CN" dirty="0">
                <a:latin typeface="+mj-lt"/>
              </a:rPr>
              <a:t>Generates a sparse segment-level candidate base portfolio from long-horizon market windows and Answer </a:t>
            </a:r>
            <a:r>
              <a:rPr lang="en-US" altLang="zh-CN" b="1" dirty="0">
                <a:latin typeface="+mj-lt"/>
              </a:rPr>
              <a:t>WHAT base to hold</a:t>
            </a:r>
            <a:r>
              <a:rPr lang="en-US" altLang="zh-CN" dirty="0">
                <a:latin typeface="+mj-lt"/>
              </a:rPr>
              <a:t>.</a:t>
            </a:r>
            <a:endParaRPr lang="zh-CN" altLang="zh-CN" dirty="0">
              <a:latin typeface="+mj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50670">
        <p:wipe dir="d"/>
      </p:transition>
    </mc:Choice>
    <mc:Fallback xmlns="">
      <p:transition advTm="150670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32840" y="22923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Methodology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2295" y="1072515"/>
            <a:ext cx="865378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The architecture of proposed framework: </a:t>
            </a:r>
            <a:r>
              <a:rPr lang="en-US" altLang="zh-CN" sz="2200" b="1" dirty="0" err="1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CTMFlow</a:t>
            </a:r>
            <a:endParaRPr lang="en-US" altLang="zh-CN" sz="2200" b="1" dirty="0">
              <a:solidFill>
                <a:srgbClr val="000000"/>
              </a:solidFill>
              <a:latin typeface="Georgia" panose="02040502050405020303" charset="0"/>
              <a:ea typeface="CMR10"/>
              <a:cs typeface="Georgia" panose="02040502050405020303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182" y="1762125"/>
            <a:ext cx="8512462" cy="44764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63777">
        <p:wipe dir="d"/>
      </p:transition>
    </mc:Choice>
    <mc:Fallback xmlns="">
      <p:transition advTm="63777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32840" y="22923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Methodology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2295" y="1072515"/>
            <a:ext cx="8653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Outer Actor: Medium-Horizon Base Portfolio Construction</a:t>
            </a:r>
            <a:endParaRPr lang="en-US" altLang="zh-CN" sz="2200" b="1" dirty="0">
              <a:solidFill>
                <a:srgbClr val="000000"/>
              </a:solidFill>
              <a:latin typeface="Georgia" panose="02040502050405020303" charset="0"/>
              <a:ea typeface="CMR10"/>
              <a:cs typeface="Georgia" panose="02040502050405020303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59200" y="2114442"/>
                <a:ext cx="5114170" cy="1075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b="1" dirty="0"/>
                  <a:t>State 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 dirty="0" err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  <m:sup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𝒐𝒖𝒕</m:t>
                        </m:r>
                      </m:sup>
                    </m:sSubSup>
                    <m:r>
                      <a:rPr lang="en-US" altLang="zh-CN" sz="1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400" b="1" i="1" dirty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 dirty="0" err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  <m:sup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𝒐𝒖𝒕</m:t>
                        </m:r>
                      </m:sup>
                    </m:sSubSup>
                    <m:r>
                      <a:rPr lang="en-US" altLang="zh-CN" sz="1400" b="1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smtClean="0">
                                    <a:latin typeface="Cambria Math" panose="020405030504060302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400" b="1" i="1" dirty="0" err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sub>
                        </m:sSub>
                      </m:e>
                    </m:acc>
                    <m:r>
                      <a:rPr lang="en-US" altLang="zh-CN" sz="14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b="1" dirty="0"/>
                  <a:t>}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 dirty="0" err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  <m:sup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𝒐𝒖𝒕</m:t>
                        </m:r>
                      </m:sup>
                    </m:sSubSup>
                  </m:oMath>
                </a14:m>
                <a:r>
                  <a:rPr lang="en-US" altLang="zh-CN" sz="1400" b="1" dirty="0"/>
                  <a:t>: long-horizon market window features. 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smtClean="0">
                                    <a:latin typeface="Cambria Math" panose="020405030504060302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400" b="1" i="1" dirty="0" err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sub>
                        </m:sSub>
                      </m:e>
                    </m:acc>
                  </m:oMath>
                </a14:m>
                <a:r>
                  <a:rPr lang="en-US" altLang="zh-CN" sz="1400" b="1" dirty="0"/>
                  <a:t>: current drifted executed portfolio.</a:t>
                </a:r>
                <a:endParaRPr lang="zh-CN" altLang="zh-CN" sz="14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00" y="2114442"/>
                <a:ext cx="5114170" cy="1075744"/>
              </a:xfrm>
              <a:prstGeom prst="rect">
                <a:avLst/>
              </a:prstGeom>
              <a:blipFill>
                <a:blip r:embed="rId4"/>
                <a:stretch>
                  <a:fillRect l="-1074" t="-3409" b="-3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420A8459-30B9-F89A-537A-D53EFB0DC244}"/>
              </a:ext>
            </a:extLst>
          </p:cNvPr>
          <p:cNvGrpSpPr/>
          <p:nvPr/>
        </p:nvGrpSpPr>
        <p:grpSpPr>
          <a:xfrm>
            <a:off x="3253105" y="1689349"/>
            <a:ext cx="6580552" cy="3479301"/>
            <a:chOff x="2271476" y="1067158"/>
            <a:chExt cx="6580552" cy="3479301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DDA1AB0-7B27-BE68-9D1F-1613791F5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18000"/>
            </a:blip>
            <a:stretch>
              <a:fillRect/>
            </a:stretch>
          </p:blipFill>
          <p:spPr>
            <a:xfrm>
              <a:off x="2271476" y="1086586"/>
              <a:ext cx="6579369" cy="3459873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C6C5B8F-963E-CA71-543D-C60B6ED27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l="34038" t="13071" r="39220" b="23661"/>
            <a:stretch>
              <a:fillRect/>
            </a:stretch>
          </p:blipFill>
          <p:spPr>
            <a:xfrm>
              <a:off x="4510176" y="1526647"/>
              <a:ext cx="1759527" cy="2189008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C34E04B-B2DD-B485-12AF-E593D8F35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b="86657"/>
            <a:stretch>
              <a:fillRect/>
            </a:stretch>
          </p:blipFill>
          <p:spPr>
            <a:xfrm>
              <a:off x="2272659" y="1067158"/>
              <a:ext cx="6579369" cy="46166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9BBB043-F7BA-DAEC-3517-78BCD6D297B2}"/>
                  </a:ext>
                </a:extLst>
              </p:cNvPr>
              <p:cNvSpPr txBox="1"/>
              <p:nvPr/>
            </p:nvSpPr>
            <p:spPr>
              <a:xfrm>
                <a:off x="202893" y="3491508"/>
                <a:ext cx="6098058" cy="674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Action</a:t>
                </a:r>
                <a:endParaRPr lang="en-US" altLang="zh-CN" b="1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𝑜𝑢𝑡</m:t>
                        </m:r>
                      </m:sup>
                    </m:sSubSup>
                  </m:oMath>
                </a14:m>
                <a:r>
                  <a:rPr lang="zh-CN" altLang="en-US" dirty="0"/>
                  <a:t>: sparse long-only candidate base portfolio.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9BBB043-F7BA-DAEC-3517-78BCD6D29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93" y="3491508"/>
                <a:ext cx="6098058" cy="674544"/>
              </a:xfrm>
              <a:prstGeom prst="rect">
                <a:avLst/>
              </a:prstGeom>
              <a:blipFill>
                <a:blip r:embed="rId6"/>
                <a:stretch>
                  <a:fillRect l="-799" t="-545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DE7967A3-0657-B39F-83CF-45B3F4CA0D55}"/>
              </a:ext>
            </a:extLst>
          </p:cNvPr>
          <p:cNvSpPr txBox="1"/>
          <p:nvPr/>
        </p:nvSpPr>
        <p:spPr>
          <a:xfrm>
            <a:off x="202893" y="4478010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Network</a:t>
            </a:r>
            <a:endParaRPr lang="en-US" altLang="zh-CN" dirty="0"/>
          </a:p>
          <a:p>
            <a:r>
              <a:rPr lang="zh-CN" altLang="en-US" dirty="0"/>
              <a:t>LSTM-HA: long-horizon asset-wise temporal modeling</a:t>
            </a:r>
            <a:endParaRPr lang="en-US" altLang="zh-CN" dirty="0"/>
          </a:p>
          <a:p>
            <a:r>
              <a:rPr lang="zh-CN" altLang="en-US" dirty="0"/>
              <a:t>CAAN: cross-asset dependency modeling</a:t>
            </a:r>
            <a:endParaRPr lang="en-US" altLang="zh-CN" dirty="0"/>
          </a:p>
          <a:p>
            <a:r>
              <a:rPr lang="zh-CN" altLang="en-US" dirty="0"/>
              <a:t>MLP head: asset-wise score generation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459B42F-4FFE-0711-3694-445FEFCCE9A7}"/>
                  </a:ext>
                </a:extLst>
              </p:cNvPr>
              <p:cNvSpPr txBox="1"/>
              <p:nvPr/>
            </p:nvSpPr>
            <p:spPr>
              <a:xfrm>
                <a:off x="7369767" y="2291179"/>
                <a:ext cx="4665464" cy="1228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Portfolio Construction</a:t>
                </a:r>
                <a:endParaRPr lang="en-US" altLang="zh-CN" dirty="0"/>
              </a:p>
              <a:p>
                <a:r>
                  <a:rPr lang="zh-CN" altLang="en-US" dirty="0"/>
                  <a:t>The network outputs asset scores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p>
                    </m:sSubSup>
                  </m:oMath>
                </a14:m>
                <a:r>
                  <a:rPr lang="zh-CN" altLang="en-US" dirty="0"/>
                  <a:t>, keeps the Top-K assets, and normalizes them into a base portfolio.`</a:t>
                </a: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459B42F-4FFE-0711-3694-445FEFCCE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767" y="2291179"/>
                <a:ext cx="4665464" cy="1228541"/>
              </a:xfrm>
              <a:prstGeom prst="rect">
                <a:avLst/>
              </a:prstGeom>
              <a:blipFill>
                <a:blip r:embed="rId7"/>
                <a:stretch>
                  <a:fillRect l="-1176" t="-2985"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20B55B3-659D-6D93-B874-781CC0D90CA1}"/>
                  </a:ext>
                </a:extLst>
              </p:cNvPr>
              <p:cNvSpPr txBox="1"/>
              <p:nvPr/>
            </p:nvSpPr>
            <p:spPr>
              <a:xfrm>
                <a:off x="7369766" y="3696243"/>
                <a:ext cx="4442503" cy="1846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Reward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𝑜𝑢𝑡</m:t>
                        </m:r>
                      </m:sup>
                    </m:sSub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unc>
                          <m:func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CN" altLang="en-US" dirty="0"/>
                  <a:t>This reward is the accumulated cost-aware log return of the executed path within the segment, credited to the outer decision that opened the segment.</a:t>
                </a: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20B55B3-659D-6D93-B874-781CC0D9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766" y="3696243"/>
                <a:ext cx="4442503" cy="1846339"/>
              </a:xfrm>
              <a:prstGeom prst="rect">
                <a:avLst/>
              </a:prstGeom>
              <a:blipFill>
                <a:blip r:embed="rId8"/>
                <a:stretch>
                  <a:fillRect l="-1235" t="-6601" r="-823" b="-4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63777">
        <p:wipe dir="d"/>
      </p:transition>
    </mc:Choice>
    <mc:Fallback xmlns="">
      <p:transition advTm="63777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32840" y="22923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Methodology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2295" y="1072515"/>
            <a:ext cx="865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Inner Actor: Support-Constrained Daily Refinement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077054-CD32-2409-4675-017E54824F64}"/>
              </a:ext>
            </a:extLst>
          </p:cNvPr>
          <p:cNvGrpSpPr/>
          <p:nvPr/>
        </p:nvGrpSpPr>
        <p:grpSpPr>
          <a:xfrm>
            <a:off x="5014677" y="2117984"/>
            <a:ext cx="6605145" cy="3479301"/>
            <a:chOff x="2236971" y="1058532"/>
            <a:chExt cx="6605145" cy="3479301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1DA4BC9-BA31-EDD6-EC5C-6DC87BA09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8000"/>
            </a:blip>
            <a:stretch>
              <a:fillRect/>
            </a:stretch>
          </p:blipFill>
          <p:spPr>
            <a:xfrm>
              <a:off x="2236971" y="1077960"/>
              <a:ext cx="6579369" cy="3459873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AA56B0C-10EF-D3AD-9E8D-F5D170CF0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b="86657"/>
            <a:stretch>
              <a:fillRect/>
            </a:stretch>
          </p:blipFill>
          <p:spPr>
            <a:xfrm>
              <a:off x="2238154" y="1058532"/>
              <a:ext cx="6579369" cy="461666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B6B88FE-9ED8-B91E-0028-0B644A4EF115}"/>
                </a:ext>
              </a:extLst>
            </p:cNvPr>
            <p:cNvPicPr>
              <a:picLocks/>
            </p:cNvPicPr>
            <p:nvPr/>
          </p:nvPicPr>
          <p:blipFill>
            <a:blip r:embed="rId4">
              <a:alphaModFix/>
            </a:blip>
            <a:srcRect l="61594" t="13464" r="14281" b="21451"/>
            <a:stretch>
              <a:fillRect/>
            </a:stretch>
          </p:blipFill>
          <p:spPr>
            <a:xfrm>
              <a:off x="6288658" y="1554702"/>
              <a:ext cx="1587260" cy="225183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13C10A9-9125-B998-41C3-D777EC94B853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86752" t="67022"/>
            <a:stretch>
              <a:fillRect/>
            </a:stretch>
          </p:blipFill>
          <p:spPr>
            <a:xfrm>
              <a:off x="7970499" y="3396847"/>
              <a:ext cx="871617" cy="114098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964C8F5-4470-B307-EE0D-AA03D306E01F}"/>
                  </a:ext>
                </a:extLst>
              </p:cNvPr>
              <p:cNvSpPr txBox="1"/>
              <p:nvPr/>
            </p:nvSpPr>
            <p:spPr>
              <a:xfrm>
                <a:off x="596771" y="1610153"/>
                <a:ext cx="6098058" cy="1503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State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zh-CN" alt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</m:sup>
                    </m:sSubSup>
                    <m:r>
                      <m:rPr>
                        <m:lit/>
                      </m:rPr>
                      <a:rPr lang="zh-CN" alt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</m:oMath>
                </a14:m>
                <a:r>
                  <a:rPr lang="zh-CN" altLang="en-US" dirty="0"/>
                  <a:t>: short-horizon market window</a:t>
                </a:r>
                <a:r>
                  <a:rPr lang="en-US" altLang="zh-CN" dirty="0"/>
                  <a:t> features</a:t>
                </a:r>
                <a:r>
                  <a:rPr lang="zh-CN" altLang="en-US" dirty="0"/>
                  <a:t>.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dirty="0"/>
                  <a:t>: current drifted executed portfolio.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</m:sup>
                    </m:sSubSup>
                  </m:oMath>
                </a14:m>
                <a:r>
                  <a:rPr lang="zh-CN" altLang="en-US" dirty="0"/>
                  <a:t>: current active base portfolio.</a:t>
                </a: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964C8F5-4470-B307-EE0D-AA03D306E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1" y="1610153"/>
                <a:ext cx="6098058" cy="1503489"/>
              </a:xfrm>
              <a:prstGeom prst="rect">
                <a:avLst/>
              </a:prstGeom>
              <a:blipFill>
                <a:blip r:embed="rId5"/>
                <a:stretch>
                  <a:fillRect l="-900" t="-2024" b="-6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4D3105C-AEBE-84B2-1CB0-DE2D99497E59}"/>
                  </a:ext>
                </a:extLst>
              </p:cNvPr>
              <p:cNvSpPr txBox="1"/>
              <p:nvPr/>
            </p:nvSpPr>
            <p:spPr>
              <a:xfrm>
                <a:off x="596770" y="3355021"/>
                <a:ext cx="7039705" cy="979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Action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</m:oMath>
                </a14:m>
                <a:r>
                  <a:rPr lang="zh-CN" altLang="en-US" dirty="0"/>
                  <a:t>: support-constrained refinement portfolio.</a:t>
                </a:r>
                <a:endParaRPr lang="en-US" altLang="zh-CN" dirty="0"/>
              </a:p>
              <a:p>
                <a:r>
                  <a:rPr lang="zh-CN" altLang="en-US" dirty="0"/>
                  <a:t>Support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p>
                        </m:sSub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4D3105C-AEBE-84B2-1CB0-DE2D99497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0" y="3355021"/>
                <a:ext cx="7039705" cy="979820"/>
              </a:xfrm>
              <a:prstGeom prst="rect">
                <a:avLst/>
              </a:prstGeom>
              <a:blipFill>
                <a:blip r:embed="rId6"/>
                <a:stretch>
                  <a:fillRect l="-779" t="-3106" b="-6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46C94A-C1F0-9893-CB22-522B594D8456}"/>
                  </a:ext>
                </a:extLst>
              </p:cNvPr>
              <p:cNvSpPr txBox="1"/>
              <p:nvPr/>
            </p:nvSpPr>
            <p:spPr>
              <a:xfrm>
                <a:off x="596770" y="4516125"/>
                <a:ext cx="6098058" cy="382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Executed Portfolio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Sup>
                      <m:sSub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𝐛𝐚𝐬𝐞</m:t>
                        </m:r>
                      </m:sup>
                    </m:sSub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𝐢𝐧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46C94A-C1F0-9893-CB22-522B594D8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0" y="4516125"/>
                <a:ext cx="6098058" cy="382862"/>
              </a:xfrm>
              <a:prstGeom prst="rect">
                <a:avLst/>
              </a:prstGeom>
              <a:blipFill>
                <a:blip r:embed="rId7"/>
                <a:stretch>
                  <a:fillRect l="-900" t="-6349" b="-25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831D5DB-D583-D7C4-FDC6-65A90E17BC78}"/>
                  </a:ext>
                </a:extLst>
              </p:cNvPr>
              <p:cNvSpPr txBox="1"/>
              <p:nvPr/>
            </p:nvSpPr>
            <p:spPr>
              <a:xfrm>
                <a:off x="596770" y="5205534"/>
                <a:ext cx="6098058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Reward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𝑏𝑎𝑠𝑒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831D5DB-D583-D7C4-FDC6-65A90E17B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0" y="5205534"/>
                <a:ext cx="6098058" cy="681982"/>
              </a:xfrm>
              <a:prstGeom prst="rect">
                <a:avLst/>
              </a:prstGeom>
              <a:blipFill>
                <a:blip r:embed="rId8"/>
                <a:stretch>
                  <a:fillRect l="-900" t="-5357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63777">
        <p:wipe dir="d"/>
      </p:transition>
    </mc:Choice>
    <mc:Fallback xmlns="">
      <p:transition advTm="63777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32840" y="22923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Methodology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2295" y="1072515"/>
            <a:ext cx="865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zh-CN" sz="22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Controller: Event-Driven Base Portfolio Revision</a:t>
            </a:r>
            <a:endParaRPr lang="en-US" altLang="zh-CN" sz="2200" b="1" dirty="0">
              <a:solidFill>
                <a:srgbClr val="000000"/>
              </a:solidFill>
              <a:latin typeface="Georgia" panose="02040502050405020303" charset="0"/>
              <a:ea typeface="CMR10"/>
              <a:cs typeface="Georgia" panose="02040502050405020303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EB5FBE-8093-8051-E29E-45BC873F9397}"/>
              </a:ext>
            </a:extLst>
          </p:cNvPr>
          <p:cNvGrpSpPr/>
          <p:nvPr/>
        </p:nvGrpSpPr>
        <p:grpSpPr>
          <a:xfrm>
            <a:off x="398361" y="1708777"/>
            <a:ext cx="6580552" cy="3459873"/>
            <a:chOff x="2270293" y="1086586"/>
            <a:chExt cx="6580552" cy="345987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2D68FA6-0AEE-4E66-4819-B04F615E0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8000"/>
            </a:blip>
            <a:stretch>
              <a:fillRect/>
            </a:stretch>
          </p:blipFill>
          <p:spPr>
            <a:xfrm>
              <a:off x="2271476" y="1086586"/>
              <a:ext cx="6579369" cy="345987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1688075-48B7-FC89-63CA-EEBFBD24D4C5}"/>
                </a:ext>
              </a:extLst>
            </p:cNvPr>
            <p:cNvPicPr>
              <a:picLocks/>
            </p:cNvPicPr>
            <p:nvPr/>
          </p:nvPicPr>
          <p:blipFill>
            <a:blip r:embed="rId4">
              <a:alphaModFix/>
            </a:blip>
            <a:srcRect t="13561" r="66152" b="19367"/>
            <a:stretch>
              <a:fillRect/>
            </a:stretch>
          </p:blipFill>
          <p:spPr>
            <a:xfrm>
              <a:off x="2270293" y="1537450"/>
              <a:ext cx="2227002" cy="232063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9B5568-11CB-42D4-672B-CA22F6F097F5}"/>
                  </a:ext>
                </a:extLst>
              </p:cNvPr>
              <p:cNvSpPr txBox="1"/>
              <p:nvPr/>
            </p:nvSpPr>
            <p:spPr>
              <a:xfrm>
                <a:off x="2817559" y="1679383"/>
                <a:ext cx="9081998" cy="932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State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𝑐𝑡𝑟𝑙</m:t>
                        </m:r>
                      </m:sup>
                    </m:sSubSup>
                  </m:oMath>
                </a14:m>
                <a:r>
                  <a:rPr lang="zh-CN" altLang="en-US" dirty="0"/>
                  <a:t>: includes current market state, drifted current holding, candidate base portfolio, and comparison features between them.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9B5568-11CB-42D4-672B-CA22F6F09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59" y="1679383"/>
                <a:ext cx="9081998" cy="932371"/>
              </a:xfrm>
              <a:prstGeom prst="rect">
                <a:avLst/>
              </a:prstGeom>
              <a:blipFill>
                <a:blip r:embed="rId5"/>
                <a:stretch>
                  <a:fillRect l="-537" t="-3268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771F8B6-5E64-C54C-DCAA-F190F6D024C2}"/>
                  </a:ext>
                </a:extLst>
              </p:cNvPr>
              <p:cNvSpPr txBox="1"/>
              <p:nvPr/>
            </p:nvSpPr>
            <p:spPr>
              <a:xfrm>
                <a:off x="2817559" y="2719794"/>
                <a:ext cx="60980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:r>
                  <a:rPr lang="zh-CN" altLang="zh-CN" sz="1800" b="0" i="0" dirty="0">
                    <a:solidFill>
                      <a:srgbClr val="333333"/>
                    </a:solidFill>
                    <a:effectLst/>
                    <a:latin typeface="var(--monospace)"/>
                  </a:rPr>
                  <a:t>Action</a:t>
                </a:r>
                <a:endParaRPr lang="zh-CN" altLang="zh-CN" sz="1800" b="0" i="0" dirty="0">
                  <a:solidFill>
                    <a:srgbClr val="333333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marR="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800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CN" altLang="zh-CN" sz="1800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zh-CN" sz="18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zh-CN" altLang="zh-CN" sz="18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{</m:t>
                    </m:r>
                    <m:r>
                      <a:rPr lang="zh-CN" altLang="zh-CN" sz="18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zh-CN" altLang="zh-CN" sz="18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800" b="0" i="0" dirty="0">
                    <a:solidFill>
                      <a:srgbClr val="333333"/>
                    </a:solidFill>
                    <a:effectLst/>
                    <a:latin typeface="var(--monospace)"/>
                  </a:rPr>
                  <a:t> </a:t>
                </a:r>
                <a:endParaRPr lang="zh-CN" altLang="zh-CN" sz="1800" b="0" i="0" dirty="0">
                  <a:solidFill>
                    <a:srgbClr val="333333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marR="0" indent="0" algn="l">
                  <a:buNone/>
                </a:pPr>
                <a:r>
                  <a:rPr lang="zh-CN" altLang="zh-CN" sz="1800" b="0" i="0" dirty="0">
                    <a:solidFill>
                      <a:srgbClr val="333333"/>
                    </a:solidFill>
                    <a:effectLst/>
                    <a:latin typeface="var(--monospace)"/>
                  </a:rPr>
                  <a:t>g_t=0: hold current base</a:t>
                </a:r>
                <a:endParaRPr lang="zh-CN" altLang="zh-CN" sz="1800" b="0" i="0" dirty="0">
                  <a:solidFill>
                    <a:srgbClr val="333333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0" marR="0" indent="0" algn="l">
                  <a:buNone/>
                </a:pPr>
                <a:r>
                  <a:rPr lang="zh-CN" altLang="zh-CN" sz="1800" b="0" i="0" dirty="0">
                    <a:solidFill>
                      <a:srgbClr val="333333"/>
                    </a:solidFill>
                    <a:effectLst/>
                    <a:latin typeface="var(--monospace)"/>
                  </a:rPr>
                  <a:t>g_t=1: switch to candidate base</a:t>
                </a:r>
                <a:endParaRPr lang="zh-CN" altLang="zh-CN" sz="1800" b="0" i="0" dirty="0">
                  <a:solidFill>
                    <a:srgbClr val="333333"/>
                  </a:solidFill>
                  <a:effectLst/>
                  <a:latin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771F8B6-5E64-C54C-DCAA-F190F6D02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59" y="2719794"/>
                <a:ext cx="6098058" cy="1200329"/>
              </a:xfrm>
              <a:prstGeom prst="rect">
                <a:avLst/>
              </a:prstGeom>
              <a:blipFill>
                <a:blip r:embed="rId6"/>
                <a:stretch>
                  <a:fillRect l="-799" t="-2538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940AC196-C1B7-3FB3-5EDA-B2272CF60F5E}"/>
              </a:ext>
            </a:extLst>
          </p:cNvPr>
          <p:cNvSpPr txBox="1"/>
          <p:nvPr/>
        </p:nvSpPr>
        <p:spPr>
          <a:xfrm>
            <a:off x="5640859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B171DF-5C36-4738-327E-12D3E8D73434}"/>
              </a:ext>
            </a:extLst>
          </p:cNvPr>
          <p:cNvSpPr txBox="1"/>
          <p:nvPr/>
        </p:nvSpPr>
        <p:spPr>
          <a:xfrm>
            <a:off x="2817559" y="4065055"/>
            <a:ext cx="89947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Daily update</a:t>
            </a:r>
          </a:p>
          <a:p>
            <a:r>
              <a:rPr lang="en-US" altLang="zh-CN" dirty="0"/>
              <a:t>The Controller is checked every trading day. If the exit probability crosses the threshold, it switches to the candidate base; otherwise it keeps the current base.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E242EEF-F125-2577-C83C-512F2E8AF217}"/>
                  </a:ext>
                </a:extLst>
              </p:cNvPr>
              <p:cNvSpPr txBox="1"/>
              <p:nvPr/>
            </p:nvSpPr>
            <p:spPr>
              <a:xfrm>
                <a:off x="582295" y="5059346"/>
                <a:ext cx="11566161" cy="958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Training objective</a:t>
                </a:r>
                <a:endParaRPr lang="en-US" altLang="zh-CN" dirty="0"/>
              </a:p>
              <a:p>
                <a:r>
                  <a:rPr lang="zh-CN" altLang="en-US" dirty="0"/>
                  <a:t>The Controller compares the investment consequence of the controlled path and the fixed-segment reference path: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𝑐𝑡𝑟𝑙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bSup>
                          </m:e>
                        </m:func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func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 i="0" dirty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`</m:t>
                    </m:r>
                  </m:oMath>
                </a14:m>
                <a:r>
                  <a:rPr lang="zh-CN" altLang="en-US" dirty="0"/>
                  <a:t>   </a:t>
                </a: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E242EEF-F125-2577-C83C-512F2E8AF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" y="5059346"/>
                <a:ext cx="11566161" cy="958980"/>
              </a:xfrm>
              <a:prstGeom prst="rect">
                <a:avLst/>
              </a:prstGeom>
              <a:blipFill>
                <a:blip r:embed="rId7"/>
                <a:stretch>
                  <a:fillRect l="-474" t="-3822" b="-7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63777">
        <p:wipe dir="d"/>
      </p:transition>
    </mc:Choice>
    <mc:Fallback xmlns="">
      <p:transition advTm="63777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973B-3262-11F8-2585-F5832F96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1D192E-0EEC-746A-227C-57B40D53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8811FC-844B-D632-BBDA-A7AF29A06B9C}"/>
              </a:ext>
            </a:extLst>
          </p:cNvPr>
          <p:cNvSpPr txBox="1"/>
          <p:nvPr/>
        </p:nvSpPr>
        <p:spPr>
          <a:xfrm>
            <a:off x="1132840" y="22923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Methodology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A2BDA0-F2BB-5F3D-B7CB-30CD8CBC97D4}"/>
              </a:ext>
            </a:extLst>
          </p:cNvPr>
          <p:cNvSpPr txBox="1"/>
          <p:nvPr/>
        </p:nvSpPr>
        <p:spPr>
          <a:xfrm>
            <a:off x="582295" y="1072515"/>
            <a:ext cx="865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Controller State and Exit Probability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D1E5119-9C50-AD6E-4EE3-402860929148}"/>
              </a:ext>
            </a:extLst>
          </p:cNvPr>
          <p:cNvGrpSpPr/>
          <p:nvPr/>
        </p:nvGrpSpPr>
        <p:grpSpPr>
          <a:xfrm>
            <a:off x="398361" y="1708777"/>
            <a:ext cx="6580552" cy="3459873"/>
            <a:chOff x="2270293" y="1086586"/>
            <a:chExt cx="6580552" cy="345987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D21EF6E-F2D4-E973-163F-9AAAFA4B0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8000"/>
            </a:blip>
            <a:stretch>
              <a:fillRect/>
            </a:stretch>
          </p:blipFill>
          <p:spPr>
            <a:xfrm>
              <a:off x="2271476" y="1086586"/>
              <a:ext cx="6579369" cy="345987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8CDEC03-EF16-6163-C3CF-9706A9A4EF2F}"/>
                </a:ext>
              </a:extLst>
            </p:cNvPr>
            <p:cNvPicPr>
              <a:picLocks/>
            </p:cNvPicPr>
            <p:nvPr/>
          </p:nvPicPr>
          <p:blipFill>
            <a:blip r:embed="rId4">
              <a:alphaModFix/>
            </a:blip>
            <a:srcRect t="13561" r="66152" b="19367"/>
            <a:stretch>
              <a:fillRect/>
            </a:stretch>
          </p:blipFill>
          <p:spPr>
            <a:xfrm>
              <a:off x="2270293" y="1537450"/>
              <a:ext cx="2227002" cy="2320636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EDC489E-8B9F-2E47-885C-A9FCC94D6987}"/>
              </a:ext>
            </a:extLst>
          </p:cNvPr>
          <p:cNvSpPr txBox="1"/>
          <p:nvPr/>
        </p:nvSpPr>
        <p:spPr>
          <a:xfrm>
            <a:off x="5640859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70F6EF-286C-FE82-2AEE-E238DADCBBBB}"/>
                  </a:ext>
                </a:extLst>
              </p:cNvPr>
              <p:cNvSpPr txBox="1"/>
              <p:nvPr/>
            </p:nvSpPr>
            <p:spPr>
              <a:xfrm>
                <a:off x="2801895" y="1652496"/>
                <a:ext cx="8763240" cy="2638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State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𝑐𝑡𝑟𝑙</m:t>
                        </m:r>
                      </m:sup>
                    </m:sSub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zh-CN" altLang="en-US" i="1" dirty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𝑐𝑡𝑟𝑙</m:t>
                        </m:r>
                      </m:sup>
                    </m:sSub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𝑐𝑎𝑛𝑑</m:t>
                            </m:r>
                          </m:sup>
                        </m:sSubSup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𝑐𝑡𝑟𝑙</m:t>
                        </m:r>
                      </m:sup>
                    </m:sSubSup>
                    <m:r>
                      <m:rPr>
                        <m:lit/>
                      </m:rPr>
                      <a:rPr lang="zh-CN" alt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`</a:t>
                </a:r>
                <a:endParaRPr lang="en-US" altLang="zh-CN" dirty="0"/>
              </a:p>
              <a:p>
                <a:r>
                  <a:rPr lang="zh-CN" altLang="en-US" dirty="0"/>
                  <a:t>X_t^{ctrl}: recent market tensor`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dirty="0"/>
                  <a:t>: drifted current holding`，\bar{w}_t^{cand}: candidate base from Outer Actor`</a:t>
                </a:r>
                <a:endParaRPr lang="en-US" altLang="zh-CN" dirty="0"/>
              </a:p>
              <a:p>
                <a:r>
                  <a:rPr lang="zh-CN" altLang="en-US" dirty="0"/>
                  <a:t>u_t: holding-state vector`，u_t includes holding age, segment return, segment drawdown, and current concentration.`</a:t>
                </a:r>
                <a:endParaRPr lang="en-US" altLang="zh-CN" dirty="0"/>
              </a:p>
              <a:p>
                <a:r>
                  <a:rPr lang="zh-CN" altLang="en-US" dirty="0"/>
                  <a:t>a_t^{ctrl}: action-comparison features`，a_t^{ctrl} includes turnover, candidate concentration, and support overlap.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70F6EF-286C-FE82-2AEE-E238DADCB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895" y="1652496"/>
                <a:ext cx="8763240" cy="2638607"/>
              </a:xfrm>
              <a:prstGeom prst="rect">
                <a:avLst/>
              </a:prstGeom>
              <a:blipFill>
                <a:blip r:embed="rId5"/>
                <a:stretch>
                  <a:fillRect l="-626" t="-1155" b="-2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1A821785-73D8-942E-6DD3-CF52419D3C48}"/>
              </a:ext>
            </a:extLst>
          </p:cNvPr>
          <p:cNvSpPr txBox="1"/>
          <p:nvPr/>
        </p:nvSpPr>
        <p:spPr>
          <a:xfrm>
            <a:off x="2801895" y="4574996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1800" b="0" i="0" dirty="0">
                <a:solidFill>
                  <a:srgbClr val="333333"/>
                </a:solidFill>
                <a:effectLst/>
                <a:latin typeface="var(--monospace)"/>
              </a:rPr>
              <a:t>Auxiliary estimates</a:t>
            </a:r>
            <a:endParaRPr lang="zh-CN" altLang="zh-CN" sz="18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marR="0" indent="0" algn="l">
              <a:buNone/>
            </a:pPr>
            <a:r>
              <a:rPr lang="zh-CN" altLang="zh-CN" sz="1800" b="0" i="0" dirty="0">
                <a:solidFill>
                  <a:srgbClr val="333333"/>
                </a:solidFill>
                <a:effectLst/>
                <a:latin typeface="var(--monospace)"/>
              </a:rPr>
              <a:t>holding return, holding risk, switch advantage</a:t>
            </a:r>
            <a:endParaRPr lang="zh-CN" altLang="zh-CN" sz="18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84B5D1-CF46-BC97-EDA3-B7E49992A1AB}"/>
                  </a:ext>
                </a:extLst>
              </p:cNvPr>
              <p:cNvSpPr txBox="1"/>
              <p:nvPr/>
            </p:nvSpPr>
            <p:spPr>
              <a:xfrm>
                <a:off x="2801895" y="5523233"/>
                <a:ext cx="6098058" cy="693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`Exit probability``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𝑒𝑥𝑖𝑡</m:t>
                        </m:r>
                      </m:sup>
                    </m:sSubSup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p>
                        </m:sSub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  <m:func>
                          <m:func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 dirty="0" smtClean="0">
                                <a:latin typeface="Cambria Math" panose="02040503050406030204" pitchFamily="18" charset="0"/>
                              </a:rPr>
                              <m:t>tanh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zh-CN" alt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zh-CN" alt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𝑠𝑤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lit/>
                                      </m:rPr>
                                      <a:rPr lang="zh-CN" altLang="en-US" i="1" dirty="0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zh-CN" alt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en-US" dirty="0"/>
                  <a:t>`、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84B5D1-CF46-BC97-EDA3-B7E49992A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895" y="5523233"/>
                <a:ext cx="6098058" cy="693908"/>
              </a:xfrm>
              <a:prstGeom prst="rect">
                <a:avLst/>
              </a:prstGeom>
              <a:blipFill>
                <a:blip r:embed="rId6"/>
                <a:stretch>
                  <a:fillRect l="-900" t="-4386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6866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63777">
        <p:wipe dir="d"/>
      </p:transition>
    </mc:Choice>
    <mc:Fallback xmlns="">
      <p:transition advTm="63777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41" y="1019684"/>
            <a:ext cx="8391646" cy="569353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6970" y="222885"/>
            <a:ext cx="424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Pseudocode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E47315-5727-DF35-EEC9-47F086D11B14}"/>
              </a:ext>
            </a:extLst>
          </p:cNvPr>
          <p:cNvSpPr/>
          <p:nvPr/>
        </p:nvSpPr>
        <p:spPr>
          <a:xfrm>
            <a:off x="301441" y="1680519"/>
            <a:ext cx="8224721" cy="1124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B71A67-424F-C38F-4F4C-AB3B26061FF4}"/>
              </a:ext>
            </a:extLst>
          </p:cNvPr>
          <p:cNvSpPr/>
          <p:nvPr/>
        </p:nvSpPr>
        <p:spPr>
          <a:xfrm>
            <a:off x="379730" y="4286210"/>
            <a:ext cx="8224721" cy="1793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C55332-282A-5EF6-47F5-597648D7AE83}"/>
              </a:ext>
            </a:extLst>
          </p:cNvPr>
          <p:cNvSpPr/>
          <p:nvPr/>
        </p:nvSpPr>
        <p:spPr>
          <a:xfrm>
            <a:off x="383879" y="3966519"/>
            <a:ext cx="8224721" cy="319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6F9754-9417-D580-78F6-6624DE80EEA9}"/>
              </a:ext>
            </a:extLst>
          </p:cNvPr>
          <p:cNvSpPr/>
          <p:nvPr/>
        </p:nvSpPr>
        <p:spPr>
          <a:xfrm>
            <a:off x="379730" y="6079524"/>
            <a:ext cx="8224721" cy="466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B5E5BA-7A06-51AF-9DFD-597DC5EDD828}"/>
              </a:ext>
            </a:extLst>
          </p:cNvPr>
          <p:cNvSpPr/>
          <p:nvPr/>
        </p:nvSpPr>
        <p:spPr>
          <a:xfrm>
            <a:off x="350868" y="2817341"/>
            <a:ext cx="8224721" cy="1124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2DBEA1-A97A-A3DA-B4CD-EA09C89D6A03}"/>
              </a:ext>
            </a:extLst>
          </p:cNvPr>
          <p:cNvSpPr txBox="1"/>
          <p:nvPr/>
        </p:nvSpPr>
        <p:spPr>
          <a:xfrm>
            <a:off x="8505688" y="1642586"/>
            <a:ext cx="3869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`Train the Outer Actor alone under fixed 30-day segments to learn a stable segment-level base allocator.`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93">
        <p:wipe dir="d"/>
      </p:transition>
    </mc:Choice>
    <mc:Fallback xmlns="">
      <p:transition advTm="3393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39825" y="222885"/>
            <a:ext cx="510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Experimental Setup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9285" y="854710"/>
            <a:ext cx="4646295" cy="475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000" b="1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Dataset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9285" y="2582545"/>
            <a:ext cx="4646295" cy="447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Evaluated Metrics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5" y="1236948"/>
            <a:ext cx="5239019" cy="1244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677127"/>
                  </p:ext>
                </p:extLst>
              </p:nvPr>
            </p:nvGraphicFramePr>
            <p:xfrm>
              <a:off x="660083" y="3433105"/>
              <a:ext cx="6065518" cy="1322672"/>
            </p:xfrm>
            <a:graphic>
              <a:graphicData uri="http://schemas.openxmlformats.org/drawingml/2006/table">
                <a:tbl>
                  <a:tblPr>
                    <a:tableStyleId>{2A488322-F2BA-4B5B-9748-0D474271808F}</a:tableStyleId>
                  </a:tblPr>
                  <a:tblGrid>
                    <a:gridCol w="723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403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1783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 dirty="0"/>
                            <a:t>Metric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/>
                            <a:t>Formula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 dirty="0"/>
                            <a:t>Meaning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783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TR ↑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00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zh-CN" altLang="en-US" sz="10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m:rPr>
                                    <m:lit/>
                                  </m:rPr>
                                  <a:rPr lang="zh-CN" sz="1000" i="1" dirty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zh-CN" alt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000" i="1" dirty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zh-CN" sz="10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10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sz="1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Total cumulative return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783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Sharpe 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000" i="1" dirty="0" smtClean="0">
                                    <a:latin typeface="Cambria Math" panose="02040503050406030204" pitchFamily="18" charset="0"/>
                                  </a:rPr>
                                  <m:t>𝐴𝑅</m:t>
                                </m:r>
                                <m:r>
                                  <a:rPr lang="zh-CN" sz="1000" i="1" dirty="0">
                                    <a:latin typeface="Cambria Math" panose="02040503050406030204" pitchFamily="18" charset="0"/>
                                  </a:rPr>
                                  <m:t> / </m:t>
                                </m:r>
                                <m:r>
                                  <a:rPr lang="zh-CN" altLang="en-US" sz="1000" i="1" dirty="0">
                                    <a:latin typeface="Cambria Math" panose="02040503050406030204" pitchFamily="18" charset="0"/>
                                  </a:rPr>
                                  <m:t>𝑉𝑜𝑙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Risk-adjusted return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55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MDD 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altLang="en-US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zh-CN" altLang="en-US" sz="1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000" i="1" dirty="0" smtClean="0"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e>
                                      <m:sub>
                                        <m:r>
                                          <a:rPr lang="zh-CN" altLang="en-US" sz="1000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alt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CN" altLang="en-US" sz="10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1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000" i="1" dirty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000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lit/>
                                          </m:rPr>
                                          <a:rPr lang="zh-CN" sz="1000" i="1" dirty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func>
                                          <m:funcPr>
                                            <m:ctrlPr>
                                              <a:rPr lang="zh-CN" altLang="en-US" sz="1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𝑚𝑎𝑥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≤</m:t>
                                                </m:r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1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Worst peak-to-trough drawdown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55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CR 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000" i="1" dirty="0" smtClean="0">
                                    <a:latin typeface="Cambria Math" panose="02040503050406030204" pitchFamily="18" charset="0"/>
                                  </a:rPr>
                                  <m:t>𝐴𝑅</m:t>
                                </m:r>
                                <m:r>
                                  <a:rPr lang="zh-CN" sz="1000" i="1" dirty="0">
                                    <a:latin typeface="Cambria Math" panose="02040503050406030204" pitchFamily="18" charset="0"/>
                                  </a:rPr>
                                  <m:t> / </m:t>
                                </m:r>
                                <m:r>
                                  <a:rPr lang="zh-CN" altLang="en-US" sz="1000" i="1" dirty="0">
                                    <a:latin typeface="Cambria Math" panose="02040503050406030204" pitchFamily="18" charset="0"/>
                                  </a:rPr>
                                  <m:t>𝑀𝐷𝐷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Calmar ratio: return per unit of max drawdown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677127"/>
                  </p:ext>
                </p:extLst>
              </p:nvPr>
            </p:nvGraphicFramePr>
            <p:xfrm>
              <a:off x="660083" y="3433105"/>
              <a:ext cx="6065518" cy="1322672"/>
            </p:xfrm>
            <a:graphic>
              <a:graphicData uri="http://schemas.openxmlformats.org/drawingml/2006/table">
                <a:tbl>
                  <a:tblPr>
                    <a:tableStyleId>{2A488322-F2BA-4B5B-9748-0D474271808F}</a:tableStyleId>
                  </a:tblPr>
                  <a:tblGrid>
                    <a:gridCol w="723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403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 dirty="0"/>
                            <a:t>Metric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/>
                            <a:t>Formula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sz="1000" b="1" dirty="0"/>
                            <a:t>Meaning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TR ↑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31481" t="-105000" r="-132540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Total cumulative return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Sharpe 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481" t="-200000" r="-132540" b="-24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Risk-adjusted return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55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MDD 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481" t="-256250" r="-132540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Worst peak-to-trough drawdown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55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/>
                            <a:t>CR 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481" t="-348980" r="-132540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000" dirty="0"/>
                            <a:t>Calmar ratio: return per unit of max drawdown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28261">
        <p:wipe dir="d"/>
      </p:transition>
    </mc:Choice>
    <mc:Fallback xmlns="">
      <p:transition advTm="28261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27760" y="235585"/>
            <a:ext cx="6061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Performance Comparison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06450" y="907415"/>
            <a:ext cx="4646295" cy="475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000" b="1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Baseline Comparison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7B6BA3-16E8-F984-0D2C-ECBBAA3BC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884" y="1752910"/>
            <a:ext cx="8631862" cy="335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42579">
        <p:wipe dir="d"/>
      </p:transition>
    </mc:Choice>
    <mc:Fallback xmlns="">
      <p:transition advTm="42579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27760" y="235585"/>
            <a:ext cx="6061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Performance Comparison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27760" y="996950"/>
            <a:ext cx="4646295" cy="475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000" b="1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Abalation Study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393" y="1376644"/>
            <a:ext cx="5537534" cy="2258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42579">
        <p:wipe dir="d"/>
      </p:transition>
    </mc:Choice>
    <mc:Fallback xmlns="">
      <p:transition advTm="42579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23950" y="222885"/>
            <a:ext cx="510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Ablation Analysis</a:t>
            </a:r>
            <a:endParaRPr lang="zh-CN" altLang="en-US" sz="32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1123950" y="824293"/>
            <a:ext cx="10168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组件间对比，说明</a:t>
            </a:r>
            <a:r>
              <a:rPr lang="en-US" altLang="zh-CN" sz="1800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controller</a:t>
            </a:r>
            <a:r>
              <a:rPr lang="zh-CN" altLang="en-US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效果很好，说明</a:t>
            </a:r>
            <a:r>
              <a:rPr lang="en-US" altLang="zh-CN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inner</a:t>
            </a:r>
            <a:r>
              <a:rPr lang="zh-CN" altLang="en-US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在高噪声的</a:t>
            </a:r>
            <a:r>
              <a:rPr lang="en-US" altLang="zh-CN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Georgia" panose="02040502050405020303" charset="0"/>
                <a:ea typeface="CMR10"/>
                <a:cs typeface="Georgia" panose="02040502050405020303" charset="0"/>
              </a:rPr>
              <a:t>股表现较差</a:t>
            </a:r>
            <a:endParaRPr lang="en-US" altLang="zh-CN" sz="1800" b="1" dirty="0">
              <a:solidFill>
                <a:srgbClr val="000000"/>
              </a:solidFill>
              <a:latin typeface="Georgia" panose="02040502050405020303" charset="0"/>
              <a:ea typeface="CMR10"/>
              <a:cs typeface="Georgia" panose="02040502050405020303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081530"/>
            <a:ext cx="4972685" cy="2903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0" y="1989455"/>
            <a:ext cx="5187315" cy="3008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d"/>
      </p:transition>
    </mc:Choice>
    <mc:Fallback xmlns="">
      <p:transition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40460" y="233045"/>
            <a:ext cx="510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Case Study</a:t>
            </a:r>
            <a:endParaRPr lang="zh-CN" altLang="en-US" sz="3200" b="1" dirty="0">
              <a:latin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" y="1089660"/>
            <a:ext cx="4437379" cy="41222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495" y="1089660"/>
            <a:ext cx="4411712" cy="41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5106">
        <p:wipe dir="d"/>
      </p:transition>
    </mc:Choice>
    <mc:Fallback xmlns="">
      <p:transition advTm="5106">
        <p:wipe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40460" y="233045"/>
            <a:ext cx="510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Case Study</a:t>
            </a:r>
            <a:endParaRPr lang="zh-CN" altLang="en-US" sz="3200" b="1" dirty="0">
              <a:latin typeface="+mj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B714C-19D9-36CD-EA4F-DEA9BF83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" y="1440412"/>
            <a:ext cx="4458139" cy="3755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D01F67-F674-4CCB-CBCA-89D69EA1A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700" y="1440412"/>
            <a:ext cx="4694268" cy="37554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FB71A2C-94AB-7113-8B57-359301B4A29A}"/>
              </a:ext>
            </a:extLst>
          </p:cNvPr>
          <p:cNvSpPr txBox="1"/>
          <p:nvPr/>
        </p:nvSpPr>
        <p:spPr>
          <a:xfrm>
            <a:off x="775386" y="5819628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inner actor 的调仓方向和未来相对收益有较强共振，平均相关性为 </a:t>
            </a:r>
            <a:r>
              <a:rPr lang="zh-CN" altLang="zh-CN" dirty="0">
                <a:latin typeface="Courier New" panose="02070309020205020404" pitchFamily="49" charset="0"/>
              </a:rPr>
              <a:t>0.46</a:t>
            </a:r>
            <a:r>
              <a:rPr lang="zh-CN" altLang="zh-CN" dirty="0"/>
              <a:t>，正向对齐天数为 </a:t>
            </a:r>
            <a:r>
              <a:rPr lang="zh-CN" altLang="zh-CN" dirty="0">
                <a:latin typeface="Courier New" panose="02070309020205020404" pitchFamily="49" charset="0"/>
              </a:rPr>
              <a:t>73%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43FC17-4E9D-E49F-237A-3797C9613082}"/>
              </a:ext>
            </a:extLst>
          </p:cNvPr>
          <p:cNvSpPr txBox="1"/>
          <p:nvPr/>
        </p:nvSpPr>
        <p:spPr>
          <a:xfrm>
            <a:off x="6873444" y="5634961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平均相关性为 </a:t>
            </a:r>
            <a:r>
              <a:rPr lang="zh-CN" altLang="zh-CN" dirty="0">
                <a:latin typeface="Courier New" panose="02070309020205020404" pitchFamily="49" charset="0"/>
              </a:rPr>
              <a:t>0.33</a:t>
            </a:r>
            <a:r>
              <a:rPr lang="zh-CN" altLang="zh-CN" dirty="0"/>
              <a:t>，正向对齐天数为 </a:t>
            </a:r>
            <a:r>
              <a:rPr lang="zh-CN" altLang="zh-CN" dirty="0">
                <a:latin typeface="Courier New" panose="02070309020205020404" pitchFamily="49" charset="0"/>
              </a:rPr>
              <a:t>70%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5106">
        <p:wipe dir="d"/>
      </p:transition>
    </mc:Choice>
    <mc:Fallback xmlns="">
      <p:transition advTm="5106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41730" y="230505"/>
            <a:ext cx="6188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Discussion &amp; Conclusion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180" y="911323"/>
            <a:ext cx="983742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Main Contributions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Framework innovation</a:t>
            </a:r>
          </a:p>
          <a:p>
            <a:pPr algn="l">
              <a:lnSpc>
                <a:spcPts val="1800"/>
              </a:lnSpc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Proposes CMTFlow, a hierarchical portfolio management framework that explicitly decouples three entangled decisions in portfolio RL: </a:t>
            </a:r>
            <a:r>
              <a:rPr lang="zh-CN" altLang="zh-CN" b="0" i="1" dirty="0">
                <a:solidFill>
                  <a:srgbClr val="1F2329"/>
                </a:solidFill>
                <a:effectLst/>
                <a:latin typeface="ui-sans-serif"/>
              </a:rPr>
              <a:t>when to revise</a:t>
            </a: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 the active base portfolio, </a:t>
            </a:r>
            <a:r>
              <a:rPr lang="zh-CN" altLang="zh-CN" b="0" i="1" dirty="0">
                <a:solidFill>
                  <a:srgbClr val="1F2329"/>
                </a:solidFill>
                <a:effectLst/>
                <a:latin typeface="ui-sans-serif"/>
              </a:rPr>
              <a:t>what base portfolio</a:t>
            </a: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 to hold, and </a:t>
            </a:r>
            <a:r>
              <a:rPr lang="zh-CN" altLang="zh-CN" b="0" i="1" dirty="0">
                <a:solidFill>
                  <a:srgbClr val="1F2329"/>
                </a:solidFill>
                <a:effectLst/>
                <a:latin typeface="ui-sans-serif"/>
              </a:rPr>
              <a:t>how to refine</a:t>
            </a: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 daily weights within the active asset support.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Trainable revision controller</a:t>
            </a:r>
          </a:p>
          <a:p>
            <a:pPr algn="l">
              <a:lnSpc>
                <a:spcPts val="1800"/>
              </a:lnSpc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Designs a learnable hold/switch controller that enables state-dependent adaptive base-portfolio revision, replacing rigid fixed-frequency rebalancing schedules.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Empirical verification</a:t>
            </a:r>
          </a:p>
          <a:p>
            <a:pPr algn="l">
              <a:lnSpc>
                <a:spcPts val="1800"/>
              </a:lnSpc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Achieves a superior risk-return trade-off over matched baselines on Nasdaq-100 and CSI 300. Ablation and interpretability studies confirm the controller as the dominant source of performance gains, and validate the complementary role of the inner actor in local within-segment weight refinement.</a:t>
            </a:r>
          </a:p>
          <a:p>
            <a:pPr>
              <a:buNone/>
            </a:pPr>
            <a:br>
              <a:rPr lang="zh-CN" altLang="zh-CN" dirty="0"/>
            </a:br>
            <a:endParaRPr lang="zh-CN" altLang="zh-CN" dirty="0"/>
          </a:p>
          <a:p>
            <a:pPr algn="l">
              <a:lnSpc>
                <a:spcPts val="1800"/>
              </a:lnSpc>
              <a:buNone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Limitations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Limited evaluation scope</a:t>
            </a:r>
          </a:p>
          <a:p>
            <a:pPr algn="l">
              <a:lnSpc>
                <a:spcPts val="1800"/>
              </a:lnSpc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Current experiments are restricted to two equity markets, under long-only and proportional transaction cost assumptions.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Room for extension</a:t>
            </a:r>
          </a:p>
          <a:p>
            <a:pPr algn="l">
              <a:lnSpc>
                <a:spcPts val="1800"/>
              </a:lnSpc>
            </a:pPr>
            <a:r>
              <a:rPr lang="zh-CN" altLang="zh-CN" b="0" dirty="0">
                <a:solidFill>
                  <a:srgbClr val="1F2329"/>
                </a:solidFill>
                <a:effectLst/>
                <a:latin typeface="ui-sans-serif"/>
              </a:rPr>
              <a:t>The framework has not been tested on broader asset classes, realistic market-impact models, or controller designs with explicit risk preferences tailored to different investment mandates.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44110">
        <p:wipe dir="d"/>
      </p:transition>
    </mc:Choice>
    <mc:Fallback xmlns="">
      <p:transition advTm="44110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76300" y="945134"/>
            <a:ext cx="10172700" cy="3161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sz="5400" b="1" dirty="0">
                <a:latin typeface="Georgia" panose="02040502050405020303" charset="0"/>
                <a:cs typeface="Georgia" panose="02040502050405020303" charset="0"/>
              </a:rPr>
              <a:t>Thank you for listening !</a:t>
            </a:r>
          </a:p>
          <a:p>
            <a:pPr algn="ctr">
              <a:lnSpc>
                <a:spcPct val="200000"/>
              </a:lnSpc>
            </a:pPr>
            <a:r>
              <a:rPr lang="en-US" altLang="zh-CN" sz="5400" b="1" dirty="0">
                <a:latin typeface="Georgia" panose="02040502050405020303" charset="0"/>
                <a:cs typeface="Georgia" panose="02040502050405020303" charset="0"/>
              </a:rPr>
              <a:t>Any Questions?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79195" y="4565698"/>
            <a:ext cx="956691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sz="2800" b="1" dirty="0">
                <a:latin typeface="Georgia" panose="02040502050405020303" charset="0"/>
              </a:rPr>
              <a:t>(Apologies for the brevity due to time limitation.)</a:t>
            </a:r>
            <a:endParaRPr lang="en-US" altLang="zh-CN" sz="2800" b="1" dirty="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4737">
        <p:wipe dir="d"/>
      </p:transition>
    </mc:Choice>
    <mc:Fallback xmlns="">
      <p:transition advTm="4737">
        <p:wipe dir="d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iwiaGRpZCI6ImU2NDU0ZGJiZjA1MzI3NTM5MTRmYTdkY2IxMWZmNDBlIiwidXNlckNvdW50IjoyfQ=="/>
  <p:tag name="RESOURCE_RECORD_KEY" val="{&quot;10&quot;:[21546950,21571662,21570827,21571683,21594576],&quot;29&quot;:[5005304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8|9.469|16.212|11.102|6.33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345|23.0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83|4.542|6.297|4.342|5.53|15.936|16.921|47.358|11.298|19.53|22.5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79|5.772|7.501|9.685|18.406|15.633|36.498|14.956|16.78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05|19.573|18.4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05|19.573|18.4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05|19.573|18.4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05|19.573|18.4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05|19.573|18.411"/>
</p:tagLst>
</file>

<file path=ppt/theme/theme1.xml><?xml version="1.0" encoding="utf-8"?>
<a:theme xmlns:a="http://schemas.openxmlformats.org/drawingml/2006/main" name="Office 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Georgia"/>
        <a:ea typeface="微软雅黑"/>
        <a:cs typeface=""/>
      </a:majorFont>
      <a:minorFont>
        <a:latin typeface="Sitka Tex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3146</Words>
  <Application>Microsoft Office PowerPoint</Application>
  <PresentationFormat>宽屏</PresentationFormat>
  <Paragraphs>220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Open Sans</vt:lpstr>
      <vt:lpstr>ui-sans-serif</vt:lpstr>
      <vt:lpstr>等线</vt:lpstr>
      <vt:lpstr>Sitka Text</vt:lpstr>
      <vt:lpstr>var(--monospace)</vt:lpstr>
      <vt:lpstr>微软雅黑</vt:lpstr>
      <vt:lpstr>Georgia</vt:lpstr>
      <vt:lpstr>Cambria Math</vt:lpstr>
      <vt:lpstr>Courier New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Damon Tong</cp:lastModifiedBy>
  <cp:revision>182</cp:revision>
  <dcterms:created xsi:type="dcterms:W3CDTF">2021-11-16T03:50:00Z</dcterms:created>
  <dcterms:modified xsi:type="dcterms:W3CDTF">2026-06-28T15:51:10Z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v1.0_mb_ZuzXL9ClMdZim8IKtC5/+A==</vt:lpwstr>
  </property>
  <property fmtid="{D5CDD505-2E9C-101B-9397-08002B2CF9AE}" pid="4" name="ICV">
    <vt:lpwstr>FF1BA65B996E40EA945B7B91D3A37D66</vt:lpwstr>
  </property>
</Properties>
</file>