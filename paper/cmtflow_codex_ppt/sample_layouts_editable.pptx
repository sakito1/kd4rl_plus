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7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sldIdLst>
    <p:sldId id="256" r:id="rId18"/>
    <p:sldId id="257" r:id="rId19"/>
    <p:sldId id="258" r:id="rId20"/>
    <p:sldId id="259" r:id="rId21"/>
    <p:sldId id="260" r:id="rId22"/>
    <p:sldId id="261" r:id="rId23"/>
  </p:sldIdLst>
  <p:sldSz cx="12191999" cy="6858000"/>
  <p:notesSz cx="6858000" cy="9144000"/>
  <p:embeddedFontLst>
    <p:embeddedFont>
      <p:font typeface="Sitka Text" pitchFamily="2" charset="0"/>
      <p:regular r:id="rId39"/>
    </p:embeddedFont>
    <p:embeddedFont>
      <p:font typeface="微软雅黑" panose="020B0503020204020204" pitchFamily="34" charset="-122"/>
      <p:regular r:id="rId40"/>
    </p:embeddedFont>
    <p:embeddedFont>
      <p:font typeface="Georgia" panose="02040502050405020303" charset="0"/>
      <p:regular r:id="rId41"/>
      <p:bold r:id="rId42"/>
      <p:italic r:id="rId43"/>
      <p:boldItalic r:id="rId44"/>
    </p:embeddedFont>
    <p:embeddedFont>
      <p:font typeface="Cambria Math" panose="02040503050406030204" charset="0"/>
      <p:regular r:id="rId45"/>
    </p:embeddedFont>
    <p:embeddedFont>
      <p:font typeface="等线" panose="02010600030101010101" charset="-122"/>
      <p:regular r:id="rId46"/>
    </p:embeddedFont>
    <p:embeddedFont>
      <p:font typeface="等线 Light" panose="02010600030101010101" charset="-122"/>
      <p:regular r:id="rId47"/>
    </p:embeddedFont>
  </p:embeddedFontLst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zh" initials="F" lastIdx="1" clrIdx="0"/>
  <p:cmAuthor id="384011433" name="冯子函" initials="冯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FBFBF"/>
    <a:srgbClr val="1F497D"/>
    <a:srgbClr val="8F9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2" autoAdjust="0"/>
    <p:restoredTop sz="76596" autoAdjust="0"/>
  </p:normalViewPr>
  <p:slideViewPr>
    <p:cSldViewPr snapToGrid="0" showGuides="1">
      <p:cViewPr>
        <p:scale>
          <a:sx n="75" d="100"/>
          <a:sy n="75" d="100"/>
        </p:scale>
        <p:origin x="1656" y="276"/>
      </p:cViewPr>
      <p:guideLst>
        <p:guide orient="horz" pos="2119"/>
        <p:guide pos="37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43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Relationship Id="rId38" Type="http://schemas.openxmlformats.org/officeDocument/2006/relationships/commentAuthors" Target="commentAuthors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font" Target="fonts/font5.fntdata"/><Relationship Id="rId44" Type="http://schemas.openxmlformats.org/officeDocument/2006/relationships/font" Target="fonts/font6.fntdata"/><Relationship Id="rId45" Type="http://schemas.openxmlformats.org/officeDocument/2006/relationships/font" Target="fonts/font7.fntdata"/><Relationship Id="rId46" Type="http://schemas.openxmlformats.org/officeDocument/2006/relationships/font" Target="fonts/font8.fntdata"/><Relationship Id="rId47" Type="http://schemas.openxmlformats.org/officeDocument/2006/relationships/font" Target="fonts/font9.fntdata"/><Relationship Id="rId48" Type="http://schemas.openxmlformats.org/officeDocument/2006/relationships/tags" Target="tags/tag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8D8C7-CC7A-46D2-91BC-004A931958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C2776-708E-45EF-B4EF-306FEFC18D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41571" y="322644"/>
            <a:ext cx="11508859" cy="621271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35015" y="419582"/>
            <a:ext cx="11321970" cy="60188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0" y="0"/>
            <a:ext cx="1875099" cy="1875099"/>
          </a:xfrm>
          <a:prstGeom prst="rtTriangle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 userDrawn="1"/>
        </p:nvSpPr>
        <p:spPr>
          <a:xfrm rot="16200000">
            <a:off x="10316901" y="4982901"/>
            <a:ext cx="1875099" cy="1875099"/>
          </a:xfrm>
          <a:prstGeom prst="rtTriangle">
            <a:avLst/>
          </a:prstGeom>
          <a:solidFill>
            <a:schemeClr val="tx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295910" y="313055"/>
            <a:ext cx="11599545" cy="6233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69070" y="618109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 descr="c9e032cdb926aee22d4a8cb5f24abe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3005" y="147955"/>
            <a:ext cx="674370" cy="674370"/>
          </a:xfrm>
          <a:prstGeom prst="rect">
            <a:avLst/>
          </a:prstGeom>
        </p:spPr>
      </p:pic>
      <p:grpSp>
        <p:nvGrpSpPr>
          <p:cNvPr id="9" name="Group 7"/>
          <p:cNvGrpSpPr/>
          <p:nvPr userDrawn="1"/>
        </p:nvGrpSpPr>
        <p:grpSpPr bwMode="auto">
          <a:xfrm>
            <a:off x="325037" y="317599"/>
            <a:ext cx="698500" cy="368935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0" name="直线连接符 4"/>
          <p:cNvCxnSpPr/>
          <p:nvPr userDrawn="1"/>
        </p:nvCxnSpPr>
        <p:spPr>
          <a:xfrm>
            <a:off x="1141012" y="818296"/>
            <a:ext cx="1000315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/>
            <a:r>
              <a:rPr sz="3000" b="1" i="0">
                <a:solidFill>
                  <a:srgbClr val="000000"/>
                </a:solidFill>
                <a:latin typeface="微软雅黑"/>
              </a:rPr>
              <a:t>CMTFlow：控制器引导的分层投资组合管理框架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sz="1600" b="0" i="0">
                <a:solidFill>
                  <a:srgbClr val="5A5A5A"/>
                </a:solidFill>
                <a:latin typeface="微软雅黑"/>
              </a:rPr>
              <a:t>Hierarchical Portfolio Management with Controller-Guided Base Revision and Daily Refinement</a:t>
            </a:r>
            <a:br/>
            <a:r>
              <a:rPr sz="1600" b="0" i="0">
                <a:solidFill>
                  <a:srgbClr val="5A5A5A"/>
                </a:solidFill>
                <a:latin typeface="微软雅黑"/>
              </a:rPr>
              <a:t>作者 / 单位 / 日期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0" y="0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11530584" y="6199632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042415"/>
            <a:ext cx="2011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Georgia"/>
              </a:rPr>
              <a:t>CMTFlow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研究背景：组合决策不是单一日频动作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1530584" y="6199632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2423160" cy="1051560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1984248"/>
            <a:ext cx="21671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微软雅黑"/>
              </a:rPr>
              <a:t>中期持仓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377439"/>
            <a:ext cx="2167128" cy="4297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微软雅黑"/>
              </a:rPr>
              <a:t>形成稳定 base portfolio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29584" y="2212848"/>
            <a:ext cx="530352" cy="274320"/>
          </a:xfrm>
          <a:prstGeom prst="rightArrow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1874519"/>
            <a:ext cx="2423160" cy="1051560"/>
          </a:xfrm>
          <a:prstGeom prst="roundRect">
            <a:avLst/>
          </a:prstGeom>
          <a:solidFill>
            <a:srgbClr val="EBF7EF"/>
          </a:solidFill>
          <a:ln w="1397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984248"/>
            <a:ext cx="21671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00B050"/>
                </a:solidFill>
                <a:latin typeface="微软雅黑"/>
              </a:rPr>
              <a:t>每日修正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377439"/>
            <a:ext cx="2167128" cy="4297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微软雅黑"/>
              </a:rPr>
              <a:t>围绕基准组合做局部微调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76288" y="2212848"/>
            <a:ext cx="530352" cy="274320"/>
          </a:xfrm>
          <a:prstGeom prst="rightArrow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1874519"/>
            <a:ext cx="2423160" cy="1051560"/>
          </a:xfrm>
          <a:prstGeom prst="roundRect">
            <a:avLst/>
          </a:prstGeom>
          <a:solidFill>
            <a:srgbClr val="FCEBEB"/>
          </a:solidFill>
          <a:ln w="139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1984248"/>
            <a:ext cx="21671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微软雅黑"/>
              </a:rPr>
              <a:t>异常退出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2377439"/>
            <a:ext cx="2167128" cy="4297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微软雅黑"/>
              </a:rPr>
              <a:t>市场状态恶化时触发切换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38928" y="3246120"/>
            <a:ext cx="822960" cy="329184"/>
          </a:xfrm>
          <a:prstGeom prst="rightArrow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9875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100" b="1" i="0">
                <a:solidFill>
                  <a:srgbClr val="1F497D"/>
                </a:solidFill>
                <a:latin typeface="微软雅黑"/>
              </a:rPr>
              <a:t>核心挑战：稳定性与响应速度之间的权衡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问题定义：本文关注的三个核心决策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1530584" y="6199632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2834640" cy="2011680"/>
          </a:xfrm>
          <a:prstGeom prst="roundRect">
            <a:avLst/>
          </a:prstGeom>
          <a:solidFill>
            <a:srgbClr val="FCEBEB"/>
          </a:solidFill>
          <a:ln w="139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1938528"/>
            <a:ext cx="25786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微软雅黑"/>
              </a:rPr>
              <a:t>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2331720"/>
            <a:ext cx="2578608" cy="1389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微软雅黑"/>
              </a:rPr>
              <a:t>当前 base portfolio 是否已经失效？</a:t>
            </a:r>
            <a:br/>
            <a:r>
              <a:rPr sz="1400" b="0" i="0">
                <a:solidFill>
                  <a:srgbClr val="000000"/>
                </a:solidFill>
                <a:latin typeface="微软雅黑"/>
              </a:rP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2834640" cy="2011680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38528"/>
            <a:ext cx="25786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微软雅黑"/>
              </a:rP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331720"/>
            <a:ext cx="2578608" cy="1389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微软雅黑"/>
              </a:rPr>
              <a:t>如果切换，新的中期基准组合是什么？</a:t>
            </a:r>
            <a:br/>
            <a:r>
              <a:rPr sz="1400" b="0" i="0">
                <a:solidFill>
                  <a:srgbClr val="000000"/>
                </a:solidFill>
                <a:latin typeface="微软雅黑"/>
              </a:rPr>
              <a:t>Outer Actor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828800"/>
            <a:ext cx="2834640" cy="2011680"/>
          </a:xfrm>
          <a:prstGeom prst="roundRect">
            <a:avLst/>
          </a:prstGeom>
          <a:solidFill>
            <a:srgbClr val="F1EBF8"/>
          </a:solidFill>
          <a:ln w="1397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938528"/>
            <a:ext cx="25786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7030A0"/>
                </a:solidFill>
                <a:latin typeface="微软雅黑"/>
              </a:rPr>
              <a:t>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331720"/>
            <a:ext cx="2578608" cy="1389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微软雅黑"/>
              </a:rPr>
              <a:t>在基准组合内部，如何每日权重微调？</a:t>
            </a:r>
            <a:br/>
            <a:r>
              <a:rPr sz="1400" b="0" i="0">
                <a:solidFill>
                  <a:srgbClr val="000000"/>
                </a:solidFill>
                <a:latin typeface="微软雅黑"/>
              </a:rPr>
              <a:t>Inner 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89204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1F497D"/>
                </a:solidFill>
                <a:latin typeface="微软雅黑"/>
              </a:rPr>
              <a:t>不同时间尺度的决策，不应压缩进单一每日动作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方法架构：从候选组合到最终执行权重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1530584" y="6199632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664208" cy="1005840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167128"/>
            <a:ext cx="14081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070C0"/>
                </a:solidFill>
                <a:latin typeface="微软雅黑"/>
              </a:rPr>
              <a:t>Market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560320"/>
            <a:ext cx="14081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</a:p>
        </p:txBody>
      </p:sp>
      <p:sp>
        <p:nvSpPr>
          <p:cNvPr id="8" name="Right Arrow 7"/>
          <p:cNvSpPr/>
          <p:nvPr/>
        </p:nvSpPr>
        <p:spPr>
          <a:xfrm>
            <a:off x="2286000" y="2395728"/>
            <a:ext cx="411480" cy="256032"/>
          </a:xfrm>
          <a:prstGeom prst="rightArrow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8648" y="2057400"/>
            <a:ext cx="1664208" cy="1005840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2167128"/>
            <a:ext cx="14081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070C0"/>
                </a:solidFill>
                <a:latin typeface="微软雅黑"/>
              </a:rPr>
              <a:t>Outer</a:t>
            </a:r>
            <a:br/>
            <a:r>
              <a:rPr sz="1400" b="1" i="0">
                <a:solidFill>
                  <a:srgbClr val="0070C0"/>
                </a:solidFill>
                <a:latin typeface="微软雅黑"/>
              </a:rPr>
              <a:t>生成 u_t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2560320"/>
            <a:ext cx="14081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</a:p>
        </p:txBody>
      </p:sp>
      <p:sp>
        <p:nvSpPr>
          <p:cNvPr id="12" name="Right Arrow 11"/>
          <p:cNvSpPr/>
          <p:nvPr/>
        </p:nvSpPr>
        <p:spPr>
          <a:xfrm>
            <a:off x="4590288" y="2395728"/>
            <a:ext cx="411480" cy="256032"/>
          </a:xfrm>
          <a:prstGeom prst="rightArrow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02936" y="2057400"/>
            <a:ext cx="1664208" cy="1005840"/>
          </a:xfrm>
          <a:prstGeom prst="roundRect">
            <a:avLst/>
          </a:prstGeom>
          <a:solidFill>
            <a:srgbClr val="FCEBEB"/>
          </a:solidFill>
          <a:ln w="139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167128"/>
            <a:ext cx="14081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微软雅黑"/>
              </a:rPr>
              <a:t>Controller</a:t>
            </a:r>
            <a:br/>
            <a:r>
              <a:rPr sz="1400" b="1" i="0">
                <a:solidFill>
                  <a:srgbClr val="C00000"/>
                </a:solidFill>
                <a:latin typeface="微软雅黑"/>
              </a:rPr>
              <a:t>hold /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560320"/>
            <a:ext cx="14081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</a:p>
        </p:txBody>
      </p:sp>
      <p:sp>
        <p:nvSpPr>
          <p:cNvPr id="16" name="Right Arrow 15"/>
          <p:cNvSpPr/>
          <p:nvPr/>
        </p:nvSpPr>
        <p:spPr>
          <a:xfrm>
            <a:off x="6894576" y="2395728"/>
            <a:ext cx="411480" cy="256032"/>
          </a:xfrm>
          <a:prstGeom prst="rightArrow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07224" y="2057400"/>
            <a:ext cx="1664208" cy="1005840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167128"/>
            <a:ext cx="14081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070C0"/>
                </a:solidFill>
                <a:latin typeface="微软雅黑"/>
              </a:rPr>
              <a:t>Base Selector</a:t>
            </a:r>
            <a:br/>
            <a:r>
              <a:rPr sz="1400" b="1" i="0">
                <a:solidFill>
                  <a:srgbClr val="0070C0"/>
                </a:solidFill>
                <a:latin typeface="微软雅黑"/>
              </a:rPr>
              <a:t>得到 b_t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560320"/>
            <a:ext cx="14081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</a:p>
        </p:txBody>
      </p:sp>
      <p:sp>
        <p:nvSpPr>
          <p:cNvPr id="20" name="Right Arrow 19"/>
          <p:cNvSpPr/>
          <p:nvPr/>
        </p:nvSpPr>
        <p:spPr>
          <a:xfrm>
            <a:off x="9198864" y="2395728"/>
            <a:ext cx="411480" cy="256032"/>
          </a:xfrm>
          <a:prstGeom prst="rightArrow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11512" y="2057400"/>
            <a:ext cx="1664208" cy="1005840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9528" y="2167128"/>
            <a:ext cx="14081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070C0"/>
                </a:solidFill>
                <a:latin typeface="微软雅黑"/>
              </a:rPr>
              <a:t>Inner</a:t>
            </a:r>
            <a:br/>
            <a:r>
              <a:rPr sz="1400" b="1" i="0">
                <a:solidFill>
                  <a:srgbClr val="0070C0"/>
                </a:solidFill>
                <a:latin typeface="微软雅黑"/>
              </a:rPr>
              <a:t>输出 w_t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560320"/>
            <a:ext cx="14081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</a:p>
        </p:txBody>
      </p:sp>
      <p:sp>
        <p:nvSpPr>
          <p:cNvPr id="24" name="Rounded Rectangle 23"/>
          <p:cNvSpPr/>
          <p:nvPr/>
        </p:nvSpPr>
        <p:spPr>
          <a:xfrm>
            <a:off x="914400" y="3886200"/>
            <a:ext cx="43434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3995928"/>
            <a:ext cx="40873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微软雅黑"/>
              </a:rPr>
              <a:t>关键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4389120"/>
            <a:ext cx="4087368" cy="2926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微软雅黑"/>
              </a:rPr>
              <a:t>Controller 比较旧 base 与候选 base，而不是机械按日历换仓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069080"/>
            <a:ext cx="5669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微软雅黑"/>
              </a:rPr>
              <a:t>b_t = u_t if switch, else b_t^drift    |    w_t = Inner(b_t, state_t)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数值结果：主实验性能对比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1530584" y="6199632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507492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  <a:latin typeface="微软雅黑"/>
              </a:rPr>
              <a:t>Cumulative Wealth Curves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17320"/>
            <a:ext cx="507492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  <a:latin typeface="微软雅黑"/>
              </a:rPr>
              <a:t>Main Metrics: TR / Sharpe / MDD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325880" y="3154679"/>
            <a:ext cx="3886200" cy="1051561"/>
          </a:xfrm>
          <a:prstGeom prst="line">
            <a:avLst/>
          </a:prstGeom>
          <a:ln w="18288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325880" y="3429000"/>
            <a:ext cx="3886200" cy="1051560"/>
          </a:xfrm>
          <a:prstGeom prst="line">
            <a:avLst/>
          </a:prstGeom>
          <a:ln w="18288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25880" y="3657600"/>
            <a:ext cx="3886200" cy="1051560"/>
          </a:xfrm>
          <a:prstGeom prst="line">
            <a:avLst/>
          </a:prstGeom>
          <a:ln w="18288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720840" y="4434840"/>
            <a:ext cx="256032" cy="749808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59" y="4133087"/>
            <a:ext cx="25603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831335"/>
            <a:ext cx="256032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4434840"/>
            <a:ext cx="256032" cy="749808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32520" y="4133087"/>
            <a:ext cx="25603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3831335"/>
            <a:ext cx="256032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38360" y="4434840"/>
            <a:ext cx="256032" cy="749808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1280" y="4133087"/>
            <a:ext cx="25603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332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  <a:latin typeface="微软雅黑"/>
              </a:rPr>
              <a:t>结论：CMTFlow 改善风险收益权衡，而不是追求所有单项指标绝对最优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讨论与总结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1530584" y="6199632"/>
            <a:ext cx="658368" cy="658368"/>
          </a:xfrm>
          <a:prstGeom prst="rtTriangl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2834640" cy="1920240"/>
          </a:xfrm>
          <a:prstGeom prst="roundRect">
            <a:avLst/>
          </a:prstGeom>
          <a:solidFill>
            <a:srgbClr val="FCEBEB"/>
          </a:solidFill>
          <a:ln w="139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1938528"/>
            <a:ext cx="25786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微软雅黑"/>
              </a:rPr>
              <a:t>1. 问题重构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2331720"/>
            <a:ext cx="2578608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微软雅黑"/>
              </a:rPr>
              <a:t>base revision</a:t>
            </a:r>
            <a:br/>
            <a:r>
              <a:rPr sz="1300" b="0" i="0">
                <a:solidFill>
                  <a:srgbClr val="000000"/>
                </a:solidFill>
                <a:latin typeface="微软雅黑"/>
              </a:rPr>
              <a:t>base construction</a:t>
            </a:r>
            <a:br/>
            <a:r>
              <a:rPr sz="1300" b="0" i="0">
                <a:solidFill>
                  <a:srgbClr val="000000"/>
                </a:solidFill>
                <a:latin typeface="微软雅黑"/>
              </a:rPr>
              <a:t>daily refinement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2834640" cy="1920240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38528"/>
            <a:ext cx="25786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微软雅黑"/>
              </a:rPr>
              <a:t>2. 核心机制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331720"/>
            <a:ext cx="2578608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微软雅黑"/>
              </a:rPr>
              <a:t>Controller 将固定周期换仓</a:t>
            </a:r>
            <a:br/>
            <a:r>
              <a:rPr sz="1300" b="0" i="0">
                <a:solidFill>
                  <a:srgbClr val="000000"/>
                </a:solidFill>
                <a:latin typeface="微软雅黑"/>
              </a:rPr>
              <a:t>变成可学习事件策略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828800"/>
            <a:ext cx="2834640" cy="1920240"/>
          </a:xfrm>
          <a:prstGeom prst="roundRect">
            <a:avLst/>
          </a:prstGeom>
          <a:solidFill>
            <a:srgbClr val="F1EBF8"/>
          </a:solidFill>
          <a:ln w="1397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938528"/>
            <a:ext cx="25786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7030A0"/>
                </a:solidFill>
                <a:latin typeface="微软雅黑"/>
              </a:rPr>
              <a:t>3. 实验结论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331720"/>
            <a:ext cx="2578608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微软雅黑"/>
              </a:rPr>
              <a:t>更稳健的风险收益权衡</a:t>
            </a:r>
            <a:br/>
            <a:r>
              <a:rPr sz="1300" b="0" i="0">
                <a:solidFill>
                  <a:srgbClr val="000000"/>
                </a:solidFill>
                <a:latin typeface="微软雅黑"/>
              </a:rPr>
              <a:t>Controller 是主要自适应来源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10332720" cy="713232"/>
          </a:xfrm>
          <a:prstGeom prst="roundRect">
            <a:avLst/>
          </a:prstGeom>
          <a:solidFill>
            <a:srgbClr val="EBF7EF"/>
          </a:solidFill>
          <a:ln w="1397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864608"/>
            <a:ext cx="1007668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00B050"/>
                </a:solidFill>
                <a:latin typeface="微软雅黑"/>
              </a:rPr>
              <a:t>未来工作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5257800"/>
            <a:ext cx="10076688" cy="91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微软雅黑"/>
              </a:rPr>
              <a:t>更多市场与资产类别｜更复杂交易约束｜更稳健风险控制</a:t>
            </a:r>
          </a:p>
        </p:txBody>
      </p:sp>
    </p:spTree>
  </p:cSld>
  <p:clrMapOvr>
    <a:masterClrMapping/>
  </p:clrMapOvr>
</p:sld>
</file>

<file path=ppt/tags/tag79.xml><?xml version="1.0" encoding="utf-8"?>
<p:tagLst xmlns:p="http://schemas.openxmlformats.org/presentationml/2006/main">
  <p:tag name="COMMONDATA" val="eyJjb3VudCI6MiwiaGRpZCI6ImU2NDU0ZGJiZjA1MzI3NTM5MTRmYTdkY2IxMWZmNDBlIiwidXNlckNvdW50IjoyfQ=="/>
  <p:tag name="RESOURCE_RECORD_KEY" val="{&quot;10&quot;:[21546950,21571662,21570827,21571683,21594576],&quot;29&quot;:[50053044]}"/>
</p:tagLst>
</file>

<file path=ppt/theme/theme1.xml><?xml version="1.0" encoding="utf-8"?>
<a:theme xmlns:a="http://schemas.openxmlformats.org/drawingml/2006/main" name="Office 主题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Georgia"/>
        <a:ea typeface="微软雅黑"/>
        <a:cs typeface=""/>
      </a:majorFont>
      <a:minorFont>
        <a:latin typeface="Sitka Tex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14559</Words>
  <Application>WPS 演示</Application>
  <PresentationFormat>宽屏</PresentationFormat>
  <Paragraphs>720</Paragraphs>
  <Slides>31</Slides>
  <Notes>15</Notes>
  <HiddenSlides>1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1" baseType="lpstr">
      <vt:lpstr>Arial</vt:lpstr>
      <vt:lpstr>宋体</vt:lpstr>
      <vt:lpstr>Wingdings</vt:lpstr>
      <vt:lpstr>Times New Roman</vt:lpstr>
      <vt:lpstr>Sitka Text</vt:lpstr>
      <vt:lpstr>微软雅黑</vt:lpstr>
      <vt:lpstr>Georgia</vt:lpstr>
      <vt:lpstr>Cambria Math</vt:lpstr>
      <vt:lpstr>Wingdings</vt:lpstr>
      <vt:lpstr>CMR10</vt:lpstr>
      <vt:lpstr>Segoe Print</vt:lpstr>
      <vt:lpstr>MS Mincho</vt:lpstr>
      <vt:lpstr>CMBX12</vt:lpstr>
      <vt:lpstr>Arial Unicode MS</vt:lpstr>
      <vt:lpstr>等线</vt:lpstr>
      <vt:lpstr>CMR7</vt:lpstr>
      <vt:lpstr>CMMI10</vt:lpstr>
      <vt:lpstr>Calibri</vt:lpstr>
      <vt:lpstr>等线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冯子函</cp:lastModifiedBy>
  <cp:revision>176</cp:revision>
  <dcterms:created xsi:type="dcterms:W3CDTF">2021-11-16T03:50:00Z</dcterms:created>
  <dcterms:modified xsi:type="dcterms:W3CDTF">2025-07-18T05:26:16Z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KSOTemplateUUID">
    <vt:lpwstr>v1.0_mb_ZuzXL9ClMdZim8IKtC5/+A==</vt:lpwstr>
  </property>
  <property fmtid="{D5CDD505-2E9C-101B-9397-08002B2CF9AE}" pid="4" name="ICV">
    <vt:lpwstr>FF1BA65B996E40EA945B7B91D3A37D66</vt:lpwstr>
  </property>
</Properties>
</file>