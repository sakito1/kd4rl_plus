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21.svg" ContentType="image/svg+xml"/>
  <Override PartName="/ppt/media/image23.svg" ContentType="image/svg+xml"/>
  <Override PartName="/ppt/media/image32.svg" ContentType="image/svg+xml"/>
  <Override PartName="/ppt/media/image35.svg" ContentType="image/svg+xml"/>
  <Override PartName="/ppt/media/image7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
  </p:notesMasterIdLst>
  <p:sldIdLst>
    <p:sldId id="266" r:id="rId3"/>
    <p:sldId id="265" r:id="rId5"/>
    <p:sldId id="383" r:id="rId6"/>
    <p:sldId id="365" r:id="rId7"/>
    <p:sldId id="366" r:id="rId8"/>
    <p:sldId id="354" r:id="rId9"/>
    <p:sldId id="358" r:id="rId10"/>
    <p:sldId id="359" r:id="rId11"/>
    <p:sldId id="367" r:id="rId12"/>
    <p:sldId id="363" r:id="rId13"/>
    <p:sldId id="368" r:id="rId14"/>
    <p:sldId id="369" r:id="rId15"/>
    <p:sldId id="384" r:id="rId16"/>
    <p:sldId id="370" r:id="rId17"/>
    <p:sldId id="385" r:id="rId18"/>
    <p:sldId id="386" r:id="rId19"/>
    <p:sldId id="372" r:id="rId20"/>
    <p:sldId id="382" r:id="rId21"/>
    <p:sldId id="357" r:id="rId22"/>
    <p:sldId id="360" r:id="rId23"/>
    <p:sldId id="373" r:id="rId24"/>
    <p:sldId id="355" r:id="rId25"/>
    <p:sldId id="377" r:id="rId26"/>
    <p:sldId id="388" r:id="rId27"/>
    <p:sldId id="361" r:id="rId28"/>
    <p:sldId id="356" r:id="rId29"/>
    <p:sldId id="387" r:id="rId30"/>
    <p:sldId id="380" r:id="rId31"/>
    <p:sldId id="381" r:id="rId32"/>
    <p:sldId id="375" r:id="rId33"/>
    <p:sldId id="280" r:id="rId34"/>
  </p:sldIdLst>
  <p:sldSz cx="12192000" cy="6858000"/>
  <p:notesSz cx="6858000" cy="9144000"/>
  <p:embeddedFontLst>
    <p:embeddedFont>
      <p:font typeface="Sitka Text" pitchFamily="2" charset="0"/>
      <p:regular r:id="rId39"/>
    </p:embeddedFont>
    <p:embeddedFont>
      <p:font typeface="微软雅黑" panose="020B0503020204020204" pitchFamily="34" charset="-122"/>
      <p:regular r:id="rId40"/>
    </p:embeddedFont>
    <p:embeddedFont>
      <p:font typeface="Georgia" panose="02040502050405020303" charset="0"/>
      <p:regular r:id="rId41"/>
      <p:bold r:id="rId42"/>
      <p:italic r:id="rId43"/>
      <p:boldItalic r:id="rId44"/>
    </p:embeddedFont>
    <p:embeddedFont>
      <p:font typeface="Cambria Math" panose="02040503050406030204" charset="0"/>
      <p:regular r:id="rId45"/>
    </p:embeddedFont>
    <p:embeddedFont>
      <p:font typeface="等线" panose="02010600030101010101" charset="-122"/>
      <p:regular r:id="rId46"/>
    </p:embeddedFont>
    <p:embeddedFont>
      <p:font typeface="等线 Light" panose="02010600030101010101" charset="-122"/>
      <p:regular r:id="rId47"/>
    </p:embeddedFont>
  </p:embeddedFontLst>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9" userDrawn="1">
          <p15:clr>
            <a:srgbClr val="A4A3A4"/>
          </p15:clr>
        </p15:guide>
        <p15:guide id="2" pos="37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zh" initials="F" lastIdx="1" clrIdx="0"/>
  <p:cmAuthor id="384011433" name="冯子函" initials="冯"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FBFBF"/>
    <a:srgbClr val="1F497D"/>
    <a:srgbClr val="8F9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22" autoAdjust="0"/>
    <p:restoredTop sz="76596" autoAdjust="0"/>
  </p:normalViewPr>
  <p:slideViewPr>
    <p:cSldViewPr snapToGrid="0" showGuides="1">
      <p:cViewPr>
        <p:scale>
          <a:sx n="75" d="100"/>
          <a:sy n="75" d="100"/>
        </p:scale>
        <p:origin x="1656" y="276"/>
      </p:cViewPr>
      <p:guideLst>
        <p:guide orient="horz" pos="2119"/>
        <p:guide pos="3754"/>
      </p:guideLst>
    </p:cSldViewPr>
  </p:slideViewPr>
  <p:notesTextViewPr>
    <p:cViewPr>
      <p:scale>
        <a:sx n="1" d="1"/>
        <a:sy n="1" d="1"/>
      </p:scale>
      <p:origin x="0" y="0"/>
    </p:cViewPr>
  </p:notesTextViewPr>
  <p:sorterViewPr>
    <p:cViewPr varScale="1">
      <p:scale>
        <a:sx n="1" d="1"/>
        <a:sy n="1" d="1"/>
      </p:scale>
      <p:origin x="0" y="-343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79.xml"/><Relationship Id="rId47" Type="http://schemas.openxmlformats.org/officeDocument/2006/relationships/font" Target="fonts/font9.fntdata"/><Relationship Id="rId46" Type="http://schemas.openxmlformats.org/officeDocument/2006/relationships/font" Target="fonts/font8.fntdata"/><Relationship Id="rId45" Type="http://schemas.openxmlformats.org/officeDocument/2006/relationships/font" Target="fonts/font7.fntdata"/><Relationship Id="rId44" Type="http://schemas.openxmlformats.org/officeDocument/2006/relationships/font" Target="fonts/font6.fntdata"/><Relationship Id="rId43" Type="http://schemas.openxmlformats.org/officeDocument/2006/relationships/font" Target="fonts/font5.fntdata"/><Relationship Id="rId42" Type="http://schemas.openxmlformats.org/officeDocument/2006/relationships/font" Target="fonts/font4.fntdata"/><Relationship Id="rId41" Type="http://schemas.openxmlformats.org/officeDocument/2006/relationships/font" Target="fonts/font3.fntdata"/><Relationship Id="rId40" Type="http://schemas.openxmlformats.org/officeDocument/2006/relationships/font" Target="fonts/font2.fntdata"/><Relationship Id="rId4" Type="http://schemas.openxmlformats.org/officeDocument/2006/relationships/notesMaster" Target="notesMasters/notesMaster1.xml"/><Relationship Id="rId39" Type="http://schemas.openxmlformats.org/officeDocument/2006/relationships/font" Target="fonts/font1.fntdata"/><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B8D8C7-CC7A-46D2-91BC-004A931958A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C2776-708E-45EF-B4EF-306FEFC18D9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None/>
            </a:pPr>
            <a:endParaRPr lang="zh-CN" altLang="en-US" dirty="0"/>
          </a:p>
        </p:txBody>
      </p:sp>
      <p:sp>
        <p:nvSpPr>
          <p:cNvPr id="4" name="灯片编号占位符 3"/>
          <p:cNvSpPr>
            <a:spLocks noGrp="1"/>
          </p:cNvSpPr>
          <p:nvPr>
            <p:ph type="sldNum" sz="quarter" idx="5"/>
          </p:nvPr>
        </p:nvSpPr>
        <p:spPr/>
        <p:txBody>
          <a:bodyPr/>
          <a:lstStyle/>
          <a:p>
            <a:fld id="{077C2776-708E-45EF-B4EF-306FEFC18D9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latin typeface="+mj-lt"/>
                <a:cs typeface="+mj-lt"/>
                <a:sym typeface="+mn-ea"/>
              </a:rPr>
              <a:t>reduce the risk of stockouts, leading to improved operational efficiency</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传统的优化方法：</a:t>
            </a:r>
            <a:endParaRPr lang="zh-CN" altLang="en-US"/>
          </a:p>
          <a:p>
            <a:pPr marL="171450" indent="-171450">
              <a:buFont typeface="Arial" panose="020B0604020202020204" pitchFamily="34" charset="0"/>
              <a:buChar char="•"/>
            </a:pPr>
            <a:r>
              <a:rPr lang="zh-CN" altLang="en-US"/>
              <a:t>给定已知参数（初始库存、需求数值或分布、成本），定义目标函数（成本最小化或者利润最大化），决策变量定义为转运量和补货量。</a:t>
            </a:r>
            <a:endParaRPr lang="zh-CN" altLang="en-US"/>
          </a:p>
          <a:p>
            <a:pPr marL="171450" indent="-171450">
              <a:buFont typeface="Arial" panose="020B0604020202020204" pitchFamily="34" charset="0"/>
              <a:buChar char="•"/>
            </a:pPr>
            <a:r>
              <a:rPr lang="zh-CN" altLang="en-US"/>
              <a:t>主要处理静态的问题，也可以扩展到动态，参数翻</a:t>
            </a:r>
            <a:r>
              <a:rPr lang="en-US" altLang="zh-CN"/>
              <a:t>T</a:t>
            </a:r>
            <a:r>
              <a:rPr lang="zh-CN" altLang="en-US"/>
              <a:t>倍，规模过大则无法求解；但是不具有动态性。</a:t>
            </a:r>
            <a:endParaRPr lang="zh-CN" altLang="en-US"/>
          </a:p>
          <a:p>
            <a:r>
              <a:rPr lang="en-US" altLang="zh-CN"/>
              <a:t>MDP</a:t>
            </a:r>
            <a:r>
              <a:rPr lang="zh-CN" altLang="en-US"/>
              <a:t>的方法：</a:t>
            </a:r>
            <a:endParaRPr lang="zh-CN" altLang="en-US"/>
          </a:p>
          <a:p>
            <a:pPr marL="171450" indent="-171450">
              <a:buFont typeface="Arial" panose="020B0604020202020204" pitchFamily="34" charset="0"/>
              <a:buChar char="•"/>
            </a:pPr>
            <a:r>
              <a:rPr lang="zh-CN" altLang="en-US"/>
              <a:t>建模为</a:t>
            </a:r>
            <a:r>
              <a:rPr lang="en-US" altLang="zh-CN"/>
              <a:t>MDP</a:t>
            </a:r>
            <a:r>
              <a:rPr lang="zh-CN" altLang="en-US"/>
              <a:t>，使用动态规划求解，但是在处理大规模问题时会出现维度诅咒。</a:t>
            </a:r>
            <a:endParaRPr lang="zh-CN" altLang="en-US"/>
          </a:p>
          <a:p>
            <a:r>
              <a:rPr lang="en-US" altLang="zh-CN"/>
              <a:t>RL</a:t>
            </a:r>
            <a:r>
              <a:rPr lang="zh-CN" altLang="en-US"/>
              <a:t>方法：</a:t>
            </a:r>
            <a:endParaRPr lang="zh-CN" altLang="en-US"/>
          </a:p>
          <a:p>
            <a:pPr marL="171450" indent="-171450">
              <a:buFont typeface="Arial" panose="020B0604020202020204" pitchFamily="34" charset="0"/>
              <a:buChar char="•"/>
            </a:pPr>
            <a:r>
              <a:rPr lang="zh-CN" altLang="en-US"/>
              <a:t>动态性、长期考量、考虑合作。</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a:t>1. </a:t>
            </a:r>
            <a:r>
              <a:rPr lang="zh-CN" altLang="en-US" b="1"/>
              <a:t>约束冲突问题：</a:t>
            </a:r>
            <a:endParaRPr lang="zh-CN" altLang="en-US" b="1"/>
          </a:p>
          <a:p>
            <a:pPr marL="171450" lvl="0" indent="-171450">
              <a:buFont typeface="Arial" panose="020B0604020202020204" pitchFamily="34" charset="0"/>
              <a:buChar char="•"/>
            </a:pPr>
            <a:r>
              <a:rPr lang="zh-CN" altLang="en-US"/>
              <a:t>由于神经网络的黑箱问题，可能出现冲突。</a:t>
            </a:r>
            <a:endParaRPr lang="zh-CN" altLang="en-US"/>
          </a:p>
          <a:p>
            <a:pPr marL="171450" lvl="0" indent="-171450">
              <a:buFont typeface="Arial" panose="020B0604020202020204" pitchFamily="34" charset="0"/>
              <a:buChar char="•"/>
            </a:pPr>
            <a:r>
              <a:rPr lang="zh-CN" altLang="en-US"/>
              <a:t>使用</a:t>
            </a:r>
            <a:r>
              <a:rPr lang="en-US" altLang="zh-CN"/>
              <a:t>MARL</a:t>
            </a:r>
            <a:r>
              <a:rPr lang="zh-CN" altLang="en-US"/>
              <a:t>的方式进行训练？仅仅从价值上提供一种对齐机制，对于这种动作空间纠缠的情况是无法处理的。</a:t>
            </a:r>
            <a:endParaRPr lang="zh-CN" altLang="en-US"/>
          </a:p>
          <a:p>
            <a:pPr marL="171450" lvl="0" indent="-171450">
              <a:buFont typeface="Arial" panose="020B0604020202020204" pitchFamily="34" charset="0"/>
              <a:buChar char="•"/>
            </a:pPr>
            <a:r>
              <a:rPr lang="zh-CN" altLang="en-US"/>
              <a:t>引出问题：应该怎样设置专门的协调机制？</a:t>
            </a:r>
            <a:endParaRPr lang="zh-CN" altLang="en-US"/>
          </a:p>
          <a:p>
            <a:r>
              <a:rPr lang="en-US" altLang="zh-CN" b="1"/>
              <a:t>2. </a:t>
            </a:r>
            <a:r>
              <a:rPr lang="zh-CN" altLang="en-US" b="1"/>
              <a:t>本质上是两种决策：</a:t>
            </a:r>
            <a:endParaRPr lang="zh-CN" altLang="en-US" b="1"/>
          </a:p>
          <a:p>
            <a:pPr marL="171450" indent="-171450">
              <a:buFont typeface="Arial" panose="020B0604020202020204" pitchFamily="34" charset="0"/>
              <a:buChar char="•"/>
            </a:pPr>
            <a:r>
              <a:rPr lang="en-US" altLang="zh-CN"/>
              <a:t>replenishment</a:t>
            </a:r>
            <a:r>
              <a:rPr lang="zh-CN" altLang="en-US"/>
              <a:t>和</a:t>
            </a:r>
            <a:r>
              <a:rPr lang="en-US" altLang="zh-CN"/>
              <a:t>transshipment</a:t>
            </a:r>
            <a:r>
              <a:rPr lang="zh-CN" altLang="en-US"/>
              <a:t>的角色不同，分别是</a:t>
            </a:r>
            <a:r>
              <a:rPr lang="en-US" altLang="zh-CN"/>
              <a:t>XXX</a:t>
            </a:r>
            <a:r>
              <a:rPr lang="zh-CN" altLang="en-US"/>
              <a:t>。两者的动作空间、决策使用的状态空间依赖是不同的。</a:t>
            </a:r>
            <a:endParaRPr lang="zh-CN" altLang="en-US"/>
          </a:p>
          <a:p>
            <a:pPr marL="171450" indent="-171450">
              <a:buFont typeface="Arial" panose="020B0604020202020204" pitchFamily="34" charset="0"/>
              <a:buChar char="•"/>
            </a:pPr>
            <a:r>
              <a:rPr lang="zh-CN" altLang="en-US"/>
              <a:t>但是两者间又不是完全没有联系，因此需要合理的建模他们的不同点与彼此之间的联系。</a:t>
            </a:r>
            <a:endParaRPr lang="zh-CN" altLang="en-US"/>
          </a:p>
          <a:p>
            <a:pPr marL="171450" indent="-171450">
              <a:buFont typeface="Arial" panose="020B0604020202020204" pitchFamily="34" charset="0"/>
              <a:buChar char="•"/>
            </a:pPr>
            <a:r>
              <a:rPr lang="zh-CN" altLang="en-US"/>
              <a:t>引出问题：应该以怎样的视角来建模这个问题？</a:t>
            </a:r>
            <a:endParaRPr lang="zh-CN" altLang="en-US"/>
          </a:p>
          <a:p>
            <a:pPr marL="171450" indent="-171450">
              <a:buFont typeface="Arial" panose="020B0604020202020204" pitchFamily="34" charset="0"/>
              <a:buChar char="•"/>
            </a:pPr>
            <a:endParaRPr lang="zh-CN" altLang="en-US"/>
          </a:p>
          <a:p>
            <a:pPr indent="0">
              <a:buFont typeface="Arial" panose="020B0604020202020204" pitchFamily="34" charset="0"/>
              <a:buNone/>
            </a:pPr>
            <a:r>
              <a:rPr lang="en-US" altLang="zh-CN"/>
              <a:t>the </a:t>
            </a:r>
            <a:r>
              <a:rPr lang="en-US" altLang="zh-CN">
                <a:highlight>
                  <a:srgbClr val="FFFF00"/>
                </a:highlight>
              </a:rPr>
              <a:t>aorta</a:t>
            </a:r>
            <a:r>
              <a:rPr lang="en-US" altLang="zh-CN"/>
              <a:t> in the human body, which maintains normal functioning.</a:t>
            </a:r>
            <a:endParaRPr lang="en-US" altLang="zh-CN"/>
          </a:p>
          <a:p>
            <a:pPr indent="0">
              <a:buFont typeface="Arial" panose="020B0604020202020204" pitchFamily="34" charset="0"/>
              <a:buNone/>
            </a:pPr>
            <a:r>
              <a:rPr lang="en-US" altLang="zh-CN"/>
              <a:t>the </a:t>
            </a:r>
            <a:r>
              <a:rPr lang="en-US" altLang="zh-CN">
                <a:highlight>
                  <a:srgbClr val="FFFF00"/>
                </a:highlight>
              </a:rPr>
              <a:t>capillaries</a:t>
            </a:r>
            <a:r>
              <a:rPr lang="en-US" altLang="zh-CN"/>
              <a:t> that facilitate human micro-circulation</a:t>
            </a:r>
            <a:endParaRPr lang="en-US" altLang="zh-CN"/>
          </a:p>
          <a:p>
            <a:pPr indent="0">
              <a:buFont typeface="Arial" panose="020B0604020202020204" pitchFamily="34" charset="0"/>
              <a:buNone/>
            </a:pP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深度约束</a:t>
            </a:r>
            <a:endParaRPr lang="zh-CN" altLang="en-US"/>
          </a:p>
          <a:p>
            <a:pPr marL="171450" indent="-171450">
              <a:buFont typeface="Arial" panose="020B0604020202020204" pitchFamily="34" charset="0"/>
              <a:buChar char="•"/>
            </a:pPr>
            <a:r>
              <a:rPr lang="zh-CN" altLang="en-US"/>
              <a:t>任意节点仅允许一步可达，不允许两步可达。</a:t>
            </a:r>
            <a:endParaRPr lang="zh-CN" altLang="en-US"/>
          </a:p>
          <a:p>
            <a:pPr marL="171450" indent="-171450">
              <a:buFont typeface="Arial" panose="020B0604020202020204" pitchFamily="34" charset="0"/>
              <a:buChar char="•"/>
            </a:pPr>
            <a:r>
              <a:rPr lang="zh-CN" altLang="en-US"/>
              <a:t>取</a:t>
            </a:r>
            <a:r>
              <a:rPr lang="en-US" altLang="zh-CN"/>
              <a:t>k=2</a:t>
            </a:r>
            <a:r>
              <a:rPr lang="zh-CN" altLang="en-US"/>
              <a:t>，如果出现了两步可达，则会使</a:t>
            </a:r>
            <a:r>
              <a:rPr lang="en-US" altLang="zh-CN"/>
              <a:t>loss</a:t>
            </a:r>
            <a:r>
              <a:rPr lang="zh-CN" altLang="en-US"/>
              <a:t>变大；同时为了防止过度约束，要鼓励</a:t>
            </a:r>
            <a:r>
              <a:rPr lang="en-US" altLang="zh-CN"/>
              <a:t>k-1</a:t>
            </a:r>
            <a:r>
              <a:rPr lang="zh-CN" altLang="en-US"/>
              <a:t>步，也就是一步可达的出现。</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buFont typeface="Arial" panose="020B0604020202020204" pitchFamily="34" charset="0"/>
              <a:buNone/>
            </a:pPr>
            <a:r>
              <a:rPr lang="zh-CN" altLang="en-US" b="1"/>
              <a:t>意图感知的动机</a:t>
            </a:r>
            <a:endParaRPr lang="zh-CN" altLang="en-US" b="1"/>
          </a:p>
          <a:p>
            <a:pPr marL="171450" indent="-171450">
              <a:buFont typeface="Arial" panose="020B0604020202020204" pitchFamily="34" charset="0"/>
              <a:buChar char="•"/>
            </a:pPr>
            <a:r>
              <a:rPr lang="zh-CN" altLang="en-US"/>
              <a:t>在策略生成阶段，一种直接的方式是将节点观测与边观测分别作为补货策略网络与转运策略网络的输入，以得到对应的动作。</a:t>
            </a:r>
            <a:endParaRPr lang="zh-CN" altLang="en-US"/>
          </a:p>
          <a:p>
            <a:pPr marL="171450" indent="-171450">
              <a:buFont typeface="Arial" panose="020B0604020202020204" pitchFamily="34" charset="0"/>
              <a:buChar char="•"/>
            </a:pPr>
            <a:r>
              <a:rPr lang="zh-CN" altLang="en-US"/>
              <a:t>但实际上，在每轮的决策中不同零售商间的补货与转运动作存在着复杂的耦合关系，例如：在时间段</a:t>
            </a:r>
            <a:r>
              <a:rPr lang="en-US" altLang="zh-CN"/>
              <a:t>t</a:t>
            </a:r>
            <a:r>
              <a:rPr lang="zh-CN" altLang="en-US"/>
              <a:t>，零售商</a:t>
            </a:r>
            <a:r>
              <a:rPr lang="en-US" altLang="zh-CN"/>
              <a:t>A</a:t>
            </a:r>
            <a:r>
              <a:rPr lang="zh-CN" altLang="en-US"/>
              <a:t>选择进货</a:t>
            </a:r>
            <a:r>
              <a:rPr lang="en-US" altLang="zh-CN"/>
              <a:t>10</a:t>
            </a:r>
            <a:r>
              <a:rPr lang="zh-CN" altLang="en-US"/>
              <a:t>个单位与进货</a:t>
            </a:r>
            <a:r>
              <a:rPr lang="en-US" altLang="zh-CN"/>
              <a:t>20</a:t>
            </a:r>
            <a:r>
              <a:rPr lang="zh-CN" altLang="en-US"/>
              <a:t>个单位可能带来完全不同的转运意愿。</a:t>
            </a:r>
            <a:endParaRPr lang="zh-CN" altLang="en-US"/>
          </a:p>
          <a:p>
            <a:pPr marL="171450" indent="-171450">
              <a:buFont typeface="Arial" panose="020B0604020202020204" pitchFamily="34" charset="0"/>
              <a:buChar char="•"/>
            </a:pPr>
            <a:r>
              <a:rPr lang="zh-CN" altLang="en-US"/>
              <a:t>尽管这两种决策的观测空间与训练奖励空间在建模时便被定义了紧密的联系，但这只包含了观测信息间的联系，而不包含智能体间意愿动作的联系，而这刚好是补调情形中应当考虑，如果不加考虑，则可能会在决策质量上影响智能体间的协调。</a:t>
            </a:r>
            <a:endParaRPr lang="zh-CN" altLang="en-US"/>
          </a:p>
          <a:p>
            <a:pPr marL="171450" indent="-171450">
              <a:buFont typeface="Arial" panose="020B0604020202020204" pitchFamily="34" charset="0"/>
              <a:buChar char="•"/>
            </a:pPr>
            <a:r>
              <a:rPr lang="zh-CN" altLang="en-US"/>
              <a:t>这种信息不是可以通过状态间的表征关联或通讯来解决的，而是需要对彼此之间的意图进行感知。</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a:t>Baseline Comparison</a:t>
            </a:r>
            <a:endParaRPr lang="en-US" altLang="zh-CN" b="1"/>
          </a:p>
          <a:p>
            <a:pPr marL="171450" indent="-171450">
              <a:buFont typeface="Arial" panose="020B0604020202020204" pitchFamily="34" charset="0"/>
              <a:buChar char="•"/>
            </a:pPr>
            <a:r>
              <a:rPr lang="zh-CN" altLang="en-US"/>
              <a:t>最简单的基本库存策略表现最差（无转运策略），</a:t>
            </a:r>
            <a:r>
              <a:rPr lang="en-US" altLang="zh-CN"/>
              <a:t>sS</a:t>
            </a:r>
            <a:r>
              <a:rPr lang="zh-CN" altLang="en-US"/>
              <a:t>策略表现更好。</a:t>
            </a:r>
            <a:endParaRPr lang="zh-CN" altLang="en-US"/>
          </a:p>
          <a:p>
            <a:pPr marL="171450" indent="-171450">
              <a:buFont typeface="Arial" panose="020B0604020202020204" pitchFamily="34" charset="0"/>
              <a:buChar char="•"/>
            </a:pPr>
            <a:r>
              <a:rPr lang="zh-CN" altLang="en-US"/>
              <a:t>启发式运筹优化表现次之（补货策略使用</a:t>
            </a:r>
            <a:r>
              <a:rPr lang="en-US" altLang="zh-CN"/>
              <a:t>sS</a:t>
            </a:r>
            <a:r>
              <a:rPr lang="zh-CN" altLang="en-US"/>
              <a:t>），基于库存平衡思路的启发式转运从长期收益的角度来看表现并不好；</a:t>
            </a:r>
            <a:r>
              <a:rPr lang="en-US" altLang="zh-CN"/>
              <a:t>LTO</a:t>
            </a:r>
            <a:r>
              <a:rPr lang="zh-CN" altLang="en-US"/>
              <a:t>是</a:t>
            </a:r>
            <a:r>
              <a:rPr lang="en-US" altLang="zh-CN"/>
              <a:t>second best</a:t>
            </a:r>
            <a:r>
              <a:rPr lang="zh-CN" altLang="en-US"/>
              <a:t>，在</a:t>
            </a:r>
            <a:r>
              <a:rPr lang="en-US" altLang="zh-CN"/>
              <a:t>sS</a:t>
            </a:r>
            <a:r>
              <a:rPr lang="zh-CN" altLang="en-US"/>
              <a:t>策略上有微小提升。</a:t>
            </a:r>
            <a:endParaRPr lang="zh-CN" altLang="en-US"/>
          </a:p>
          <a:p>
            <a:pPr marL="171450" indent="-171450">
              <a:buFont typeface="Arial" panose="020B0604020202020204" pitchFamily="34" charset="0"/>
              <a:buChar char="•"/>
            </a:pPr>
            <a:r>
              <a:rPr lang="en-US" altLang="zh-CN"/>
              <a:t>RL-based</a:t>
            </a:r>
            <a:r>
              <a:rPr lang="zh-CN" altLang="en-US"/>
              <a:t>策略中纯</a:t>
            </a:r>
            <a:r>
              <a:rPr lang="en-US" altLang="zh-CN"/>
              <a:t>PPO</a:t>
            </a:r>
            <a:r>
              <a:rPr lang="zh-CN" altLang="en-US"/>
              <a:t>策略比</a:t>
            </a:r>
            <a:r>
              <a:rPr lang="en-US" altLang="zh-CN"/>
              <a:t>sS</a:t>
            </a:r>
            <a:r>
              <a:rPr lang="zh-CN" altLang="en-US"/>
              <a:t>策略表现更好，但是比不过具有转运的策略。</a:t>
            </a:r>
            <a:r>
              <a:rPr lang="en-US" altLang="zh-CN"/>
              <a:t>MAPPO</a:t>
            </a:r>
            <a:r>
              <a:rPr lang="zh-CN" altLang="en-US"/>
              <a:t>指的是考虑转运但不进行图约束的策略，效果很差。</a:t>
            </a:r>
            <a:endParaRPr lang="en-US" altLang="zh-CN"/>
          </a:p>
          <a:p>
            <a:endParaRPr lang="en-US" altLang="zh-CN" b="1"/>
          </a:p>
          <a:p>
            <a:r>
              <a:rPr lang="en-US" altLang="zh-CN" b="1"/>
              <a:t>Abalation Study</a:t>
            </a:r>
            <a:endParaRPr lang="en-US" altLang="zh-CN" b="1"/>
          </a:p>
          <a:p>
            <a:pPr marL="171450" indent="-171450">
              <a:buFont typeface="Arial" panose="020B0604020202020204" pitchFamily="34" charset="0"/>
              <a:buChar char="•"/>
            </a:pPr>
            <a:r>
              <a:rPr lang="en-US" altLang="zh-CN"/>
              <a:t>w/o Trans</a:t>
            </a:r>
            <a:r>
              <a:rPr lang="zh-CN" altLang="en-US"/>
              <a:t>就是</a:t>
            </a:r>
            <a:r>
              <a:rPr lang="en-US" altLang="zh-CN"/>
              <a:t>PPO</a:t>
            </a:r>
            <a:r>
              <a:rPr lang="zh-CN" altLang="en-US"/>
              <a:t>算法；</a:t>
            </a:r>
            <a:r>
              <a:rPr lang="en-US" altLang="zh-CN"/>
              <a:t>w/o Rep</a:t>
            </a:r>
            <a:r>
              <a:rPr lang="zh-CN" altLang="en-US"/>
              <a:t>将基于强化学习的补货策略换成了</a:t>
            </a:r>
            <a:r>
              <a:rPr lang="en-US" altLang="zh-CN"/>
              <a:t>sS</a:t>
            </a:r>
            <a:r>
              <a:rPr lang="zh-CN" altLang="en-US"/>
              <a:t>策略</a:t>
            </a:r>
            <a:endParaRPr lang="zh-CN" altLang="en-US"/>
          </a:p>
          <a:p>
            <a:pPr marL="171450" indent="-171450">
              <a:buFont typeface="Arial" panose="020B0604020202020204" pitchFamily="34" charset="0"/>
              <a:buChar char="•"/>
            </a:pPr>
            <a:r>
              <a:rPr lang="en-US" altLang="zh-CN"/>
              <a:t>w/o Topo</a:t>
            </a:r>
            <a:r>
              <a:rPr lang="zh-CN" altLang="en-US"/>
              <a:t>是指的没有</a:t>
            </a:r>
            <a:r>
              <a:rPr lang="en-US" altLang="zh-CN"/>
              <a:t>Intention Awareness</a:t>
            </a:r>
            <a:r>
              <a:rPr lang="zh-CN" altLang="en-US"/>
              <a:t>部分：有的数据集上的表现比</a:t>
            </a:r>
            <a:r>
              <a:rPr lang="en-US" altLang="zh-CN"/>
              <a:t>w/o Trans</a:t>
            </a:r>
            <a:r>
              <a:rPr lang="zh-CN" altLang="en-US"/>
              <a:t>还要差，可见意图感知的重要性。</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a:t>Inventory Holding Cost</a:t>
            </a:r>
            <a:endParaRPr lang="en-US" altLang="zh-CN" b="1"/>
          </a:p>
          <a:p>
            <a:pPr marL="171450" indent="-171450">
              <a:buFont typeface="Arial" panose="020B0604020202020204" pitchFamily="34" charset="0"/>
              <a:buChar char="•"/>
            </a:pPr>
            <a:r>
              <a:rPr lang="zh-CN" altLang="en-US"/>
              <a:t>随着库存成本的提升，总利润呈下降趋势。</a:t>
            </a:r>
            <a:endParaRPr lang="zh-CN" altLang="en-US"/>
          </a:p>
          <a:p>
            <a:pPr marL="171450" indent="-171450">
              <a:buFont typeface="Arial" panose="020B0604020202020204" pitchFamily="34" charset="0"/>
              <a:buChar char="•"/>
            </a:pPr>
            <a:r>
              <a:rPr lang="en-US" altLang="zh-CN"/>
              <a:t>TransG</a:t>
            </a:r>
            <a:r>
              <a:rPr lang="zh-CN" altLang="en-US"/>
              <a:t>明显对参数更加敏感，能够根据库存成本调整自己的库存水平。</a:t>
            </a:r>
            <a:endParaRPr lang="zh-CN" altLang="en-US"/>
          </a:p>
          <a:p>
            <a:pPr indent="0">
              <a:buFont typeface="Arial" panose="020B0604020202020204" pitchFamily="34" charset="0"/>
              <a:buNone/>
            </a:pPr>
            <a:r>
              <a:rPr lang="en-US" altLang="zh-CN" b="1"/>
              <a:t>Inventory Stockout Cost</a:t>
            </a:r>
            <a:endParaRPr lang="zh-CN" altLang="en-US" b="1"/>
          </a:p>
          <a:p>
            <a:pPr marL="171450" indent="-171450">
              <a:buFont typeface="Arial" panose="020B0604020202020204" pitchFamily="34" charset="0"/>
              <a:buChar char="•"/>
            </a:pPr>
            <a:r>
              <a:rPr lang="zh-CN" altLang="en-US"/>
              <a:t>随着缺货成本的提高，总利润下降。</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a:t>Transshipment Cost Per Unit Per Distance</a:t>
            </a:r>
            <a:endParaRPr lang="en-US" altLang="zh-CN" b="1"/>
          </a:p>
          <a:p>
            <a:pPr marL="171450" indent="-171450">
              <a:buFont typeface="Arial" panose="020B0604020202020204" pitchFamily="34" charset="0"/>
              <a:buChar char="•"/>
            </a:pPr>
            <a:r>
              <a:rPr lang="zh-CN" altLang="en-US"/>
              <a:t>当单位转运成本上涨时，</a:t>
            </a:r>
            <a:r>
              <a:rPr lang="en-US" altLang="zh-CN"/>
              <a:t>Profit</a:t>
            </a:r>
            <a:r>
              <a:rPr lang="zh-CN" altLang="en-US"/>
              <a:t>并不会直接下降，但是智能体会调整策略，通过增加进货量。</a:t>
            </a:r>
            <a:endParaRPr lang="zh-CN" altLang="en-US"/>
          </a:p>
          <a:p>
            <a:pPr indent="0">
              <a:buFont typeface="Arial" panose="020B0604020202020204" pitchFamily="34" charset="0"/>
              <a:buNone/>
            </a:pPr>
            <a:r>
              <a:rPr lang="en-US" altLang="zh-CN" b="1"/>
              <a:t>Transshipment Extra Price</a:t>
            </a:r>
            <a:endParaRPr lang="en-US" altLang="zh-CN" b="1"/>
          </a:p>
          <a:p>
            <a:pPr marL="171450" indent="-171450">
              <a:buFont typeface="Arial" panose="020B0604020202020204" pitchFamily="34" charset="0"/>
              <a:buChar char="•"/>
            </a:pPr>
            <a:r>
              <a:rPr lang="zh-CN" altLang="en-US"/>
              <a:t>呈现出</a:t>
            </a:r>
            <a:r>
              <a:rPr lang="en-US" altLang="zh-CN"/>
              <a:t>V</a:t>
            </a:r>
            <a:r>
              <a:rPr lang="zh-CN" altLang="en-US"/>
              <a:t>形，</a:t>
            </a:r>
            <a:r>
              <a:rPr lang="en-US" altLang="zh-CN"/>
              <a:t>p</a:t>
            </a:r>
            <a:r>
              <a:rPr lang="zh-CN" altLang="en-US"/>
              <a:t>过大或过小都会对转运效果产生抑制效果。</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Transshipment Reward Setting: </a:t>
            </a:r>
            <a:r>
              <a:rPr lang="zh-CN" altLang="en-US"/>
              <a:t>信息量逐渐减小、弥散（变得不聚焦）</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传统策略：正常进行补货。</a:t>
            </a:r>
            <a:endParaRPr lang="zh-CN" altLang="en-US"/>
          </a:p>
          <a:p>
            <a:r>
              <a:rPr lang="en-US" altLang="zh-CN"/>
              <a:t>LTO</a:t>
            </a:r>
            <a:r>
              <a:rPr lang="zh-CN" altLang="en-US"/>
              <a:t>：在补货之上多出一部分转运成本和收益，但是整体来说收益更高。</a:t>
            </a:r>
            <a:endParaRPr lang="zh-CN" altLang="en-US"/>
          </a:p>
          <a:p>
            <a:r>
              <a:rPr lang="en-US" altLang="zh-CN"/>
              <a:t>TransG</a:t>
            </a:r>
            <a:r>
              <a:rPr lang="zh-CN" altLang="en-US"/>
              <a:t>：在</a:t>
            </a:r>
            <a:r>
              <a:rPr lang="en-US" altLang="zh-CN"/>
              <a:t>LTO</a:t>
            </a:r>
            <a:r>
              <a:rPr lang="zh-CN" altLang="en-US"/>
              <a:t>的基础上注重调整进货结构，在需求不稳定时倾向于降低自己的持货量，用少量的缺货成本弥补大量的压缩持货成本。</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TransG</a:t>
            </a:r>
            <a:r>
              <a:rPr lang="zh-CN" altLang="en-US"/>
              <a:t>：模式明显，大量的库存调整。</a:t>
            </a:r>
            <a:endParaRPr lang="en-US" altLang="zh-CN"/>
          </a:p>
          <a:p>
            <a:r>
              <a:rPr lang="en-US" altLang="zh-CN"/>
              <a:t>LTO</a:t>
            </a:r>
            <a:r>
              <a:rPr lang="zh-CN" altLang="en-US"/>
              <a:t>：短距离，持续、少量的微调。</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en-US" altLang="zh-CN" sz="1200" b="0" i="0" kern="1200" dirty="0">
                <a:solidFill>
                  <a:schemeClr val="tx1"/>
                </a:solidFill>
                <a:effectLst/>
                <a:latin typeface="+mn-lt"/>
                <a:ea typeface="+mn-ea"/>
                <a:cs typeface="+mn-cs"/>
              </a:rPr>
              <a:t>Due to ​</a:t>
            </a:r>
            <a:r>
              <a:rPr lang="en-US" altLang="zh-CN" sz="1200" b="1" i="0" kern="1200" dirty="0">
                <a:solidFill>
                  <a:schemeClr val="tx1"/>
                </a:solidFill>
                <a:effectLst/>
                <a:latin typeface="+mn-lt"/>
                <a:ea typeface="+mn-ea"/>
                <a:cs typeface="+mn-cs"/>
              </a:rPr>
              <a:t>​time constraints​</a:t>
            </a:r>
            <a:r>
              <a:rPr lang="en-US" altLang="zh-CN" sz="1200" b="0" i="0" kern="1200" dirty="0">
                <a:solidFill>
                  <a:schemeClr val="tx1"/>
                </a:solidFill>
                <a:effectLst/>
                <a:latin typeface="+mn-lt"/>
                <a:ea typeface="+mn-ea"/>
                <a:cs typeface="+mn-cs"/>
              </a:rPr>
              <a:t>​, I may not have covered all aspects as thoroughly as I would have liked.</a:t>
            </a:r>
            <a:endParaRPr lang="en-US" altLang="zh-CN" sz="1200" b="0" i="0" kern="1200" dirty="0">
              <a:solidFill>
                <a:schemeClr val="tx1"/>
              </a:solidFill>
              <a:effectLst/>
              <a:latin typeface="+mn-lt"/>
              <a:ea typeface="+mn-ea"/>
              <a:cs typeface="+mn-cs"/>
            </a:endParaRPr>
          </a:p>
          <a:p>
            <a:pPr fontAlgn="base"/>
            <a:r>
              <a:rPr lang="en-US" altLang="zh-CN" sz="1200" b="0" i="0" kern="1200" dirty="0">
                <a:solidFill>
                  <a:schemeClr val="tx1"/>
                </a:solidFill>
                <a:effectLst/>
                <a:latin typeface="+mn-lt"/>
                <a:ea typeface="+mn-ea"/>
                <a:cs typeface="+mn-cs"/>
              </a:rPr>
              <a:t>I appreciate your understanding and welcome any ​</a:t>
            </a:r>
            <a:r>
              <a:rPr lang="en-US" altLang="zh-CN" sz="1200" b="1" i="0" kern="1200" dirty="0">
                <a:solidFill>
                  <a:schemeClr val="tx1"/>
                </a:solidFill>
                <a:effectLst/>
                <a:latin typeface="+mn-lt"/>
                <a:ea typeface="+mn-ea"/>
                <a:cs typeface="+mn-cs"/>
              </a:rPr>
              <a:t>​further questions or discussion​</a:t>
            </a:r>
            <a:r>
              <a:rPr lang="en-US" altLang="zh-CN" sz="1200" b="0" i="0" kern="1200" dirty="0">
                <a:solidFill>
                  <a:schemeClr val="tx1"/>
                </a:solidFill>
                <a:effectLst/>
                <a:latin typeface="+mn-lt"/>
                <a:ea typeface="+mn-ea"/>
                <a:cs typeface="+mn-cs"/>
              </a:rPr>
              <a:t>​ after the session.</a:t>
            </a:r>
            <a:endParaRPr lang="en-US" altLang="zh-CN" sz="1200" b="0" i="0" kern="1200" dirty="0">
              <a:solidFill>
                <a:schemeClr val="tx1"/>
              </a:solidFill>
              <a:effectLst/>
              <a:latin typeface="+mn-lt"/>
              <a:ea typeface="+mn-ea"/>
              <a:cs typeface="+mn-cs"/>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77C2776-708E-45EF-B4EF-306FEFC18D9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7" name="矩形 6"/>
          <p:cNvSpPr/>
          <p:nvPr userDrawn="1"/>
        </p:nvSpPr>
        <p:spPr>
          <a:xfrm>
            <a:off x="341571" y="322644"/>
            <a:ext cx="11508859" cy="6212712"/>
          </a:xfrm>
          <a:prstGeom prst="rect">
            <a:avLst/>
          </a:prstGeom>
          <a:solidFill>
            <a:schemeClr val="tx2"/>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矩形 7"/>
          <p:cNvSpPr/>
          <p:nvPr userDrawn="1"/>
        </p:nvSpPr>
        <p:spPr>
          <a:xfrm>
            <a:off x="435015" y="419582"/>
            <a:ext cx="11321970" cy="601883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直角三角形 8"/>
          <p:cNvSpPr/>
          <p:nvPr userDrawn="1"/>
        </p:nvSpPr>
        <p:spPr>
          <a:xfrm rot="5400000">
            <a:off x="0" y="0"/>
            <a:ext cx="1875099" cy="1875099"/>
          </a:xfrm>
          <a:prstGeom prst="rtTriangle">
            <a:avLst/>
          </a:pr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直角三角形 9"/>
          <p:cNvSpPr/>
          <p:nvPr userDrawn="1"/>
        </p:nvSpPr>
        <p:spPr>
          <a:xfrm rot="16200000">
            <a:off x="10316901" y="4982901"/>
            <a:ext cx="1875099" cy="1875099"/>
          </a:xfrm>
          <a:prstGeom prst="rtTriangle">
            <a:avLst/>
          </a:prstGeom>
          <a:solidFill>
            <a:schemeClr val="tx2"/>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排列标题与&#10;文本">
    <p:spTree>
      <p:nvGrpSpPr>
        <p:cNvPr id="1" name=""/>
        <p:cNvGrpSpPr/>
        <p:nvPr/>
      </p:nvGrpSpPr>
      <p:grpSpPr>
        <a:xfrm>
          <a:off x="0" y="0"/>
          <a:ext cx="0" cy="0"/>
          <a:chOff x="0" y="0"/>
          <a:chExt cx="0" cy="0"/>
        </a:xfrm>
      </p:grpSpPr>
      <p:sp>
        <p:nvSpPr>
          <p:cNvPr id="8" name="矩形 7"/>
          <p:cNvSpPr/>
          <p:nvPr userDrawn="1"/>
        </p:nvSpPr>
        <p:spPr>
          <a:xfrm>
            <a:off x="295910" y="313055"/>
            <a:ext cx="11599545" cy="62331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灯片编号占位符 2"/>
          <p:cNvSpPr>
            <a:spLocks noGrp="1"/>
          </p:cNvSpPr>
          <p:nvPr>
            <p:ph type="sldNum" sz="quarter" idx="12"/>
          </p:nvPr>
        </p:nvSpPr>
        <p:spPr>
          <a:xfrm>
            <a:off x="9069070" y="6181090"/>
            <a:ext cx="2743200" cy="365125"/>
          </a:xfrm>
        </p:spPr>
        <p:txBody>
          <a:bodyPr/>
          <a:lstStyle/>
          <a:p>
            <a:fld id="{565CE74E-AB26-4998-AD42-012C4C1AD076}" type="slidenum">
              <a:rPr lang="zh-CN" altLang="en-US" smtClean="0"/>
            </a:fld>
            <a:endParaRPr lang="zh-CN" altLang="en-US"/>
          </a:p>
        </p:txBody>
      </p:sp>
      <p:pic>
        <p:nvPicPr>
          <p:cNvPr id="4" name="图片 3" descr="c9e032cdb926aee22d4a8cb5f24abe3"/>
          <p:cNvPicPr>
            <a:picLocks noChangeAspect="1"/>
          </p:cNvPicPr>
          <p:nvPr userDrawn="1"/>
        </p:nvPicPr>
        <p:blipFill>
          <a:blip r:embed="rId2"/>
          <a:stretch>
            <a:fillRect/>
          </a:stretch>
        </p:blipFill>
        <p:spPr>
          <a:xfrm>
            <a:off x="11343005" y="147955"/>
            <a:ext cx="674370" cy="674370"/>
          </a:xfrm>
          <a:prstGeom prst="rect">
            <a:avLst/>
          </a:prstGeom>
        </p:spPr>
      </p:pic>
      <p:grpSp>
        <p:nvGrpSpPr>
          <p:cNvPr id="9" name="Group 7"/>
          <p:cNvGrpSpPr/>
          <p:nvPr userDrawn="1"/>
        </p:nvGrpSpPr>
        <p:grpSpPr bwMode="auto">
          <a:xfrm>
            <a:off x="325037" y="317599"/>
            <a:ext cx="698500" cy="368935"/>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cxnSp>
        <p:nvCxnSpPr>
          <p:cNvPr id="10" name="直线连接符 4"/>
          <p:cNvCxnSpPr/>
          <p:nvPr userDrawn="1"/>
        </p:nvCxnSpPr>
        <p:spPr>
          <a:xfrm>
            <a:off x="1141012" y="818296"/>
            <a:ext cx="1000315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两栏内容">
    <p:bg>
      <p:bgPr>
        <a:solidFill>
          <a:srgbClr val="FFC000"/>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2.xml"/><Relationship Id="rId7" Type="http://schemas.openxmlformats.org/officeDocument/2006/relationships/tags" Target="../tags/tag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tags" Target="../tags/tag1.xml"/><Relationship Id="rId2" Type="http://schemas.openxmlformats.org/officeDocument/2006/relationships/image" Target="../media/image6.jpe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tags" Target="../tags/tag4.xml"/><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tags" Target="../tags/tag5.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5" Type="http://schemas.openxmlformats.org/officeDocument/2006/relationships/slideLayout" Target="../slideLayouts/slideLayout12.xml"/><Relationship Id="rId14" Type="http://schemas.openxmlformats.org/officeDocument/2006/relationships/image" Target="../media/image25.png"/><Relationship Id="rId13" Type="http://schemas.openxmlformats.org/officeDocument/2006/relationships/image" Target="../media/image24.png"/><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image" Target="../media/image21.sv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26.png"/></Relationships>
</file>

<file path=ppt/slides/_rels/slide6.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tags" Target="../tags/tag7.xml"/><Relationship Id="rId13" Type="http://schemas.openxmlformats.org/officeDocument/2006/relationships/notesSlide" Target="../notesSlides/notesSlide4.xml"/><Relationship Id="rId12" Type="http://schemas.openxmlformats.org/officeDocument/2006/relationships/slideLayout" Target="../slideLayouts/slideLayout12.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3.xml"/><Relationship Id="rId7" Type="http://schemas.openxmlformats.org/officeDocument/2006/relationships/image" Target="../media/image35.sv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23.svg"/><Relationship Id="rId10" Type="http://schemas.openxmlformats.org/officeDocument/2006/relationships/notesSlide" Target="../notesSlides/notesSlide5.xml"/><Relationship Id="rId1" Type="http://schemas.openxmlformats.org/officeDocument/2006/relationships/image" Target="../media/image22.png"/></Relationships>
</file>

<file path=ppt/slides/_rels/slide8.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png"/><Relationship Id="rId7" Type="http://schemas.openxmlformats.org/officeDocument/2006/relationships/image" Target="../media/image37.png"/><Relationship Id="rId6" Type="http://schemas.openxmlformats.org/officeDocument/2006/relationships/image" Target="../media/image36.png"/><Relationship Id="rId51" Type="http://schemas.openxmlformats.org/officeDocument/2006/relationships/slideLayout" Target="../slideLayouts/slideLayout12.xml"/><Relationship Id="rId50" Type="http://schemas.openxmlformats.org/officeDocument/2006/relationships/tags" Target="../tags/tag49.xml"/><Relationship Id="rId5" Type="http://schemas.openxmlformats.org/officeDocument/2006/relationships/tags" Target="../tags/tag16.xml"/><Relationship Id="rId49" Type="http://schemas.openxmlformats.org/officeDocument/2006/relationships/image" Target="../media/image47.png"/><Relationship Id="rId48" Type="http://schemas.openxmlformats.org/officeDocument/2006/relationships/image" Target="../media/image46.png"/><Relationship Id="rId47" Type="http://schemas.openxmlformats.org/officeDocument/2006/relationships/image" Target="../media/image45.png"/><Relationship Id="rId46" Type="http://schemas.openxmlformats.org/officeDocument/2006/relationships/tags" Target="../tags/tag48.xml"/><Relationship Id="rId45" Type="http://schemas.openxmlformats.org/officeDocument/2006/relationships/tags" Target="../tags/tag47.xml"/><Relationship Id="rId44" Type="http://schemas.openxmlformats.org/officeDocument/2006/relationships/tags" Target="../tags/tag46.xml"/><Relationship Id="rId43" Type="http://schemas.openxmlformats.org/officeDocument/2006/relationships/tags" Target="../tags/tag45.xml"/><Relationship Id="rId42" Type="http://schemas.openxmlformats.org/officeDocument/2006/relationships/tags" Target="../tags/tag44.xml"/><Relationship Id="rId41" Type="http://schemas.openxmlformats.org/officeDocument/2006/relationships/tags" Target="../tags/tag43.xml"/><Relationship Id="rId40" Type="http://schemas.openxmlformats.org/officeDocument/2006/relationships/tags" Target="../tags/tag42.xml"/><Relationship Id="rId4" Type="http://schemas.openxmlformats.org/officeDocument/2006/relationships/tags" Target="../tags/tag15.xml"/><Relationship Id="rId39" Type="http://schemas.openxmlformats.org/officeDocument/2006/relationships/tags" Target="../tags/tag41.xml"/><Relationship Id="rId38" Type="http://schemas.openxmlformats.org/officeDocument/2006/relationships/tags" Target="../tags/tag40.xml"/><Relationship Id="rId37" Type="http://schemas.openxmlformats.org/officeDocument/2006/relationships/tags" Target="../tags/tag39.xml"/><Relationship Id="rId36" Type="http://schemas.openxmlformats.org/officeDocument/2006/relationships/tags" Target="../tags/tag38.xml"/><Relationship Id="rId35" Type="http://schemas.openxmlformats.org/officeDocument/2006/relationships/tags" Target="../tags/tag37.xml"/><Relationship Id="rId34" Type="http://schemas.openxmlformats.org/officeDocument/2006/relationships/tags" Target="../tags/tag36.xml"/><Relationship Id="rId33" Type="http://schemas.openxmlformats.org/officeDocument/2006/relationships/tags" Target="../tags/tag35.xml"/><Relationship Id="rId32" Type="http://schemas.openxmlformats.org/officeDocument/2006/relationships/tags" Target="../tags/tag34.xml"/><Relationship Id="rId31" Type="http://schemas.openxmlformats.org/officeDocument/2006/relationships/tags" Target="../tags/tag33.xml"/><Relationship Id="rId30" Type="http://schemas.openxmlformats.org/officeDocument/2006/relationships/image" Target="../media/image44.png"/><Relationship Id="rId3" Type="http://schemas.openxmlformats.org/officeDocument/2006/relationships/tags" Target="../tags/tag14.xml"/><Relationship Id="rId29" Type="http://schemas.openxmlformats.org/officeDocument/2006/relationships/image" Target="../media/image43.png"/><Relationship Id="rId28" Type="http://schemas.openxmlformats.org/officeDocument/2006/relationships/image" Target="../media/image42.png"/><Relationship Id="rId27" Type="http://schemas.openxmlformats.org/officeDocument/2006/relationships/tags" Target="../tags/tag32.xml"/><Relationship Id="rId26" Type="http://schemas.openxmlformats.org/officeDocument/2006/relationships/tags" Target="../tags/tag31.xml"/><Relationship Id="rId25" Type="http://schemas.openxmlformats.org/officeDocument/2006/relationships/tags" Target="../tags/tag30.xml"/><Relationship Id="rId24" Type="http://schemas.openxmlformats.org/officeDocument/2006/relationships/tags" Target="../tags/tag29.xml"/><Relationship Id="rId23" Type="http://schemas.openxmlformats.org/officeDocument/2006/relationships/tags" Target="../tags/tag28.xml"/><Relationship Id="rId22" Type="http://schemas.openxmlformats.org/officeDocument/2006/relationships/tags" Target="../tags/tag27.xml"/><Relationship Id="rId21" Type="http://schemas.openxmlformats.org/officeDocument/2006/relationships/tags" Target="../tags/tag26.xml"/><Relationship Id="rId20" Type="http://schemas.openxmlformats.org/officeDocument/2006/relationships/tags" Target="../tags/tag25.xml"/><Relationship Id="rId2" Type="http://schemas.openxmlformats.org/officeDocument/2006/relationships/image" Target="../media/image23.svg"/><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image" Target="../media/image41.png"/><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image" Target="../media/image40.png"/><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52.xml"/><Relationship Id="rId4" Type="http://schemas.openxmlformats.org/officeDocument/2006/relationships/image" Target="../media/image49.png"/><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image" Target="../media/image48.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53.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58.png"/><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50.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tags" Target="../tags/tag54.xml"/><Relationship Id="rId5" Type="http://schemas.openxmlformats.org/officeDocument/2006/relationships/image" Target="../media/image78.png"/><Relationship Id="rId4" Type="http://schemas.openxmlformats.org/officeDocument/2006/relationships/image" Target="../media/image35.svg"/><Relationship Id="rId3" Type="http://schemas.openxmlformats.org/officeDocument/2006/relationships/image" Target="../media/image77.png"/><Relationship Id="rId2" Type="http://schemas.openxmlformats.org/officeDocument/2006/relationships/image" Target="../media/image76.svg"/><Relationship Id="rId1" Type="http://schemas.openxmlformats.org/officeDocument/2006/relationships/image" Target="../media/image75.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55.xml"/><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1.png"/><Relationship Id="rId1" Type="http://schemas.openxmlformats.org/officeDocument/2006/relationships/image" Target="../media/image70.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56.xml"/><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87.png"/><Relationship Id="rId1" Type="http://schemas.openxmlformats.org/officeDocument/2006/relationships/image" Target="../media/image8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90.png"/><Relationship Id="rId1" Type="http://schemas.openxmlformats.org/officeDocument/2006/relationships/image" Target="../media/image89.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97.png"/><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9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99.png"/><Relationship Id="rId1" Type="http://schemas.openxmlformats.org/officeDocument/2006/relationships/image" Target="../media/image98.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01.png"/><Relationship Id="rId1" Type="http://schemas.openxmlformats.org/officeDocument/2006/relationships/image" Target="../media/image10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03.png"/><Relationship Id="rId1" Type="http://schemas.openxmlformats.org/officeDocument/2006/relationships/image" Target="../media/image10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4.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5.png"/></Relationships>
</file>

<file path=ppt/slides/_rels/slide27.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image" Target="../media/image111.png"/><Relationship Id="rId6" Type="http://schemas.openxmlformats.org/officeDocument/2006/relationships/tags" Target="../tags/tag61.xml"/><Relationship Id="rId5" Type="http://schemas.openxmlformats.org/officeDocument/2006/relationships/image" Target="../media/image110.png"/><Relationship Id="rId4" Type="http://schemas.openxmlformats.org/officeDocument/2006/relationships/tags" Target="../tags/tag60.xml"/><Relationship Id="rId31" Type="http://schemas.openxmlformats.org/officeDocument/2006/relationships/notesSlide" Target="../notesSlides/notesSlide13.xml"/><Relationship Id="rId30" Type="http://schemas.openxmlformats.org/officeDocument/2006/relationships/slideLayout" Target="../slideLayouts/slideLayout12.xml"/><Relationship Id="rId3" Type="http://schemas.openxmlformats.org/officeDocument/2006/relationships/tags" Target="../tags/tag59.xml"/><Relationship Id="rId29" Type="http://schemas.openxmlformats.org/officeDocument/2006/relationships/tags" Target="../tags/tag78.xml"/><Relationship Id="rId28" Type="http://schemas.openxmlformats.org/officeDocument/2006/relationships/tags" Target="../tags/tag77.xml"/><Relationship Id="rId27" Type="http://schemas.openxmlformats.org/officeDocument/2006/relationships/image" Target="../media/image116.png"/><Relationship Id="rId26" Type="http://schemas.openxmlformats.org/officeDocument/2006/relationships/tags" Target="../tags/tag76.xml"/><Relationship Id="rId25" Type="http://schemas.openxmlformats.org/officeDocument/2006/relationships/image" Target="../media/image115.png"/><Relationship Id="rId24" Type="http://schemas.openxmlformats.org/officeDocument/2006/relationships/tags" Target="../tags/tag75.xml"/><Relationship Id="rId23" Type="http://schemas.openxmlformats.org/officeDocument/2006/relationships/tags" Target="../tags/tag74.xml"/><Relationship Id="rId22" Type="http://schemas.openxmlformats.org/officeDocument/2006/relationships/tags" Target="../tags/tag73.xml"/><Relationship Id="rId21" Type="http://schemas.openxmlformats.org/officeDocument/2006/relationships/tags" Target="../tags/tag72.xml"/><Relationship Id="rId20" Type="http://schemas.openxmlformats.org/officeDocument/2006/relationships/image" Target="../media/image114.png"/><Relationship Id="rId2" Type="http://schemas.openxmlformats.org/officeDocument/2006/relationships/tags" Target="../tags/tag58.xml"/><Relationship Id="rId19" Type="http://schemas.openxmlformats.org/officeDocument/2006/relationships/tags" Target="../tags/tag71.xml"/><Relationship Id="rId18" Type="http://schemas.openxmlformats.org/officeDocument/2006/relationships/tags" Target="../tags/tag70.xml"/><Relationship Id="rId17" Type="http://schemas.openxmlformats.org/officeDocument/2006/relationships/image" Target="../media/image113.png"/><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image" Target="../media/image112.png"/><Relationship Id="rId10" Type="http://schemas.openxmlformats.org/officeDocument/2006/relationships/tags" Target="../tags/tag64.xml"/><Relationship Id="rId1" Type="http://schemas.openxmlformats.org/officeDocument/2006/relationships/tags" Target="../tags/tag57.xml"/></Relationships>
</file>

<file path=ppt/slides/_rels/slide28.xml.rels><?xml version="1.0" encoding="UTF-8" standalone="yes"?>
<Relationships xmlns="http://schemas.openxmlformats.org/package/2006/relationships"><Relationship Id="rId9" Type="http://schemas.openxmlformats.org/officeDocument/2006/relationships/image" Target="../media/image125.png"/><Relationship Id="rId8" Type="http://schemas.openxmlformats.org/officeDocument/2006/relationships/image" Target="../media/image124.png"/><Relationship Id="rId7" Type="http://schemas.openxmlformats.org/officeDocument/2006/relationships/image" Target="../media/image123.png"/><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 Id="rId3" Type="http://schemas.openxmlformats.org/officeDocument/2006/relationships/image" Target="../media/image119.png"/><Relationship Id="rId2" Type="http://schemas.openxmlformats.org/officeDocument/2006/relationships/image" Target="../media/image118.png"/><Relationship Id="rId11" Type="http://schemas.openxmlformats.org/officeDocument/2006/relationships/slideLayout" Target="../slideLayouts/slideLayout12.xml"/><Relationship Id="rId10" Type="http://schemas.openxmlformats.org/officeDocument/2006/relationships/image" Target="../media/image126.png"/><Relationship Id="rId1" Type="http://schemas.openxmlformats.org/officeDocument/2006/relationships/image" Target="../media/image117.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image" Target="../media/image1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06730" y="1441450"/>
            <a:ext cx="11128375" cy="1753235"/>
          </a:xfrm>
          <a:prstGeom prst="rect">
            <a:avLst/>
          </a:prstGeom>
          <a:noFill/>
        </p:spPr>
        <p:txBody>
          <a:bodyPr wrap="square" rtlCol="0" anchor="t">
            <a:spAutoFit/>
          </a:bodyPr>
          <a:lstStyle/>
          <a:p>
            <a:pPr algn="ctr" fontAlgn="auto">
              <a:lnSpc>
                <a:spcPct val="120000"/>
              </a:lnSpc>
            </a:pPr>
            <a:r>
              <a:rPr lang="en-US" altLang="zh-CN" sz="3000" b="1" i="1" dirty="0">
                <a:solidFill>
                  <a:srgbClr val="C00000"/>
                </a:solidFill>
                <a:latin typeface="+mj-lt"/>
                <a:cs typeface="Times New Roman" panose="02020603050405020304" charset="0"/>
              </a:rPr>
              <a:t>TransG</a:t>
            </a:r>
            <a:r>
              <a:rPr lang="en-US" altLang="zh-CN" sz="3000" b="1" dirty="0">
                <a:latin typeface="+mj-lt"/>
                <a:cs typeface="Times New Roman" panose="02020603050405020304" charset="0"/>
              </a:rPr>
              <a:t>: A Graph-Based Multi-Agent Reinforcement Learning Framework for </a:t>
            </a:r>
            <a:r>
              <a:rPr lang="en-US" altLang="zh-CN" sz="3000" b="1" u="sng" dirty="0">
                <a:latin typeface="+mj-lt"/>
                <a:cs typeface="Times New Roman" panose="02020603050405020304" charset="0"/>
              </a:rPr>
              <a:t>Proactive Lateral Transshipment</a:t>
            </a:r>
            <a:r>
              <a:rPr lang="en-US" altLang="zh-CN" sz="3000" b="1" dirty="0">
                <a:latin typeface="+mj-lt"/>
                <a:cs typeface="Times New Roman" panose="02020603050405020304" charset="0"/>
              </a:rPr>
              <a:t> in Multi-Location Inventory Systems</a:t>
            </a:r>
            <a:endParaRPr lang="en-US" altLang="zh-CN" sz="3000" b="1" dirty="0">
              <a:latin typeface="+mj-lt"/>
              <a:cs typeface="Times New Roman" panose="02020603050405020304" charset="0"/>
            </a:endParaRPr>
          </a:p>
        </p:txBody>
      </p:sp>
      <p:sp>
        <p:nvSpPr>
          <p:cNvPr id="3" name="文本框 2"/>
          <p:cNvSpPr txBox="1"/>
          <p:nvPr/>
        </p:nvSpPr>
        <p:spPr>
          <a:xfrm>
            <a:off x="2687320" y="3369945"/>
            <a:ext cx="6779260" cy="1050290"/>
          </a:xfrm>
          <a:prstGeom prst="rect">
            <a:avLst/>
          </a:prstGeom>
          <a:noFill/>
        </p:spPr>
        <p:txBody>
          <a:bodyPr wrap="square" rtlCol="0">
            <a:spAutoFit/>
          </a:bodyPr>
          <a:lstStyle/>
          <a:p>
            <a:pPr indent="0" algn="ctr" fontAlgn="auto">
              <a:lnSpc>
                <a:spcPct val="130000"/>
              </a:lnSpc>
            </a:pPr>
            <a:r>
              <a:rPr lang="en-US" altLang="zh-CN" sz="2400" b="1" dirty="0">
                <a:latin typeface="Sitka Text" pitchFamily="2" charset="0"/>
                <a:sym typeface="+mn-ea"/>
              </a:rPr>
              <a:t>Zihan Feng</a:t>
            </a:r>
            <a:endParaRPr lang="en-US" altLang="zh-CN" sz="2400" b="1" dirty="0">
              <a:latin typeface="Sitka Text" pitchFamily="2" charset="0"/>
              <a:sym typeface="+mn-ea"/>
            </a:endParaRPr>
          </a:p>
          <a:p>
            <a:pPr indent="0" algn="ctr" fontAlgn="auto">
              <a:lnSpc>
                <a:spcPct val="130000"/>
              </a:lnSpc>
            </a:pPr>
            <a:r>
              <a:rPr lang="en-US" altLang="zh-CN" sz="2400" i="1" dirty="0">
                <a:latin typeface="Sitka Text" pitchFamily="2" charset="0"/>
                <a:sym typeface="+mn-ea"/>
              </a:rPr>
              <a:t>Joint work with Guannan Liu, Junjie Wu</a:t>
            </a:r>
            <a:endParaRPr lang="en-US" altLang="zh-CN" sz="2400" dirty="0">
              <a:latin typeface="Sitka Text" pitchFamily="2" charset="0"/>
            </a:endParaRPr>
          </a:p>
        </p:txBody>
      </p:sp>
      <p:sp>
        <p:nvSpPr>
          <p:cNvPr id="8" name="文本框 7"/>
          <p:cNvSpPr txBox="1"/>
          <p:nvPr/>
        </p:nvSpPr>
        <p:spPr>
          <a:xfrm>
            <a:off x="4578398" y="5602362"/>
            <a:ext cx="3062796" cy="337185"/>
          </a:xfrm>
          <a:prstGeom prst="rect">
            <a:avLst/>
          </a:prstGeom>
          <a:noFill/>
        </p:spPr>
        <p:txBody>
          <a:bodyPr wrap="square" rtlCol="0">
            <a:spAutoFit/>
          </a:bodyPr>
          <a:lstStyle/>
          <a:p>
            <a:pPr algn="ctr"/>
            <a:r>
              <a:rPr lang="en-US" altLang="zh-CN" sz="1600" b="1" dirty="0">
                <a:solidFill>
                  <a:srgbClr val="1F497D"/>
                </a:solidFill>
                <a:latin typeface="微软雅黑" panose="020B0503020204020204" pitchFamily="34" charset="-122"/>
                <a:ea typeface="微软雅黑" panose="020B0503020204020204" pitchFamily="34" charset="-122"/>
              </a:rPr>
              <a:t>July 4</a:t>
            </a:r>
            <a:r>
              <a:rPr lang="en-US" altLang="zh-CN" sz="1600" b="1" baseline="30000" dirty="0" err="1">
                <a:solidFill>
                  <a:srgbClr val="1F497D"/>
                </a:solidFill>
                <a:latin typeface="微软雅黑" panose="020B0503020204020204" pitchFamily="34" charset="-122"/>
                <a:ea typeface="微软雅黑" panose="020B0503020204020204" pitchFamily="34" charset="-122"/>
              </a:rPr>
              <a:t>th</a:t>
            </a:r>
            <a:r>
              <a:rPr lang="en-US" altLang="zh-CN" sz="1600" b="1" dirty="0">
                <a:solidFill>
                  <a:srgbClr val="1F497D"/>
                </a:solidFill>
                <a:latin typeface="微软雅黑" panose="020B0503020204020204" pitchFamily="34" charset="-122"/>
                <a:ea typeface="微软雅黑" panose="020B0503020204020204" pitchFamily="34" charset="-122"/>
              </a:rPr>
              <a:t>, 2025</a:t>
            </a:r>
            <a:endParaRPr lang="zh-CN" altLang="en-US" sz="1600" b="1" dirty="0">
              <a:solidFill>
                <a:srgbClr val="1F497D"/>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4363198" y="718095"/>
            <a:ext cx="3400313" cy="610772"/>
            <a:chOff x="4631" y="3790"/>
            <a:chExt cx="12285" cy="2207"/>
          </a:xfrm>
        </p:grpSpPr>
        <p:pic>
          <p:nvPicPr>
            <p:cNvPr id="5" name="图片 4" descr="buaamark_00"/>
            <p:cNvPicPr>
              <a:picLocks noChangeAspect="1"/>
            </p:cNvPicPr>
            <p:nvPr/>
          </p:nvPicPr>
          <p:blipFill>
            <a:blip r:embed="rId1"/>
            <a:stretch>
              <a:fillRect/>
            </a:stretch>
          </p:blipFill>
          <p:spPr>
            <a:xfrm>
              <a:off x="4631" y="3790"/>
              <a:ext cx="2207" cy="2207"/>
            </a:xfrm>
            <a:prstGeom prst="rect">
              <a:avLst/>
            </a:prstGeom>
          </p:spPr>
        </p:pic>
        <p:pic>
          <p:nvPicPr>
            <p:cNvPr id="12" name="图片 11" descr="buaaname_00"/>
            <p:cNvPicPr>
              <a:picLocks noChangeAspect="1"/>
            </p:cNvPicPr>
            <p:nvPr/>
          </p:nvPicPr>
          <p:blipFill>
            <a:blip r:embed="rId2"/>
            <a:stretch>
              <a:fillRect/>
            </a:stretch>
          </p:blipFill>
          <p:spPr>
            <a:xfrm>
              <a:off x="7556" y="4075"/>
              <a:ext cx="9360" cy="1638"/>
            </a:xfrm>
            <a:prstGeom prst="rect">
              <a:avLst/>
            </a:prstGeom>
          </p:spPr>
        </p:pic>
      </p:grpSp>
      <p:pic>
        <p:nvPicPr>
          <p:cNvPr id="2" name="图片 1" descr="a3379ef9344add65578fb9123398f7b"/>
          <p:cNvPicPr>
            <a:picLocks noChangeAspect="1"/>
          </p:cNvPicPr>
          <p:nvPr/>
        </p:nvPicPr>
        <p:blipFill>
          <a:blip r:embed="rId3"/>
          <a:stretch>
            <a:fillRect/>
          </a:stretch>
        </p:blipFill>
        <p:spPr>
          <a:xfrm>
            <a:off x="2600325" y="4548445"/>
            <a:ext cx="6977380" cy="8743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17805">
        <p:wipe dir="d"/>
      </p:transition>
    </mc:Choice>
    <mc:Fallback>
      <p:transition advTm="17805">
        <p:wipe dir="d"/>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19739" y="218235"/>
            <a:ext cx="2929631" cy="583565"/>
          </a:xfrm>
          <a:prstGeom prst="rect">
            <a:avLst/>
          </a:prstGeom>
          <a:noFill/>
        </p:spPr>
        <p:txBody>
          <a:bodyPr wrap="square" rtlCol="0">
            <a:spAutoFit/>
          </a:bodyPr>
          <a:lstStyle/>
          <a:p>
            <a:r>
              <a:rPr lang="en-US" altLang="zh-CN" sz="3200" b="1" dirty="0">
                <a:latin typeface="+mj-lt"/>
              </a:rPr>
              <a:t>Background</a:t>
            </a:r>
            <a:endParaRPr lang="en-US" altLang="zh-CN" sz="3200" b="1" dirty="0">
              <a:latin typeface="+mj-lt"/>
            </a:endParaRPr>
          </a:p>
        </p:txBody>
      </p:sp>
      <p:sp>
        <p:nvSpPr>
          <p:cNvPr id="15" name="文本框 14"/>
          <p:cNvSpPr txBox="1"/>
          <p:nvPr/>
        </p:nvSpPr>
        <p:spPr>
          <a:xfrm>
            <a:off x="615950" y="937895"/>
            <a:ext cx="10752455" cy="3234690"/>
          </a:xfrm>
          <a:prstGeom prst="rect">
            <a:avLst/>
          </a:prstGeom>
          <a:noFill/>
        </p:spPr>
        <p:txBody>
          <a:bodyPr wrap="square">
            <a:spAutoFit/>
          </a:bodyPr>
          <a:lstStyle/>
          <a:p>
            <a:pPr marL="342900" indent="-342900" algn="just" fontAlgn="auto">
              <a:lnSpc>
                <a:spcPct val="120000"/>
              </a:lnSpc>
              <a:spcBef>
                <a:spcPts val="600"/>
              </a:spcBef>
              <a:spcAft>
                <a:spcPts val="0"/>
              </a:spcAft>
              <a:buFont typeface="Arial" panose="020B0604020202020204" pitchFamily="34" charset="0"/>
              <a:buChar char="•"/>
            </a:pPr>
            <a:r>
              <a:rPr lang="en-US" altLang="zh-CN" b="1" u="sng" dirty="0">
                <a:solidFill>
                  <a:schemeClr val="tx1"/>
                </a:solidFill>
                <a:effectLst/>
                <a:latin typeface="Georgia" panose="02040502050405020303" charset="0"/>
                <a:ea typeface="宋体" panose="02010600030101010101" pitchFamily="2" charset="-122"/>
                <a:cs typeface="Georgia" panose="02040502050405020303" charset="0"/>
                <a:sym typeface="+mn-ea"/>
              </a:rPr>
              <a:t>Replenishment</a:t>
            </a:r>
            <a:r>
              <a:rPr lang="en-US" altLang="zh-CN" b="1" dirty="0">
                <a:solidFill>
                  <a:schemeClr val="tx1"/>
                </a:solidFill>
                <a:effectLst/>
                <a:latin typeface="Georgia" panose="02040502050405020303" charset="0"/>
                <a:ea typeface="宋体" panose="02010600030101010101" pitchFamily="2" charset="-122"/>
                <a:cs typeface="Georgia" panose="02040502050405020303" charset="0"/>
                <a:sym typeface="+mn-ea"/>
              </a:rPr>
              <a:t>:</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A retailer decides how much of a product to order from </a:t>
            </a:r>
            <a:r>
              <a:rPr lang="en-US" altLang="zh-CN" dirty="0">
                <a:solidFill>
                  <a:srgbClr val="0070C0"/>
                </a:solidFill>
                <a:effectLst/>
                <a:latin typeface="Georgia" panose="02040502050405020303" charset="0"/>
                <a:ea typeface="宋体" panose="02010600030101010101" pitchFamily="2" charset="-122"/>
                <a:cs typeface="Georgia" panose="02040502050405020303" charset="0"/>
                <a:sym typeface="+mn-ea"/>
              </a:rPr>
              <a:t>upstream suppliers</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to adjust the inventory levels, thereby </a:t>
            </a:r>
            <a:r>
              <a:rPr lang="en-US" altLang="zh-CN" dirty="0">
                <a:solidFill>
                  <a:srgbClr val="0070C0"/>
                </a:solidFill>
                <a:effectLst/>
                <a:latin typeface="Georgia" panose="02040502050405020303" charset="0"/>
                <a:ea typeface="宋体" panose="02010600030101010101" pitchFamily="2" charset="-122"/>
                <a:cs typeface="Georgia" panose="02040502050405020303" charset="0"/>
                <a:sym typeface="+mn-ea"/>
              </a:rPr>
              <a:t>meeting customer demand</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a:t>
            </a:r>
            <a:endPar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endParaRPr>
          </a:p>
          <a:p>
            <a:pPr marL="342900" indent="-342900" algn="just" fontAlgn="auto">
              <a:lnSpc>
                <a:spcPct val="120000"/>
              </a:lnSpc>
              <a:spcBef>
                <a:spcPts val="600"/>
              </a:spcBef>
              <a:spcAft>
                <a:spcPts val="0"/>
              </a:spcAft>
              <a:buFont typeface="Arial" panose="020B0604020202020204" pitchFamily="34" charset="0"/>
              <a:buChar char="•"/>
            </a:pPr>
            <a:r>
              <a:rPr lang="en-US" altLang="zh-CN" b="1" u="sng" dirty="0">
                <a:effectLst/>
                <a:latin typeface="Georgia" panose="02040502050405020303" charset="0"/>
                <a:ea typeface="宋体" panose="02010600030101010101" pitchFamily="2" charset="-122"/>
                <a:cs typeface="Georgia" panose="02040502050405020303" charset="0"/>
                <a:sym typeface="+mn-ea"/>
              </a:rPr>
              <a:t>Multi-location inventory systems</a:t>
            </a:r>
            <a:r>
              <a:rPr lang="en-US" altLang="zh-CN" b="1" dirty="0">
                <a:effectLst/>
                <a:latin typeface="Georgia" panose="02040502050405020303" charset="0"/>
                <a:ea typeface="宋体" panose="02010600030101010101" pitchFamily="2" charset="-122"/>
                <a:cs typeface="Georgia" panose="02040502050405020303" charset="0"/>
                <a:sym typeface="+mn-ea"/>
              </a:rPr>
              <a:t>:</a:t>
            </a:r>
            <a:r>
              <a:rPr lang="en-US" altLang="zh-CN" dirty="0">
                <a:effectLst/>
                <a:latin typeface="Georgia" panose="02040502050405020303" charset="0"/>
                <a:ea typeface="宋体" panose="02010600030101010101" pitchFamily="2" charset="-122"/>
                <a:cs typeface="Georgia" panose="02040502050405020303" charset="0"/>
                <a:sym typeface="+mn-ea"/>
              </a:rPr>
              <a:t> </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the retail of many branded products relies on a network of retailers, not sold by just one retailer but </a:t>
            </a:r>
            <a:r>
              <a:rPr lang="en-US" altLang="zh-CN" dirty="0">
                <a:solidFill>
                  <a:srgbClr val="0070C0"/>
                </a:solidFill>
                <a:effectLst/>
                <a:latin typeface="Georgia" panose="02040502050405020303" charset="0"/>
                <a:ea typeface="宋体" panose="02010600030101010101" pitchFamily="2" charset="-122"/>
                <a:cs typeface="Georgia" panose="02040502050405020303" charset="0"/>
                <a:sym typeface="+mn-ea"/>
              </a:rPr>
              <a:t>a group of retailers works together</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to meet demand </a:t>
            </a:r>
            <a:r>
              <a:rPr lang="en-US" altLang="zh-CN" dirty="0">
                <a:solidFill>
                  <a:srgbClr val="0070C0"/>
                </a:solidFill>
                <a:effectLst/>
                <a:latin typeface="Georgia" panose="02040502050405020303" charset="0"/>
                <a:ea typeface="宋体" panose="02010600030101010101" pitchFamily="2" charset="-122"/>
                <a:cs typeface="Georgia" panose="02040502050405020303" charset="0"/>
                <a:sym typeface="+mn-ea"/>
              </a:rPr>
              <a:t>in a certain region</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such as: Starbucks, Zara, Lenovo, Alibaba Health. </a:t>
            </a:r>
            <a:endPar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endParaRPr>
          </a:p>
          <a:p>
            <a:pPr marL="342900" indent="-342900" algn="just" fontAlgn="auto">
              <a:lnSpc>
                <a:spcPct val="120000"/>
              </a:lnSpc>
              <a:spcBef>
                <a:spcPts val="600"/>
              </a:spcBef>
              <a:spcAft>
                <a:spcPts val="0"/>
              </a:spcAft>
              <a:buFont typeface="Arial" panose="020B0604020202020204" pitchFamily="34" charset="0"/>
              <a:buChar char="•"/>
            </a:pPr>
            <a:r>
              <a:rPr lang="en-US" altLang="zh-CN" b="1" u="sng" dirty="0">
                <a:solidFill>
                  <a:schemeClr val="tx1"/>
                </a:solidFill>
                <a:effectLst/>
                <a:latin typeface="Georgia" panose="02040502050405020303" charset="0"/>
                <a:ea typeface="宋体" panose="02010600030101010101" pitchFamily="2" charset="-122"/>
                <a:cs typeface="Georgia" panose="02040502050405020303" charset="0"/>
                <a:sym typeface="+mn-ea"/>
              </a:rPr>
              <a:t>Transshipment</a:t>
            </a:r>
            <a:r>
              <a:rPr lang="en-US" altLang="zh-CN" b="1" dirty="0">
                <a:solidFill>
                  <a:schemeClr val="tx1"/>
                </a:solidFill>
                <a:effectLst/>
                <a:latin typeface="Georgia" panose="02040502050405020303" charset="0"/>
                <a:ea typeface="宋体" panose="02010600030101010101" pitchFamily="2" charset="-122"/>
                <a:cs typeface="Georgia" panose="02040502050405020303" charset="0"/>
                <a:sym typeface="+mn-ea"/>
              </a:rPr>
              <a:t>:</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In multi-location inventory systems,  another pratice is the horizontal inventory reallocation among peer retailers </a:t>
            </a:r>
            <a:r>
              <a:rPr lang="en-US" altLang="zh-CN" dirty="0">
                <a:solidFill>
                  <a:srgbClr val="0070C0"/>
                </a:solidFill>
                <a:effectLst/>
                <a:latin typeface="Georgia" panose="02040502050405020303" charset="0"/>
                <a:ea typeface="宋体" panose="02010600030101010101" pitchFamily="2" charset="-122"/>
                <a:cs typeface="Georgia" panose="02040502050405020303" charset="0"/>
                <a:sym typeface="+mn-ea"/>
              </a:rPr>
              <a:t>within the same echelon</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Often with shorter lead time and lower cost, which can help to </a:t>
            </a:r>
            <a:r>
              <a:rPr lang="en-US" altLang="zh-CN" dirty="0">
                <a:solidFill>
                  <a:srgbClr val="0070C0"/>
                </a:solidFill>
                <a:effectLst/>
                <a:latin typeface="Georgia" panose="02040502050405020303" charset="0"/>
                <a:ea typeface="宋体" panose="02010600030101010101" pitchFamily="2" charset="-122"/>
                <a:cs typeface="Georgia" panose="02040502050405020303" charset="0"/>
                <a:sym typeface="+mn-ea"/>
              </a:rPr>
              <a:t>rebalance inventory</a:t>
            </a:r>
            <a:r>
              <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rPr>
              <a:t>, thus compensating for the imbalance caused by long replenishing lead time and further improve service quality.</a:t>
            </a:r>
            <a:endParaRPr lang="en-US" altLang="zh-CN" dirty="0">
              <a:solidFill>
                <a:schemeClr val="tx1"/>
              </a:solidFill>
              <a:effectLst/>
              <a:latin typeface="Georgia" panose="02040502050405020303" charset="0"/>
              <a:ea typeface="宋体" panose="02010600030101010101" pitchFamily="2" charset="-122"/>
              <a:cs typeface="Georgia" panose="02040502050405020303" charset="0"/>
              <a:sym typeface="+mn-ea"/>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grpSp>
        <p:nvGrpSpPr>
          <p:cNvPr id="22" name="组合 21"/>
          <p:cNvGrpSpPr/>
          <p:nvPr/>
        </p:nvGrpSpPr>
        <p:grpSpPr>
          <a:xfrm>
            <a:off x="6876415" y="3832225"/>
            <a:ext cx="4417060" cy="2771775"/>
            <a:chOff x="11069" y="5701"/>
            <a:chExt cx="6956" cy="4365"/>
          </a:xfrm>
        </p:grpSpPr>
        <p:pic>
          <p:nvPicPr>
            <p:cNvPr id="19" name="图片 18"/>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1069" y="5701"/>
              <a:ext cx="6956" cy="3883"/>
            </a:xfrm>
            <a:prstGeom prst="rect">
              <a:avLst/>
            </a:prstGeom>
          </p:spPr>
        </p:pic>
        <p:sp>
          <p:nvSpPr>
            <p:cNvPr id="99" name="文本框 98"/>
            <p:cNvSpPr txBox="1"/>
            <p:nvPr/>
          </p:nvSpPr>
          <p:spPr>
            <a:xfrm>
              <a:off x="11287" y="9584"/>
              <a:ext cx="2775" cy="483"/>
            </a:xfrm>
            <a:prstGeom prst="rect">
              <a:avLst/>
            </a:prstGeom>
            <a:noFill/>
          </p:spPr>
          <p:txBody>
            <a:bodyPr wrap="square" rtlCol="0">
              <a:spAutoFit/>
            </a:bodyPr>
            <a:lstStyle/>
            <a:p>
              <a:pPr algn="ctr"/>
              <a:r>
                <a:rPr lang="en-US" altLang="zh-CN" sz="1400">
                  <a:solidFill>
                    <a:schemeClr val="tx1"/>
                  </a:solidFill>
                  <a:latin typeface="Georgia" panose="02040502050405020303" charset="0"/>
                  <a:cs typeface="Georgia" panose="02040502050405020303" charset="0"/>
                </a:rPr>
                <a:t>(a) Replenishment</a:t>
              </a:r>
              <a:endParaRPr lang="en-US" altLang="zh-CN" sz="1400">
                <a:solidFill>
                  <a:schemeClr val="tx1"/>
                </a:solidFill>
                <a:latin typeface="Georgia" panose="02040502050405020303" charset="0"/>
                <a:cs typeface="Georgia" panose="02040502050405020303" charset="0"/>
              </a:endParaRPr>
            </a:p>
          </p:txBody>
        </p:sp>
        <p:sp>
          <p:nvSpPr>
            <p:cNvPr id="21" name="文本框 20"/>
            <p:cNvSpPr txBox="1"/>
            <p:nvPr/>
          </p:nvSpPr>
          <p:spPr>
            <a:xfrm>
              <a:off x="15034" y="9584"/>
              <a:ext cx="2786" cy="483"/>
            </a:xfrm>
            <a:prstGeom prst="rect">
              <a:avLst/>
            </a:prstGeom>
            <a:noFill/>
          </p:spPr>
          <p:txBody>
            <a:bodyPr wrap="square" rtlCol="0">
              <a:spAutoFit/>
            </a:bodyPr>
            <a:lstStyle/>
            <a:p>
              <a:pPr algn="ctr"/>
              <a:r>
                <a:rPr lang="en-US" altLang="zh-CN" sz="1400">
                  <a:solidFill>
                    <a:schemeClr val="tx1"/>
                  </a:solidFill>
                  <a:latin typeface="Georgia" panose="02040502050405020303" charset="0"/>
                  <a:cs typeface="Georgia" panose="02040502050405020303" charset="0"/>
                </a:rPr>
                <a:t>(b) Transshipment</a:t>
              </a:r>
              <a:endParaRPr lang="en-US" altLang="zh-CN" sz="1400">
                <a:solidFill>
                  <a:schemeClr val="tx1"/>
                </a:solidFill>
                <a:latin typeface="Georgia" panose="02040502050405020303" charset="0"/>
                <a:cs typeface="Georgia" panose="02040502050405020303" charset="0"/>
              </a:endParaRPr>
            </a:p>
          </p:txBody>
        </p:sp>
      </p:grpSp>
      <p:grpSp>
        <p:nvGrpSpPr>
          <p:cNvPr id="7" name="组合 6"/>
          <p:cNvGrpSpPr/>
          <p:nvPr/>
        </p:nvGrpSpPr>
        <p:grpSpPr>
          <a:xfrm>
            <a:off x="948055" y="4576445"/>
            <a:ext cx="5137150" cy="1569085"/>
            <a:chOff x="1493" y="6965"/>
            <a:chExt cx="8090" cy="2471"/>
          </a:xfrm>
        </p:grpSpPr>
        <p:pic>
          <p:nvPicPr>
            <p:cNvPr id="4" name="图片 3"/>
            <p:cNvPicPr/>
            <p:nvPr/>
          </p:nvPicPr>
          <p:blipFill>
            <a:blip r:embed="rId2">
              <a:clrChange>
                <a:clrFrom>
                  <a:srgbClr val="FEFEFE">
                    <a:alpha val="100000"/>
                  </a:srgbClr>
                </a:clrFrom>
                <a:clrTo>
                  <a:srgbClr val="FEFEFE">
                    <a:alpha val="100000"/>
                    <a:alpha val="0"/>
                  </a:srgbClr>
                </a:clrTo>
              </a:clrChange>
            </a:blip>
            <a:srcRect l="3000" t="14376" r="4047" b="13650"/>
            <a:stretch>
              <a:fillRect/>
            </a:stretch>
          </p:blipFill>
          <p:spPr>
            <a:xfrm>
              <a:off x="1493" y="6965"/>
              <a:ext cx="3541" cy="924"/>
            </a:xfrm>
            <a:prstGeom prst="rect">
              <a:avLst/>
            </a:prstGeom>
          </p:spPr>
        </p:pic>
        <p:pic>
          <p:nvPicPr>
            <p:cNvPr id="14" name="图片 13"/>
            <p:cNvPicPr>
              <a:picLocks noChangeAspect="1"/>
            </p:cNvPicPr>
            <p:nvPr>
              <p:custDataLst>
                <p:tags r:id="rId3"/>
              </p:custDataLst>
            </p:nvPr>
          </p:nvPicPr>
          <p:blipFill>
            <a:blip r:embed="rId4"/>
            <a:stretch>
              <a:fillRect/>
            </a:stretch>
          </p:blipFill>
          <p:spPr>
            <a:xfrm>
              <a:off x="1587" y="8512"/>
              <a:ext cx="3354" cy="924"/>
            </a:xfrm>
            <a:prstGeom prst="rect">
              <a:avLst/>
            </a:prstGeom>
          </p:spPr>
        </p:pic>
        <p:pic>
          <p:nvPicPr>
            <p:cNvPr id="17" name="图片 16"/>
            <p:cNvPicPr/>
            <p:nvPr/>
          </p:nvPicPr>
          <p:blipFill>
            <a:blip r:embed="rId5"/>
            <a:stretch>
              <a:fillRect/>
            </a:stretch>
          </p:blipFill>
          <p:spPr>
            <a:xfrm>
              <a:off x="5709" y="8679"/>
              <a:ext cx="3874" cy="631"/>
            </a:xfrm>
            <a:prstGeom prst="rect">
              <a:avLst/>
            </a:prstGeom>
          </p:spPr>
        </p:pic>
        <p:pic>
          <p:nvPicPr>
            <p:cNvPr id="3" name="图片 2"/>
            <p:cNvPicPr/>
            <p:nvPr/>
          </p:nvPicPr>
          <p:blipFill>
            <a:blip r:embed="rId6"/>
            <a:srcRect l="27868" t="33733" r="27812" b="32867"/>
            <a:stretch>
              <a:fillRect/>
            </a:stretch>
          </p:blipFill>
          <p:spPr>
            <a:xfrm>
              <a:off x="6775" y="6978"/>
              <a:ext cx="2123" cy="899"/>
            </a:xfrm>
            <a:prstGeom prst="rect">
              <a:avLst/>
            </a:prstGeom>
          </p:spPr>
        </p:pic>
      </p:grpSp>
    </p:spTree>
    <p:custDataLst>
      <p:tags r:id="rId7"/>
    </p:custDataLst>
  </p:cSld>
  <p:clrMapOvr>
    <a:masterClrMapping/>
  </p:clrMapOvr>
  <mc:AlternateContent xmlns:mc="http://schemas.openxmlformats.org/markup-compatibility/2006">
    <mc:Choice xmlns:p14="http://schemas.microsoft.com/office/powerpoint/2010/main" Requires="p14">
      <p:transition p14:dur="250" advTm="74158">
        <p:wipe dir="d"/>
      </p:transition>
    </mc:Choice>
    <mc:Fallback>
      <p:transition advTm="74158">
        <p:wipe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19739" y="218235"/>
            <a:ext cx="2929631" cy="583565"/>
          </a:xfrm>
          <a:prstGeom prst="rect">
            <a:avLst/>
          </a:prstGeom>
          <a:noFill/>
        </p:spPr>
        <p:txBody>
          <a:bodyPr wrap="square" rtlCol="0">
            <a:spAutoFit/>
          </a:bodyPr>
          <a:lstStyle/>
          <a:p>
            <a:r>
              <a:rPr lang="en-US" altLang="zh-CN" sz="3200" b="1" dirty="0">
                <a:latin typeface="+mj-lt"/>
              </a:rPr>
              <a:t>Background</a:t>
            </a:r>
            <a:endParaRPr lang="en-US" altLang="zh-CN" sz="3200" b="1" dirty="0">
              <a:latin typeface="+mj-lt"/>
            </a:endParaRPr>
          </a:p>
        </p:txBody>
      </p:sp>
      <p:sp>
        <p:nvSpPr>
          <p:cNvPr id="3" name="文本框 2"/>
          <p:cNvSpPr txBox="1"/>
          <p:nvPr/>
        </p:nvSpPr>
        <p:spPr>
          <a:xfrm>
            <a:off x="643890" y="1051560"/>
            <a:ext cx="10715625" cy="36830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effectLst/>
                <a:latin typeface="Georgia" panose="02040502050405020303" charset="0"/>
                <a:ea typeface="宋体" panose="02010600030101010101" pitchFamily="2" charset="-122"/>
                <a:cs typeface="Georgia" panose="02040502050405020303" charset="0"/>
                <a:sym typeface="+mn-ea"/>
              </a:rPr>
              <a:t>Categories into two types based on the timing: Reactive transshipment and </a:t>
            </a:r>
            <a:r>
              <a:rPr lang="en-US" altLang="zh-CN" u="sng" dirty="0">
                <a:effectLst/>
                <a:latin typeface="Georgia" panose="02040502050405020303" charset="0"/>
                <a:ea typeface="宋体" panose="02010600030101010101" pitchFamily="2" charset="-122"/>
                <a:cs typeface="Georgia" panose="02040502050405020303" charset="0"/>
                <a:sym typeface="+mn-ea"/>
              </a:rPr>
              <a:t>Proactive transshipment</a:t>
            </a:r>
            <a:r>
              <a:rPr lang="en-US" altLang="zh-CN" dirty="0">
                <a:effectLst/>
                <a:latin typeface="Georgia" panose="02040502050405020303" charset="0"/>
                <a:ea typeface="宋体" panose="02010600030101010101" pitchFamily="2" charset="-122"/>
                <a:cs typeface="Georgia" panose="02040502050405020303" charset="0"/>
                <a:sym typeface="+mn-ea"/>
              </a:rPr>
              <a:t>.</a:t>
            </a:r>
            <a:endParaRPr lang="zh-CN" altLang="en-US"/>
          </a:p>
        </p:txBody>
      </p:sp>
      <p:graphicFrame>
        <p:nvGraphicFramePr>
          <p:cNvPr id="7" name="表格 6"/>
          <p:cNvGraphicFramePr/>
          <p:nvPr>
            <p:custDataLst>
              <p:tags r:id="rId1"/>
            </p:custDataLst>
          </p:nvPr>
        </p:nvGraphicFramePr>
        <p:xfrm>
          <a:off x="1118870" y="1577975"/>
          <a:ext cx="10118090" cy="1541145"/>
        </p:xfrm>
        <a:graphic>
          <a:graphicData uri="http://schemas.openxmlformats.org/drawingml/2006/table">
            <a:tbl>
              <a:tblPr firstCol="1">
                <a:tableStyleId>{BC89EF96-8CEA-46FF-86C4-4CE0E7609802}</a:tableStyleId>
              </a:tblPr>
              <a:tblGrid>
                <a:gridCol w="2289175"/>
                <a:gridCol w="4090035"/>
                <a:gridCol w="3738880"/>
              </a:tblGrid>
              <a:tr h="763905">
                <a:tc>
                  <a:txBody>
                    <a:bodyPr/>
                    <a:lstStyle/>
                    <a:p>
                      <a:pPr algn="ctr">
                        <a:buNone/>
                      </a:pPr>
                      <a:r>
                        <a:rPr lang="en-US" altLang="zh-CN" sz="1400" b="1" dirty="0">
                          <a:effectLst/>
                          <a:latin typeface="+mj-lt"/>
                          <a:cs typeface="+mj-lt"/>
                        </a:rPr>
                        <a:t>Reactive Transshipment</a:t>
                      </a:r>
                      <a:endParaRPr lang="en-US" altLang="zh-CN" sz="1400" b="1" dirty="0">
                        <a:effectLst/>
                        <a:latin typeface="+mj-lt"/>
                        <a:cs typeface="+mj-lt"/>
                      </a:endParaRPr>
                    </a:p>
                  </a:txBody>
                  <a:tcPr anchor="ctr">
                    <a:solidFill>
                      <a:srgbClr val="E9EDF4"/>
                    </a:solidFill>
                  </a:tcPr>
                </a:tc>
                <a:tc>
                  <a:txBody>
                    <a:bodyPr/>
                    <a:lstStyle/>
                    <a:p>
                      <a:pPr algn="ctr">
                        <a:buNone/>
                      </a:pPr>
                      <a:r>
                        <a:rPr lang="en-US" altLang="zh-CN" sz="1400" dirty="0">
                          <a:effectLst/>
                          <a:latin typeface="+mj-lt"/>
                          <a:cs typeface="+mj-lt"/>
                        </a:rPr>
                        <a:t>occur after the demand fulfillment, is only triggered when facing stockouts</a:t>
                      </a:r>
                      <a:endParaRPr lang="en-US" altLang="zh-CN" sz="1400" dirty="0">
                        <a:effectLst/>
                        <a:latin typeface="+mj-lt"/>
                        <a:cs typeface="+mj-lt"/>
                      </a:endParaRPr>
                    </a:p>
                  </a:txBody>
                  <a:tcPr anchor="ctr"/>
                </a:tc>
                <a:tc>
                  <a:txBody>
                    <a:bodyPr/>
                    <a:lstStyle/>
                    <a:p>
                      <a:pPr algn="ctr">
                        <a:buNone/>
                      </a:pPr>
                      <a:r>
                        <a:rPr lang="en-US" altLang="zh-CN" sz="1400" dirty="0">
                          <a:effectLst/>
                          <a:latin typeface="+mj-lt"/>
                          <a:cs typeface="+mj-lt"/>
                        </a:rPr>
                        <a:t>stockouts may still occur, result in delayed responses and suboptimal performances</a:t>
                      </a:r>
                      <a:endParaRPr lang="en-US" altLang="zh-CN" sz="1400" dirty="0">
                        <a:effectLst/>
                        <a:latin typeface="+mj-lt"/>
                        <a:cs typeface="+mj-lt"/>
                      </a:endParaRPr>
                    </a:p>
                  </a:txBody>
                  <a:tcPr anchor="ctr"/>
                </a:tc>
              </a:tr>
              <a:tr h="777240">
                <a:tc>
                  <a:txBody>
                    <a:bodyPr/>
                    <a:lstStyle/>
                    <a:p>
                      <a:pPr algn="ctr">
                        <a:buNone/>
                      </a:pPr>
                      <a:r>
                        <a:rPr lang="en-US" altLang="zh-CN" sz="1400" b="1" dirty="0">
                          <a:latin typeface="+mj-lt"/>
                          <a:cs typeface="+mj-lt"/>
                        </a:rPr>
                        <a:t>Proactive </a:t>
                      </a:r>
                      <a:r>
                        <a:rPr lang="en-US" altLang="zh-CN" sz="1400" b="1" dirty="0">
                          <a:effectLst/>
                          <a:latin typeface="+mj-lt"/>
                          <a:cs typeface="+mj-lt"/>
                        </a:rPr>
                        <a:t>Transshipment</a:t>
                      </a:r>
                      <a:endParaRPr lang="en-US" altLang="zh-CN" sz="1400" b="1" dirty="0">
                        <a:effectLst/>
                        <a:latin typeface="+mj-lt"/>
                        <a:cs typeface="+mj-lt"/>
                      </a:endParaRPr>
                    </a:p>
                  </a:txBody>
                  <a:tcPr anchor="ctr">
                    <a:solidFill>
                      <a:srgbClr val="E9EDF4"/>
                    </a:solidFill>
                  </a:tcPr>
                </a:tc>
                <a:tc>
                  <a:txBody>
                    <a:bodyPr/>
                    <a:lstStyle/>
                    <a:p>
                      <a:pPr algn="ctr">
                        <a:buNone/>
                      </a:pPr>
                      <a:r>
                        <a:rPr lang="en-US" altLang="zh-CN" sz="1400" dirty="0">
                          <a:latin typeface="+mj-lt"/>
                          <a:cs typeface="+mj-lt"/>
                        </a:rPr>
                        <a:t>happen in ahead of demand fulfillment, used as a preventive measure to avoid future stockouts</a:t>
                      </a:r>
                      <a:endParaRPr lang="en-US" altLang="zh-CN" sz="1400" dirty="0">
                        <a:latin typeface="+mj-lt"/>
                        <a:cs typeface="+mj-lt"/>
                      </a:endParaRPr>
                    </a:p>
                  </a:txBody>
                  <a:tcPr anchor="ctr"/>
                </a:tc>
                <a:tc>
                  <a:txBody>
                    <a:bodyPr/>
                    <a:lstStyle/>
                    <a:p>
                      <a:pPr algn="ctr">
                        <a:buNone/>
                      </a:pPr>
                      <a:r>
                        <a:rPr lang="en-US" altLang="zh-CN" sz="1400" dirty="0">
                          <a:latin typeface="+mj-lt"/>
                          <a:cs typeface="+mj-lt"/>
                        </a:rPr>
                        <a:t>forward-looking, balance resources better and reduce the risk of stockouts, leading to improved operational efficiency</a:t>
                      </a:r>
                      <a:endParaRPr lang="en-US" altLang="zh-CN" sz="1400" dirty="0">
                        <a:latin typeface="+mj-lt"/>
                        <a:cs typeface="+mj-lt"/>
                      </a:endParaRPr>
                    </a:p>
                  </a:txBody>
                  <a:tcPr anchor="ctr"/>
                </a:tc>
              </a:tr>
            </a:tbl>
          </a:graphicData>
        </a:graphic>
      </p:graphicFrame>
      <p:pic>
        <p:nvPicPr>
          <p:cNvPr id="4" name="图片 3" descr="重点事项"/>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9100" y="2507615"/>
            <a:ext cx="486410" cy="486410"/>
          </a:xfrm>
          <a:prstGeom prst="rect">
            <a:avLst/>
          </a:prstGeom>
        </p:spPr>
      </p:pic>
      <p:sp>
        <p:nvSpPr>
          <p:cNvPr id="5" name="文本框 4"/>
          <p:cNvSpPr txBox="1"/>
          <p:nvPr/>
        </p:nvSpPr>
        <p:spPr>
          <a:xfrm>
            <a:off x="643890" y="3215640"/>
            <a:ext cx="10593070" cy="755650"/>
          </a:xfrm>
          <a:prstGeom prst="rect">
            <a:avLst/>
          </a:prstGeom>
          <a:noFill/>
        </p:spPr>
        <p:txBody>
          <a:bodyPr wrap="square" rtlCol="0">
            <a:spAutoFit/>
          </a:bodyPr>
          <a:lstStyle/>
          <a:p>
            <a:pPr marL="285750" indent="-285750" algn="l" fontAlgn="auto">
              <a:lnSpc>
                <a:spcPct val="120000"/>
              </a:lnSpc>
              <a:buFont typeface="Arial" panose="020B0604020202020204" pitchFamily="34" charset="0"/>
              <a:buChar char="•"/>
            </a:pPr>
            <a:r>
              <a:rPr lang="en-US" altLang="zh-CN" dirty="0">
                <a:effectLst/>
                <a:latin typeface="Georgia" panose="02040502050405020303" charset="0"/>
                <a:ea typeface="宋体" panose="02010600030101010101" pitchFamily="2" charset="-122"/>
                <a:cs typeface="Georgia" panose="02040502050405020303" charset="0"/>
                <a:sym typeface="+mn-ea"/>
              </a:rPr>
              <a:t>The workflow of inventory management with </a:t>
            </a:r>
            <a:r>
              <a:rPr lang="en-US" altLang="zh-CN" b="1" u="sng" dirty="0">
                <a:effectLst/>
                <a:latin typeface="Georgia" panose="02040502050405020303" charset="0"/>
                <a:ea typeface="宋体" panose="02010600030101010101" pitchFamily="2" charset="-122"/>
                <a:cs typeface="Georgia" panose="02040502050405020303" charset="0"/>
                <a:sym typeface="+mn-ea"/>
              </a:rPr>
              <a:t>proactive transshipment</a:t>
            </a:r>
            <a:r>
              <a:rPr lang="en-US" altLang="zh-CN" dirty="0">
                <a:effectLst/>
                <a:latin typeface="Georgia" panose="02040502050405020303" charset="0"/>
                <a:ea typeface="宋体" panose="02010600030101010101" pitchFamily="2" charset="-122"/>
                <a:cs typeface="Georgia" panose="02040502050405020303" charset="0"/>
                <a:sym typeface="+mn-ea"/>
              </a:rPr>
              <a:t>: three stages repeat day by day, consisting a typical sequential decision-making process.</a:t>
            </a:r>
            <a:endParaRPr lang="zh-CN" altLang="en-US" dirty="0">
              <a:effectLst/>
              <a:latin typeface="Georgia" panose="02040502050405020303" charset="0"/>
              <a:ea typeface="宋体" panose="02010600030101010101" pitchFamily="2" charset="-122"/>
              <a:cs typeface="Georgia" panose="02040502050405020303" charset="0"/>
              <a:sym typeface="+mn-ea"/>
            </a:endParaRPr>
          </a:p>
        </p:txBody>
      </p:sp>
      <p:pic>
        <p:nvPicPr>
          <p:cNvPr id="12" name="图片 11"/>
          <p:cNvPicPr>
            <a:picLocks noChangeAspect="1"/>
          </p:cNvPicPr>
          <p:nvPr/>
        </p:nvPicPr>
        <p:blipFill>
          <a:blip r:embed="rId4"/>
          <a:stretch>
            <a:fillRect/>
          </a:stretch>
        </p:blipFill>
        <p:spPr>
          <a:xfrm>
            <a:off x="1558290" y="3971290"/>
            <a:ext cx="9463405" cy="2465705"/>
          </a:xfrm>
          <a:prstGeom prst="rect">
            <a:avLst/>
          </a:prstGeom>
        </p:spPr>
      </p:pic>
      <p:sp>
        <p:nvSpPr>
          <p:cNvPr id="8" name="矩形 7"/>
          <p:cNvSpPr/>
          <p:nvPr/>
        </p:nvSpPr>
        <p:spPr>
          <a:xfrm>
            <a:off x="5670550" y="5307330"/>
            <a:ext cx="914400" cy="205105"/>
          </a:xfrm>
          <a:prstGeom prst="rect">
            <a:avLst/>
          </a:prstGeom>
          <a:noFill/>
          <a:ln w="28575">
            <a:solidFill>
              <a:srgbClr val="C00000"/>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670550" y="5975985"/>
            <a:ext cx="914400" cy="205105"/>
          </a:xfrm>
          <a:prstGeom prst="rect">
            <a:avLst/>
          </a:prstGeom>
          <a:noFill/>
          <a:ln w="28575">
            <a:solidFill>
              <a:srgbClr val="C00000"/>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250" advTm="76440">
        <p:wipe dir="d"/>
      </p:transition>
    </mc:Choice>
    <mc:Fallback>
      <p:transition advTm="76440">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4" name="矩形 33"/>
          <p:cNvSpPr/>
          <p:nvPr/>
        </p:nvSpPr>
        <p:spPr>
          <a:xfrm>
            <a:off x="5761355" y="3228023"/>
            <a:ext cx="371475" cy="31242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6690360" y="3228340"/>
            <a:ext cx="953135" cy="31242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48715" y="226060"/>
            <a:ext cx="4240530" cy="583565"/>
          </a:xfrm>
          <a:prstGeom prst="rect">
            <a:avLst/>
          </a:prstGeom>
          <a:noFill/>
        </p:spPr>
        <p:txBody>
          <a:bodyPr wrap="square" rtlCol="0">
            <a:spAutoFit/>
          </a:bodyPr>
          <a:lstStyle/>
          <a:p>
            <a:r>
              <a:rPr lang="en-US" altLang="zh-CN" sz="3200" b="1" dirty="0">
                <a:latin typeface="+mj-lt"/>
              </a:rPr>
              <a:t>Problem Definition</a:t>
            </a:r>
            <a:endParaRPr lang="zh-CN" altLang="en-US" sz="3200" b="1" dirty="0">
              <a:latin typeface="+mj-lt"/>
            </a:endParaRPr>
          </a:p>
        </p:txBody>
      </p:sp>
      <mc:AlternateContent xmlns:mc="http://schemas.openxmlformats.org/markup-compatibility/2006">
        <mc:Choice xmlns:a14="http://schemas.microsoft.com/office/drawing/2010/main" Requires="a14">
          <p:sp>
            <p:nvSpPr>
              <p:cNvPr id="3" name="文本框 2"/>
              <p:cNvSpPr txBox="1"/>
              <p:nvPr/>
            </p:nvSpPr>
            <p:spPr>
              <a:xfrm>
                <a:off x="639445" y="1010285"/>
                <a:ext cx="10859135" cy="783590"/>
              </a:xfrm>
              <a:prstGeom prst="rect">
                <a:avLst/>
              </a:prstGeom>
              <a:noFill/>
            </p:spPr>
            <p:txBody>
              <a:bodyPr wrap="square" rtlCol="0">
                <a:spAutoFit/>
              </a:bodyPr>
              <a:lstStyle/>
              <a:p>
                <a:pPr marL="285750" indent="-285750" algn="just" fontAlgn="auto">
                  <a:lnSpc>
                    <a:spcPct val="125000"/>
                  </a:lnSpc>
                  <a:buFont typeface="Arial" panose="020B0604020202020204" pitchFamily="34" charset="0"/>
                  <a:buChar char="•"/>
                </a:pPr>
                <a:r>
                  <a:rPr lang="en-US" altLang="zh-CN">
                    <a:latin typeface="+mj-lt"/>
                    <a:cs typeface="+mj-lt"/>
                  </a:rPr>
                  <a:t>Consider a </a:t>
                </a:r>
                <a:r>
                  <a:rPr lang="en-US" altLang="zh-CN">
                    <a:solidFill>
                      <a:srgbClr val="C00000"/>
                    </a:solidFill>
                    <a:latin typeface="+mj-lt"/>
                    <a:cs typeface="+mj-lt"/>
                  </a:rPr>
                  <a:t>two</a:t>
                </a:r>
                <a:r>
                  <a:rPr lang="en-US" altLang="zh-CN">
                    <a:latin typeface="+mj-lt"/>
                    <a:cs typeface="+mj-lt"/>
                  </a:rPr>
                  <a:t>-echelon </a:t>
                </a:r>
                <a:r>
                  <a:rPr lang="en-US" altLang="zh-CN">
                    <a:solidFill>
                      <a:srgbClr val="C00000"/>
                    </a:solidFill>
                    <a:latin typeface="+mj-lt"/>
                    <a:cs typeface="+mj-lt"/>
                  </a:rPr>
                  <a:t>multi-location</a:t>
                </a:r>
                <a:r>
                  <a:rPr lang="en-US" altLang="zh-CN">
                    <a:latin typeface="+mj-lt"/>
                    <a:cs typeface="+mj-lt"/>
                  </a:rPr>
                  <a:t> inventory system with a central warehouse and a set of </a:t>
                </a:r>
                <a14:m>
                  <m:oMath xmlns:m="http://schemas.openxmlformats.org/officeDocument/2006/math">
                    <m:r>
                      <a:rPr lang="en-US" altLang="zh-CN" i="1">
                        <a:latin typeface="Cambria Math" panose="02040503050406030204" charset="0"/>
                        <a:cs typeface="Cambria Math" panose="02040503050406030204" charset="0"/>
                      </a:rPr>
                      <m:t>𝑁</m:t>
                    </m:r>
                  </m:oMath>
                </a14:m>
                <a:r>
                  <a:rPr lang="en-US" altLang="zh-CN">
                    <a:latin typeface="+mj-lt"/>
                    <a:cs typeface="+mj-lt"/>
                  </a:rPr>
                  <a:t> retailers </a:t>
                </a:r>
                <a14:m>
                  <m:oMath xmlns:m="http://schemas.openxmlformats.org/officeDocument/2006/math">
                    <m:r>
                      <a:rPr lang="en-US" altLang="zh-CN" i="1">
                        <a:latin typeface="Cambria Math" panose="02040503050406030204" charset="0"/>
                        <a:cs typeface="Cambria Math" panose="02040503050406030204" charset="0"/>
                      </a:rPr>
                      <m:t>𝒩</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 , </m:t>
                    </m:r>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oMath>
                </a14:m>
                <a:r>
                  <a:rPr lang="en-US" altLang="zh-CN">
                    <a:latin typeface="+mj-lt"/>
                    <a:cs typeface="+mj-lt"/>
                  </a:rPr>
                  <a:t>. All retailers </a:t>
                </a:r>
                <a:r>
                  <a:rPr lang="en-US" altLang="zh-CN">
                    <a:solidFill>
                      <a:srgbClr val="C00000"/>
                    </a:solidFill>
                    <a:latin typeface="+mj-lt"/>
                    <a:cs typeface="+mj-lt"/>
                  </a:rPr>
                  <a:t>coorperate</a:t>
                </a:r>
                <a:r>
                  <a:rPr lang="en-US" altLang="zh-CN">
                    <a:latin typeface="+mj-lt"/>
                    <a:cs typeface="+mj-lt"/>
                  </a:rPr>
                  <a:t> towards the maximization of the total profit.</a:t>
                </a:r>
                <a:endParaRPr lang="en-US" altLang="zh-CN">
                  <a:latin typeface="+mj-lt"/>
                  <a:cs typeface="+mj-lt"/>
                </a:endParaRPr>
              </a:p>
            </p:txBody>
          </p:sp>
        </mc:Choice>
        <mc:Fallback>
          <p:sp>
            <p:nvSpPr>
              <p:cNvPr id="3" name="文本框 2"/>
              <p:cNvSpPr txBox="1">
                <a:spLocks noRot="1" noChangeAspect="1" noMove="1" noResize="1" noEditPoints="1" noAdjustHandles="1" noChangeArrowheads="1" noChangeShapeType="1" noTextEdit="1"/>
              </p:cNvSpPr>
              <p:nvPr/>
            </p:nvSpPr>
            <p:spPr>
              <a:xfrm>
                <a:off x="639445" y="1010285"/>
                <a:ext cx="10859135" cy="783590"/>
              </a:xfrm>
              <a:prstGeom prst="rect">
                <a:avLst/>
              </a:prstGeom>
              <a:blipFill rotWithShape="1">
                <a:blip r:embed="rId1"/>
                <a:stretch>
                  <a:fillRect/>
                </a:stretch>
              </a:blipFill>
            </p:spPr>
            <p:txBody>
              <a:bodyPr/>
              <a:lstStyle/>
              <a:p>
                <a:r>
                  <a:rPr lang="zh-CN" altLang="en-US">
                    <a:noFill/>
                  </a:rPr>
                  <a:t> </a:t>
                </a:r>
              </a:p>
            </p:txBody>
          </p:sp>
        </mc:Fallback>
      </mc:AlternateContent>
      <p:grpSp>
        <p:nvGrpSpPr>
          <p:cNvPr id="33" name="组合 32"/>
          <p:cNvGrpSpPr/>
          <p:nvPr/>
        </p:nvGrpSpPr>
        <p:grpSpPr>
          <a:xfrm>
            <a:off x="2029460" y="3006090"/>
            <a:ext cx="6696710" cy="1183640"/>
            <a:chOff x="3196" y="4818"/>
            <a:chExt cx="10546" cy="1864"/>
          </a:xfrm>
        </p:grpSpPr>
        <p:pic>
          <p:nvPicPr>
            <p:cNvPr id="8" name="图片 7"/>
            <p:cNvPicPr>
              <a:picLocks noChangeAspect="1"/>
            </p:cNvPicPr>
            <p:nvPr/>
          </p:nvPicPr>
          <p:blipFill>
            <a:blip r:embed="rId2"/>
            <a:stretch>
              <a:fillRect/>
            </a:stretch>
          </p:blipFill>
          <p:spPr>
            <a:xfrm>
              <a:off x="8386" y="6055"/>
              <a:ext cx="4521" cy="627"/>
            </a:xfrm>
            <a:prstGeom prst="rect">
              <a:avLst/>
            </a:prstGeom>
          </p:spPr>
        </p:pic>
        <p:pic>
          <p:nvPicPr>
            <p:cNvPr id="7" name="图片 6"/>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571" y="4818"/>
              <a:ext cx="6171" cy="1166"/>
            </a:xfrm>
            <a:prstGeom prst="rect">
              <a:avLst/>
            </a:prstGeom>
          </p:spPr>
        </p:pic>
        <p:sp>
          <p:nvSpPr>
            <p:cNvPr id="9" name="文本框 8"/>
            <p:cNvSpPr txBox="1"/>
            <p:nvPr/>
          </p:nvSpPr>
          <p:spPr>
            <a:xfrm>
              <a:off x="3206" y="5136"/>
              <a:ext cx="3879" cy="531"/>
            </a:xfrm>
            <a:prstGeom prst="rect">
              <a:avLst/>
            </a:prstGeom>
            <a:noFill/>
          </p:spPr>
          <p:txBody>
            <a:bodyPr wrap="square" rtlCol="0">
              <a:spAutoFit/>
            </a:bodyPr>
            <a:lstStyle/>
            <a:p>
              <a:pPr algn="ctr"/>
              <a:r>
                <a:rPr lang="en-US" altLang="zh-CN" sz="1600" dirty="0"/>
                <a:t>Inventory Adjustment: </a:t>
              </a:r>
              <a:endParaRPr lang="en-US" altLang="zh-CN" sz="1600" dirty="0"/>
            </a:p>
          </p:txBody>
        </p:sp>
        <p:sp>
          <p:nvSpPr>
            <p:cNvPr id="11" name="文本框 10"/>
            <p:cNvSpPr txBox="1"/>
            <p:nvPr/>
          </p:nvSpPr>
          <p:spPr>
            <a:xfrm>
              <a:off x="3196" y="6138"/>
              <a:ext cx="3891" cy="531"/>
            </a:xfrm>
            <a:prstGeom prst="rect">
              <a:avLst/>
            </a:prstGeom>
            <a:noFill/>
          </p:spPr>
          <p:txBody>
            <a:bodyPr wrap="square" rtlCol="0">
              <a:spAutoFit/>
            </a:bodyPr>
            <a:lstStyle/>
            <a:p>
              <a:pPr algn="ctr"/>
              <a:r>
                <a:rPr lang="en-US" altLang="zh-CN" sz="1600" dirty="0"/>
                <a:t>Demand Fulfillment:</a:t>
              </a:r>
              <a:endParaRPr lang="en-US" altLang="zh-CN" sz="1600" dirty="0"/>
            </a:p>
          </p:txBody>
        </p:sp>
      </p:grpSp>
      <mc:AlternateContent xmlns:mc="http://schemas.openxmlformats.org/markup-compatibility/2006">
        <mc:Choice xmlns:a14="http://schemas.microsoft.com/office/drawing/2010/main" Requires="a14">
          <p:sp>
            <p:nvSpPr>
              <p:cNvPr id="4" name="文本框 3"/>
              <p:cNvSpPr txBox="1"/>
              <p:nvPr/>
            </p:nvSpPr>
            <p:spPr>
              <a:xfrm>
                <a:off x="639445" y="1830070"/>
                <a:ext cx="10858500" cy="1231265"/>
              </a:xfrm>
              <a:prstGeom prst="rect">
                <a:avLst/>
              </a:prstGeom>
              <a:noFill/>
            </p:spPr>
            <p:txBody>
              <a:bodyPr wrap="square" rtlCol="0">
                <a:spAutoFit/>
              </a:bodyPr>
              <a:lstStyle/>
              <a:p>
                <a:pPr marL="285750" indent="-285750" algn="just" fontAlgn="auto">
                  <a:lnSpc>
                    <a:spcPct val="125000"/>
                  </a:lnSpc>
                  <a:buFont typeface="Arial" panose="020B0604020202020204" pitchFamily="34" charset="0"/>
                  <a:buChar char="•"/>
                </a:pPr>
                <a:r>
                  <a:rPr lang="en-US" altLang="zh-CN">
                    <a:latin typeface="+mj-lt"/>
                    <a:cs typeface="+mj-lt"/>
                  </a:rPr>
                  <a:t>Denote (</a:t>
                </a:r>
                <a:r>
                  <a:rPr lang="en-US" altLang="zh-CN" i="1">
                    <a:latin typeface="+mj-lt"/>
                    <a:cs typeface="+mj-lt"/>
                  </a:rPr>
                  <a:t>i</a:t>
                </a:r>
                <a:r>
                  <a:rPr lang="en-US" altLang="zh-CN">
                    <a:latin typeface="+mj-lt"/>
                    <a:cs typeface="+mj-lt"/>
                  </a:rPr>
                  <a:t>) the replenishment quantity that retailer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mj-lt"/>
                    <a:cs typeface="+mj-lt"/>
                  </a:rPr>
                  <a:t> purchase from the central warehouse </a:t>
                </a:r>
                <a14:m>
                  <m:oMath xmlns:m="http://schemas.openxmlformats.org/officeDocument/2006/math">
                    <m:sSubSup>
                      <m:sSubSupPr>
                        <m:ctrlPr>
                          <a:rPr lang="en-US" altLang="zh-CN" i="1">
                            <a:solidFill>
                              <a:srgbClr val="7030A0"/>
                            </a:solidFill>
                            <a:latin typeface="Cambria Math" panose="02040503050406030204" charset="0"/>
                            <a:cs typeface="Cambria Math" panose="02040503050406030204" charset="0"/>
                          </a:rPr>
                        </m:ctrlPr>
                      </m:sSubSupPr>
                      <m:e>
                        <m:r>
                          <a:rPr lang="en-US" altLang="zh-CN" i="1">
                            <a:solidFill>
                              <a:srgbClr val="7030A0"/>
                            </a:solidFill>
                            <a:latin typeface="Cambria Math" panose="02040503050406030204" charset="0"/>
                            <a:cs typeface="Cambria Math" panose="02040503050406030204" charset="0"/>
                          </a:rPr>
                          <m:t>𝑞</m:t>
                        </m:r>
                      </m:e>
                      <m:sub>
                        <m:r>
                          <a:rPr lang="en-US" altLang="zh-CN" i="1">
                            <a:solidFill>
                              <a:srgbClr val="7030A0"/>
                            </a:solidFill>
                            <a:latin typeface="Cambria Math" panose="02040503050406030204" charset="0"/>
                            <a:cs typeface="Cambria Math" panose="02040503050406030204" charset="0"/>
                          </a:rPr>
                          <m:t>𝑡</m:t>
                        </m:r>
                      </m:sub>
                      <m:sup>
                        <m:r>
                          <a:rPr lang="en-US" altLang="zh-CN" i="1">
                            <a:solidFill>
                              <a:srgbClr val="7030A0"/>
                            </a:solidFill>
                            <a:latin typeface="Cambria Math" panose="02040503050406030204" charset="0"/>
                            <a:cs typeface="Cambria Math" panose="02040503050406030204" charset="0"/>
                          </a:rPr>
                          <m:t>𝑖</m:t>
                        </m:r>
                      </m:sup>
                    </m:sSub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a14:m>
                <a:r>
                  <a:rPr lang="en-US" altLang="zh-CN">
                    <a:latin typeface="+mj-lt"/>
                    <a:cs typeface="+mj-lt"/>
                  </a:rPr>
                  <a:t>; (</a:t>
                </a:r>
                <a:r>
                  <a:rPr lang="en-US" altLang="zh-CN" i="1">
                    <a:latin typeface="+mj-lt"/>
                    <a:cs typeface="+mj-lt"/>
                  </a:rPr>
                  <a:t>ii</a:t>
                </a:r>
                <a:r>
                  <a:rPr lang="en-US" altLang="zh-CN">
                    <a:latin typeface="+mj-lt"/>
                    <a:cs typeface="+mj-lt"/>
                  </a:rPr>
                  <a:t>) the transshipment quantity from retailer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mj-lt"/>
                    <a:cs typeface="+mj-lt"/>
                  </a:rPr>
                  <a:t> to retailer </a:t>
                </a:r>
                <a14:m>
                  <m:oMath xmlns:m="http://schemas.openxmlformats.org/officeDocument/2006/math">
                    <m:r>
                      <a:rPr lang="en-US" altLang="zh-CN" i="1">
                        <a:latin typeface="Cambria Math" panose="02040503050406030204" charset="0"/>
                        <a:cs typeface="Cambria Math" panose="02040503050406030204" charset="0"/>
                      </a:rPr>
                      <m:t>𝑗</m:t>
                    </m:r>
                  </m:oMath>
                </a14:m>
                <a:r>
                  <a:rPr lang="en-US" altLang="zh-CN">
                    <a:latin typeface="+mj-lt"/>
                    <a:cs typeface="+mj-lt"/>
                  </a:rPr>
                  <a:t> as </a:t>
                </a:r>
                <a14:m>
                  <m:oMath xmlns:m="http://schemas.openxmlformats.org/officeDocument/2006/math">
                    <m:sSubSup>
                      <m:sSubSupPr>
                        <m:ctrlPr>
                          <a:rPr lang="en-US" altLang="zh-CN" i="1">
                            <a:solidFill>
                              <a:schemeClr val="accent6">
                                <a:lumMod val="75000"/>
                              </a:schemeClr>
                            </a:solidFill>
                            <a:latin typeface="Cambria Math" panose="02040503050406030204" charset="0"/>
                            <a:cs typeface="Cambria Math" panose="02040503050406030204" charset="0"/>
                          </a:rPr>
                        </m:ctrlPr>
                      </m:sSubSupPr>
                      <m:e>
                        <m:r>
                          <a:rPr lang="en-US" altLang="zh-CN" i="1">
                            <a:solidFill>
                              <a:schemeClr val="accent6">
                                <a:lumMod val="75000"/>
                              </a:schemeClr>
                            </a:solidFill>
                            <a:latin typeface="Cambria Math" panose="02040503050406030204" charset="0"/>
                            <a:cs typeface="Cambria Math" panose="02040503050406030204" charset="0"/>
                          </a:rPr>
                          <m:t>𝑧</m:t>
                        </m:r>
                      </m:e>
                      <m:sub>
                        <m:r>
                          <a:rPr lang="en-US" altLang="zh-CN" i="1">
                            <a:solidFill>
                              <a:schemeClr val="accent6">
                                <a:lumMod val="75000"/>
                              </a:schemeClr>
                            </a:solidFill>
                            <a:latin typeface="Cambria Math" panose="02040503050406030204" charset="0"/>
                            <a:cs typeface="Cambria Math" panose="02040503050406030204" charset="0"/>
                          </a:rPr>
                          <m:t>𝑡</m:t>
                        </m:r>
                      </m:sub>
                      <m:sup>
                        <m:r>
                          <a:rPr lang="en-US" altLang="zh-CN" i="1">
                            <a:solidFill>
                              <a:schemeClr val="accent6">
                                <a:lumMod val="75000"/>
                              </a:schemeClr>
                            </a:solidFill>
                            <a:latin typeface="Cambria Math" panose="02040503050406030204" charset="0"/>
                            <a:cs typeface="Cambria Math" panose="02040503050406030204" charset="0"/>
                          </a:rPr>
                          <m:t>𝑖𝑗</m:t>
                        </m:r>
                      </m:sup>
                    </m:sSub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a14:m>
                <a:r>
                  <a:rPr lang="en-US" altLang="zh-CN">
                    <a:latin typeface="+mj-lt"/>
                    <a:cs typeface="+mj-lt"/>
                  </a:rPr>
                  <a:t>. At each time period, the inventory transition can be formulated as:</a:t>
                </a:r>
                <a:endParaRPr lang="en-US" altLang="zh-CN">
                  <a:latin typeface="+mj-lt"/>
                  <a:cs typeface="+mj-lt"/>
                </a:endParaRPr>
              </a:p>
            </p:txBody>
          </p:sp>
        </mc:Choice>
        <mc:Fallback>
          <p:sp>
            <p:nvSpPr>
              <p:cNvPr id="4" name="文本框 3"/>
              <p:cNvSpPr txBox="1">
                <a:spLocks noRot="1" noChangeAspect="1" noMove="1" noResize="1" noEditPoints="1" noAdjustHandles="1" noChangeArrowheads="1" noChangeShapeType="1" noTextEdit="1"/>
              </p:cNvSpPr>
              <p:nvPr/>
            </p:nvSpPr>
            <p:spPr>
              <a:xfrm>
                <a:off x="639445" y="1830070"/>
                <a:ext cx="10858500" cy="12312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39445" y="4305935"/>
                <a:ext cx="10859135" cy="471805"/>
              </a:xfrm>
              <a:prstGeom prst="rect">
                <a:avLst/>
              </a:prstGeom>
              <a:noFill/>
            </p:spPr>
            <p:txBody>
              <a:bodyPr wrap="square" rtlCol="0">
                <a:spAutoFit/>
              </a:bodyPr>
              <a:lstStyle/>
              <a:p>
                <a:pPr marL="285750" indent="-285750" fontAlgn="auto">
                  <a:lnSpc>
                    <a:spcPct val="125000"/>
                  </a:lnSpc>
                  <a:buFont typeface="Arial" panose="020B0604020202020204" pitchFamily="34" charset="0"/>
                  <a:buChar char="•"/>
                </a:pPr>
                <a:r>
                  <a:rPr lang="en-US" altLang="zh-CN">
                    <a:latin typeface="+mj-lt"/>
                    <a:cs typeface="+mj-lt"/>
                  </a:rPr>
                  <a:t>The revenue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𝑅𝑉</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m:t>
                        </m:r>
                      </m:sup>
                    </m:sSubSup>
                  </m:oMath>
                </a14:m>
                <a:r>
                  <a:rPr lang="en-US" altLang="zh-CN">
                    <a:latin typeface="+mj-lt"/>
                    <a:cs typeface="+mj-lt"/>
                  </a:rPr>
                  <a:t> of retailer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mj-lt"/>
                    <a:cs typeface="+mj-lt"/>
                  </a:rPr>
                  <a:t> at period </a:t>
                </a:r>
                <a14:m>
                  <m:oMath xmlns:m="http://schemas.openxmlformats.org/officeDocument/2006/math">
                    <m:r>
                      <a:rPr lang="en-US" altLang="zh-CN" i="1">
                        <a:latin typeface="Cambria Math" panose="02040503050406030204" charset="0"/>
                        <a:cs typeface="Cambria Math" panose="02040503050406030204" charset="0"/>
                      </a:rPr>
                      <m:t>𝑡</m:t>
                    </m:r>
                  </m:oMath>
                </a14:m>
                <a:r>
                  <a:rPr lang="en-US" altLang="zh-CN">
                    <a:latin typeface="+mj-lt"/>
                    <a:cs typeface="+mj-lt"/>
                  </a:rPr>
                  <a:t> is given as follows:</a:t>
                </a:r>
                <a:endParaRPr lang="en-US" altLang="zh-CN">
                  <a:latin typeface="+mj-lt"/>
                  <a:cs typeface="+mj-lt"/>
                </a:endParaRPr>
              </a:p>
            </p:txBody>
          </p:sp>
        </mc:Choice>
        <mc:Fallback>
          <p:sp>
            <p:nvSpPr>
              <p:cNvPr id="13" name="文本框 12"/>
              <p:cNvSpPr txBox="1">
                <a:spLocks noRot="1" noChangeAspect="1" noMove="1" noResize="1" noEditPoints="1" noAdjustHandles="1" noChangeArrowheads="1" noChangeShapeType="1" noTextEdit="1"/>
              </p:cNvSpPr>
              <p:nvPr/>
            </p:nvSpPr>
            <p:spPr>
              <a:xfrm>
                <a:off x="639445" y="4305935"/>
                <a:ext cx="10859135" cy="471805"/>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43" name="组合 42"/>
          <p:cNvGrpSpPr/>
          <p:nvPr/>
        </p:nvGrpSpPr>
        <p:grpSpPr>
          <a:xfrm>
            <a:off x="1932305" y="4917440"/>
            <a:ext cx="8780780" cy="1692910"/>
            <a:chOff x="3043" y="7744"/>
            <a:chExt cx="13828" cy="2666"/>
          </a:xfrm>
        </p:grpSpPr>
        <p:pic>
          <p:nvPicPr>
            <p:cNvPr id="15" name="图片 14"/>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3043" y="7744"/>
              <a:ext cx="13828" cy="686"/>
            </a:xfrm>
            <a:prstGeom prst="rect">
              <a:avLst/>
            </a:prstGeom>
          </p:spPr>
        </p:pic>
        <p:cxnSp>
          <p:nvCxnSpPr>
            <p:cNvPr id="18" name="直接连接符 17"/>
            <p:cNvCxnSpPr/>
            <p:nvPr/>
          </p:nvCxnSpPr>
          <p:spPr>
            <a:xfrm>
              <a:off x="4208" y="8357"/>
              <a:ext cx="1978" cy="0"/>
            </a:xfrm>
            <a:prstGeom prst="line">
              <a:avLst/>
            </a:prstGeom>
            <a:ln w="19050">
              <a:solidFill>
                <a:schemeClr val="accent3">
                  <a:lumMod val="75000"/>
                </a:schemeClr>
              </a:solidFill>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4111" y="8381"/>
              <a:ext cx="2075" cy="434"/>
            </a:xfrm>
            <a:prstGeom prst="rect">
              <a:avLst/>
            </a:prstGeom>
            <a:noFill/>
          </p:spPr>
          <p:txBody>
            <a:bodyPr wrap="square" rtlCol="0">
              <a:spAutoFit/>
            </a:bodyPr>
            <a:lstStyle/>
            <a:p>
              <a:pPr algn="ctr"/>
              <a:r>
                <a:rPr lang="en-US" altLang="zh-CN" sz="1200">
                  <a:solidFill>
                    <a:schemeClr val="accent3">
                      <a:lumMod val="75000"/>
                    </a:schemeClr>
                  </a:solidFill>
                </a:rPr>
                <a:t>selling income</a:t>
              </a:r>
              <a:endParaRPr lang="en-US" altLang="zh-CN" sz="1200">
                <a:solidFill>
                  <a:schemeClr val="accent3">
                    <a:lumMod val="75000"/>
                  </a:schemeClr>
                </a:solidFill>
              </a:endParaRPr>
            </a:p>
          </p:txBody>
        </p:sp>
        <p:cxnSp>
          <p:nvCxnSpPr>
            <p:cNvPr id="20" name="直接连接符 19"/>
            <p:cNvCxnSpPr/>
            <p:nvPr/>
          </p:nvCxnSpPr>
          <p:spPr>
            <a:xfrm>
              <a:off x="6506" y="8357"/>
              <a:ext cx="2982"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6768" y="8381"/>
              <a:ext cx="2539" cy="434"/>
            </a:xfrm>
            <a:prstGeom prst="rect">
              <a:avLst/>
            </a:prstGeom>
            <a:noFill/>
          </p:spPr>
          <p:txBody>
            <a:bodyPr wrap="square" rtlCol="0">
              <a:spAutoFit/>
            </a:bodyPr>
            <a:lstStyle/>
            <a:p>
              <a:pPr algn="ctr"/>
              <a:r>
                <a:rPr lang="en-US" altLang="zh-CN" sz="1200">
                  <a:solidFill>
                    <a:srgbClr val="0070C0"/>
                  </a:solidFill>
                  <a:cs typeface="+mn-lt"/>
                </a:rPr>
                <a:t>ordering cost</a:t>
              </a:r>
              <a:endParaRPr lang="en-US" altLang="zh-CN" sz="1200">
                <a:solidFill>
                  <a:srgbClr val="0070C0"/>
                </a:solidFill>
                <a:cs typeface="+mn-lt"/>
              </a:endParaRPr>
            </a:p>
          </p:txBody>
        </p:sp>
        <p:pic>
          <p:nvPicPr>
            <p:cNvPr id="29" name="图片 28"/>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5192" y="8952"/>
              <a:ext cx="8829" cy="1069"/>
            </a:xfrm>
            <a:prstGeom prst="rect">
              <a:avLst/>
            </a:prstGeom>
          </p:spPr>
        </p:pic>
        <p:cxnSp>
          <p:nvCxnSpPr>
            <p:cNvPr id="23" name="直接连接符 22"/>
            <p:cNvCxnSpPr/>
            <p:nvPr/>
          </p:nvCxnSpPr>
          <p:spPr>
            <a:xfrm>
              <a:off x="9865" y="8357"/>
              <a:ext cx="1928"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9498" y="8381"/>
              <a:ext cx="2539" cy="434"/>
            </a:xfrm>
            <a:prstGeom prst="rect">
              <a:avLst/>
            </a:prstGeom>
            <a:noFill/>
          </p:spPr>
          <p:txBody>
            <a:bodyPr wrap="square" rtlCol="0">
              <a:spAutoFit/>
            </a:bodyPr>
            <a:lstStyle/>
            <a:p>
              <a:pPr algn="ctr"/>
              <a:r>
                <a:rPr lang="en-US" altLang="zh-CN" sz="1200">
                  <a:solidFill>
                    <a:srgbClr val="0070C0"/>
                  </a:solidFill>
                  <a:cs typeface="+mn-lt"/>
                </a:rPr>
                <a:t>holding cost</a:t>
              </a:r>
              <a:endParaRPr lang="en-US" altLang="zh-CN" sz="1200">
                <a:solidFill>
                  <a:srgbClr val="0070C0"/>
                </a:solidFill>
                <a:cs typeface="+mn-lt"/>
              </a:endParaRPr>
            </a:p>
          </p:txBody>
        </p:sp>
        <p:sp>
          <p:nvSpPr>
            <p:cNvPr id="25" name="文本框 24"/>
            <p:cNvSpPr txBox="1"/>
            <p:nvPr/>
          </p:nvSpPr>
          <p:spPr>
            <a:xfrm>
              <a:off x="11755" y="8381"/>
              <a:ext cx="2539" cy="434"/>
            </a:xfrm>
            <a:prstGeom prst="rect">
              <a:avLst/>
            </a:prstGeom>
            <a:noFill/>
          </p:spPr>
          <p:txBody>
            <a:bodyPr wrap="square" rtlCol="0">
              <a:spAutoFit/>
            </a:bodyPr>
            <a:lstStyle/>
            <a:p>
              <a:pPr algn="ctr"/>
              <a:r>
                <a:rPr lang="en-US" altLang="zh-CN" sz="1200">
                  <a:solidFill>
                    <a:srgbClr val="0070C0"/>
                  </a:solidFill>
                  <a:cs typeface="+mn-lt"/>
                </a:rPr>
                <a:t>stock-out cost</a:t>
              </a:r>
              <a:endParaRPr lang="en-US" altLang="zh-CN" sz="1200">
                <a:solidFill>
                  <a:srgbClr val="0070C0"/>
                </a:solidFill>
                <a:cs typeface="+mn-lt"/>
              </a:endParaRPr>
            </a:p>
          </p:txBody>
        </p:sp>
        <p:cxnSp>
          <p:nvCxnSpPr>
            <p:cNvPr id="26" name="直接连接符 25"/>
            <p:cNvCxnSpPr/>
            <p:nvPr/>
          </p:nvCxnSpPr>
          <p:spPr>
            <a:xfrm>
              <a:off x="12173" y="8357"/>
              <a:ext cx="1928"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6598" y="9766"/>
              <a:ext cx="2338" cy="644"/>
            </a:xfrm>
            <a:prstGeom prst="rect">
              <a:avLst/>
            </a:prstGeom>
            <a:noFill/>
          </p:spPr>
          <p:txBody>
            <a:bodyPr wrap="square" rtlCol="0">
              <a:spAutoFit/>
            </a:bodyPr>
            <a:lstStyle/>
            <a:p>
              <a:pPr indent="0" algn="ctr" fontAlgn="auto">
                <a:lnSpc>
                  <a:spcPts val="1240"/>
                </a:lnSpc>
              </a:pPr>
              <a:r>
                <a:rPr lang="en-US" altLang="zh-CN" sz="1200">
                  <a:solidFill>
                    <a:schemeClr val="accent3">
                      <a:lumMod val="75000"/>
                    </a:schemeClr>
                  </a:solidFill>
                </a:rPr>
                <a:t>trans-out income</a:t>
              </a:r>
              <a:endParaRPr lang="en-US" altLang="zh-CN" sz="1200">
                <a:solidFill>
                  <a:schemeClr val="accent3">
                    <a:lumMod val="75000"/>
                  </a:schemeClr>
                </a:solidFill>
              </a:endParaRPr>
            </a:p>
            <a:p>
              <a:pPr indent="0" algn="ctr" fontAlgn="auto">
                <a:lnSpc>
                  <a:spcPts val="1240"/>
                </a:lnSpc>
              </a:pPr>
              <a:r>
                <a:rPr lang="en-US" altLang="zh-CN" sz="1200">
                  <a:solidFill>
                    <a:schemeClr val="accent3">
                      <a:lumMod val="75000"/>
                    </a:schemeClr>
                  </a:solidFill>
                </a:rPr>
                <a:t>(from sending)</a:t>
              </a:r>
              <a:endParaRPr lang="en-US" altLang="zh-CN" sz="1200">
                <a:solidFill>
                  <a:schemeClr val="accent3">
                    <a:lumMod val="75000"/>
                  </a:schemeClr>
                </a:solidFill>
              </a:endParaRPr>
            </a:p>
          </p:txBody>
        </p:sp>
        <p:cxnSp>
          <p:nvCxnSpPr>
            <p:cNvPr id="28" name="直接连接符 27"/>
            <p:cNvCxnSpPr/>
            <p:nvPr/>
          </p:nvCxnSpPr>
          <p:spPr>
            <a:xfrm>
              <a:off x="6958" y="9722"/>
              <a:ext cx="1617" cy="0"/>
            </a:xfrm>
            <a:prstGeom prst="line">
              <a:avLst/>
            </a:prstGeom>
            <a:ln w="19050">
              <a:solidFill>
                <a:schemeClr val="accent3">
                  <a:lumMod val="75000"/>
                </a:schemeClr>
              </a:solidFill>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10211" y="9766"/>
              <a:ext cx="2150" cy="644"/>
            </a:xfrm>
            <a:prstGeom prst="rect">
              <a:avLst/>
            </a:prstGeom>
            <a:noFill/>
          </p:spPr>
          <p:txBody>
            <a:bodyPr wrap="square" rtlCol="0">
              <a:spAutoFit/>
            </a:bodyPr>
            <a:lstStyle/>
            <a:p>
              <a:pPr indent="0" algn="ctr" fontAlgn="auto">
                <a:lnSpc>
                  <a:spcPts val="1240"/>
                </a:lnSpc>
              </a:pPr>
              <a:r>
                <a:rPr lang="en-US" altLang="zh-CN" sz="1200">
                  <a:solidFill>
                    <a:srgbClr val="0070C0"/>
                  </a:solidFill>
                </a:rPr>
                <a:t>trans-in cost (from receiving)</a:t>
              </a:r>
              <a:endParaRPr lang="en-US" altLang="zh-CN" sz="1200">
                <a:solidFill>
                  <a:srgbClr val="0070C0"/>
                </a:solidFill>
              </a:endParaRPr>
            </a:p>
          </p:txBody>
        </p:sp>
        <p:cxnSp>
          <p:nvCxnSpPr>
            <p:cNvPr id="31" name="直接连接符 30"/>
            <p:cNvCxnSpPr/>
            <p:nvPr/>
          </p:nvCxnSpPr>
          <p:spPr>
            <a:xfrm>
              <a:off x="9156" y="9722"/>
              <a:ext cx="4487" cy="0"/>
            </a:xfrm>
            <a:prstGeom prst="line">
              <a:avLst/>
            </a:prstGeom>
            <a:ln w="19050">
              <a:solidFill>
                <a:srgbClr val="0070C0"/>
              </a:solidFill>
            </a:ln>
          </p:spPr>
          <p:style>
            <a:lnRef idx="2">
              <a:schemeClr val="accent1"/>
            </a:lnRef>
            <a:fillRef idx="0">
              <a:srgbClr val="FFFFFF"/>
            </a:fillRef>
            <a:effectRef idx="0">
              <a:srgbClr val="FFFFFF"/>
            </a:effectRef>
            <a:fontRef idx="minor">
              <a:schemeClr val="tx1"/>
            </a:fontRef>
          </p:style>
        </p:cxnSp>
      </p:grpSp>
      <p:grpSp>
        <p:nvGrpSpPr>
          <p:cNvPr id="14" name="组合 13"/>
          <p:cNvGrpSpPr/>
          <p:nvPr/>
        </p:nvGrpSpPr>
        <p:grpSpPr>
          <a:xfrm>
            <a:off x="9466580" y="3066415"/>
            <a:ext cx="1780540" cy="1052830"/>
            <a:chOff x="7311" y="4548"/>
            <a:chExt cx="2804" cy="1658"/>
          </a:xfrm>
        </p:grpSpPr>
        <p:pic>
          <p:nvPicPr>
            <p:cNvPr id="10" name="图片 9" descr="物流存储"/>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457" y="4548"/>
              <a:ext cx="518" cy="465"/>
            </a:xfrm>
            <a:prstGeom prst="rect">
              <a:avLst/>
            </a:prstGeom>
            <a:effectLst>
              <a:outerShdw blurRad="63500" sx="102000" sy="102000" algn="ctr" rotWithShape="0">
                <a:prstClr val="black">
                  <a:alpha val="40000"/>
                </a:prstClr>
              </a:outerShdw>
            </a:effectLst>
          </p:spPr>
        </p:pic>
        <p:pic>
          <p:nvPicPr>
            <p:cNvPr id="16" name="图片 15" descr="商店"/>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11" y="5370"/>
              <a:ext cx="469" cy="469"/>
            </a:xfrm>
            <a:prstGeom prst="rect">
              <a:avLst/>
            </a:prstGeom>
            <a:effectLst>
              <a:outerShdw blurRad="63500" sx="102000" sy="102000" algn="ctr" rotWithShape="0">
                <a:prstClr val="black">
                  <a:alpha val="40000"/>
                </a:prstClr>
              </a:outerShdw>
            </a:effectLst>
          </p:spPr>
        </p:pic>
        <p:pic>
          <p:nvPicPr>
            <p:cNvPr id="17" name="图片 16" descr="商店"/>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79" y="5370"/>
              <a:ext cx="469" cy="469"/>
            </a:xfrm>
            <a:prstGeom prst="rect">
              <a:avLst/>
            </a:prstGeom>
            <a:effectLst>
              <a:outerShdw blurRad="63500" sx="102000" sy="102000" algn="ctr" rotWithShape="0">
                <a:prstClr val="black">
                  <a:alpha val="40000"/>
                </a:prstClr>
              </a:outerShdw>
            </a:effectLst>
          </p:spPr>
        </p:pic>
        <p:cxnSp>
          <p:nvCxnSpPr>
            <p:cNvPr id="12" name="直接箭头连接符 11"/>
            <p:cNvCxnSpPr/>
            <p:nvPr/>
          </p:nvCxnSpPr>
          <p:spPr>
            <a:xfrm>
              <a:off x="8947" y="4868"/>
              <a:ext cx="907" cy="483"/>
            </a:xfrm>
            <a:prstGeom prst="straightConnector1">
              <a:avLst/>
            </a:prstGeom>
            <a:ln>
              <a:solidFill>
                <a:schemeClr val="tx1"/>
              </a:solidFill>
              <a:prstDash val="dashDot"/>
              <a:headEnd type="none"/>
              <a:tailEnd type="triangle" w="med" len="med"/>
            </a:ln>
          </p:spPr>
          <p:style>
            <a:lnRef idx="2">
              <a:schemeClr val="accent1"/>
            </a:lnRef>
            <a:fillRef idx="0">
              <a:srgbClr val="FFFFFF"/>
            </a:fillRef>
            <a:effectRef idx="0">
              <a:srgbClr val="FFFFFF"/>
            </a:effectRef>
            <a:fontRef idx="minor">
              <a:schemeClr val="tx1"/>
            </a:fontRef>
          </p:style>
        </p:cxnSp>
        <p:pic>
          <p:nvPicPr>
            <p:cNvPr id="22" name="图片 21" descr="商店"/>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47" y="5370"/>
              <a:ext cx="469" cy="469"/>
            </a:xfrm>
            <a:prstGeom prst="rect">
              <a:avLst/>
            </a:prstGeom>
            <a:effectLst>
              <a:outerShdw blurRad="63500" sx="102000" sy="102000" algn="ctr" rotWithShape="0">
                <a:prstClr val="black">
                  <a:alpha val="40000"/>
                </a:prstClr>
              </a:outerShdw>
            </a:effectLst>
          </p:spPr>
        </p:pic>
        <p:cxnSp>
          <p:nvCxnSpPr>
            <p:cNvPr id="32" name="直接箭头连接符 31"/>
            <p:cNvCxnSpPr/>
            <p:nvPr/>
          </p:nvCxnSpPr>
          <p:spPr>
            <a:xfrm flipH="1">
              <a:off x="7597" y="4866"/>
              <a:ext cx="881" cy="482"/>
            </a:xfrm>
            <a:prstGeom prst="straightConnector1">
              <a:avLst/>
            </a:prstGeom>
            <a:ln>
              <a:solidFill>
                <a:schemeClr val="tx1"/>
              </a:solidFill>
              <a:prstDash val="dashDot"/>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6" name="直接箭头连接符 35"/>
            <p:cNvCxnSpPr>
              <a:stCxn id="10" idx="2"/>
              <a:endCxn id="17" idx="0"/>
            </p:cNvCxnSpPr>
            <p:nvPr/>
          </p:nvCxnSpPr>
          <p:spPr>
            <a:xfrm flipH="1">
              <a:off x="8714" y="5013"/>
              <a:ext cx="2" cy="357"/>
            </a:xfrm>
            <a:prstGeom prst="straightConnector1">
              <a:avLst/>
            </a:prstGeom>
            <a:ln>
              <a:solidFill>
                <a:schemeClr val="tx1"/>
              </a:solidFill>
              <a:prstDash val="dashDot"/>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7" name="文本框 36"/>
            <p:cNvSpPr txBox="1"/>
            <p:nvPr/>
          </p:nvSpPr>
          <p:spPr>
            <a:xfrm>
              <a:off x="8002" y="4987"/>
              <a:ext cx="1461" cy="337"/>
            </a:xfrm>
            <a:prstGeom prst="rect">
              <a:avLst/>
            </a:prstGeom>
            <a:noFill/>
          </p:spPr>
          <p:txBody>
            <a:bodyPr wrap="square" rtlCol="0">
              <a:spAutoFit/>
            </a:bodyPr>
            <a:lstStyle/>
            <a:p>
              <a:pPr algn="ctr"/>
              <a:r>
                <a:rPr lang="en-US" altLang="zh-CN" sz="800">
                  <a:latin typeface="Arial" panose="020B0604020202020204" pitchFamily="34" charset="0"/>
                  <a:cs typeface="Arial" panose="020B0604020202020204" pitchFamily="34" charset="0"/>
                </a:rPr>
                <a:t>replenishment</a:t>
              </a:r>
              <a:endParaRPr lang="en-US" altLang="zh-CN" sz="800">
                <a:latin typeface="Arial" panose="020B0604020202020204" pitchFamily="34" charset="0"/>
                <a:cs typeface="Arial" panose="020B0604020202020204" pitchFamily="34" charset="0"/>
              </a:endParaRPr>
            </a:p>
          </p:txBody>
        </p:sp>
        <p:cxnSp>
          <p:nvCxnSpPr>
            <p:cNvPr id="38" name="直接箭头连接符 37"/>
            <p:cNvCxnSpPr/>
            <p:nvPr/>
          </p:nvCxnSpPr>
          <p:spPr>
            <a:xfrm>
              <a:off x="7546" y="5814"/>
              <a:ext cx="0" cy="369"/>
            </a:xfrm>
            <a:prstGeom prst="straightConnector1">
              <a:avLst/>
            </a:prstGeom>
            <a:ln>
              <a:solidFill>
                <a:schemeClr val="tx1"/>
              </a:solidFill>
              <a:prstDash val="dashDot"/>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a:off x="8714" y="5814"/>
              <a:ext cx="0" cy="369"/>
            </a:xfrm>
            <a:prstGeom prst="straightConnector1">
              <a:avLst/>
            </a:prstGeom>
            <a:ln>
              <a:solidFill>
                <a:schemeClr val="tx1"/>
              </a:solidFill>
              <a:prstDash val="dashDot"/>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9882" y="5814"/>
              <a:ext cx="0" cy="369"/>
            </a:xfrm>
            <a:prstGeom prst="straightConnector1">
              <a:avLst/>
            </a:prstGeom>
            <a:ln>
              <a:solidFill>
                <a:schemeClr val="tx1"/>
              </a:solidFill>
              <a:prstDash val="dashDot"/>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a:off x="7567" y="6175"/>
              <a:ext cx="2324" cy="0"/>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42" name="文本框 41"/>
            <p:cNvSpPr txBox="1"/>
            <p:nvPr/>
          </p:nvSpPr>
          <p:spPr>
            <a:xfrm>
              <a:off x="7979" y="5870"/>
              <a:ext cx="1461" cy="337"/>
            </a:xfrm>
            <a:prstGeom prst="rect">
              <a:avLst/>
            </a:prstGeom>
            <a:noFill/>
          </p:spPr>
          <p:txBody>
            <a:bodyPr wrap="square" rtlCol="0">
              <a:spAutoFit/>
            </a:bodyPr>
            <a:lstStyle/>
            <a:p>
              <a:pPr algn="ctr"/>
              <a:r>
                <a:rPr lang="en-US" altLang="zh-CN" sz="800">
                  <a:latin typeface="Arial" panose="020B0604020202020204" pitchFamily="34" charset="0"/>
                  <a:cs typeface="Arial" panose="020B0604020202020204" pitchFamily="34" charset="0"/>
                </a:rPr>
                <a:t>transshipment</a:t>
              </a:r>
              <a:endParaRPr lang="en-US" altLang="zh-CN" sz="800">
                <a:latin typeface="Arial" panose="020B0604020202020204" pitchFamily="34" charset="0"/>
                <a:cs typeface="Arial" panose="020B0604020202020204" pitchFamily="34" charset="0"/>
              </a:endParaRPr>
            </a:p>
          </p:txBody>
        </p:sp>
      </p:grpSp>
      <mc:AlternateContent xmlns:mc="http://schemas.openxmlformats.org/markup-compatibility/2006">
        <mc:Choice xmlns:a14="http://schemas.microsoft.com/office/drawing/2010/main" Requires="a14">
          <p:sp>
            <p:nvSpPr>
              <p:cNvPr id="5" name="文本框 4"/>
              <p:cNvSpPr txBox="1"/>
              <p:nvPr/>
            </p:nvSpPr>
            <p:spPr>
              <a:xfrm>
                <a:off x="10650156" y="3059684"/>
                <a:ext cx="543560" cy="34988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sz="1600" i="1">
                              <a:solidFill>
                                <a:srgbClr val="7030A0"/>
                              </a:solidFill>
                              <a:latin typeface="Cambria Math" panose="02040503050406030204" charset="0"/>
                              <a:cs typeface="Cambria Math" panose="02040503050406030204" charset="0"/>
                            </a:rPr>
                          </m:ctrlPr>
                        </m:sSubSupPr>
                        <m:e>
                          <m:r>
                            <a:rPr lang="en-US" altLang="zh-CN" sz="1600" i="1">
                              <a:solidFill>
                                <a:srgbClr val="7030A0"/>
                              </a:solidFill>
                              <a:latin typeface="Cambria Math" panose="02040503050406030204" charset="0"/>
                              <a:cs typeface="Cambria Math" panose="02040503050406030204" charset="0"/>
                            </a:rPr>
                            <m:t>𝑞</m:t>
                          </m:r>
                        </m:e>
                        <m:sub>
                          <m:r>
                            <a:rPr lang="en-US" altLang="zh-CN" sz="1600" i="1">
                              <a:solidFill>
                                <a:srgbClr val="7030A0"/>
                              </a:solidFill>
                              <a:latin typeface="Cambria Math" panose="02040503050406030204" charset="0"/>
                              <a:cs typeface="Cambria Math" panose="02040503050406030204" charset="0"/>
                            </a:rPr>
                            <m:t>𝑡</m:t>
                          </m:r>
                          <m:r>
                            <a:rPr lang="en-US" altLang="zh-CN" sz="1600" i="1">
                              <a:solidFill>
                                <a:srgbClr val="7030A0"/>
                              </a:solidFill>
                              <a:latin typeface="Cambria Math" panose="02040503050406030204" charset="0"/>
                              <a:cs typeface="Cambria Math" panose="02040503050406030204" charset="0"/>
                            </a:rPr>
                            <m:t>−</m:t>
                          </m:r>
                          <m:r>
                            <a:rPr lang="en-US" altLang="zh-CN" sz="1600" i="1">
                              <a:solidFill>
                                <a:srgbClr val="7030A0"/>
                              </a:solidFill>
                              <a:latin typeface="Cambria Math" panose="02040503050406030204" charset="0"/>
                              <a:cs typeface="Cambria Math" panose="02040503050406030204" charset="0"/>
                            </a:rPr>
                            <m:t>𝑙</m:t>
                          </m:r>
                        </m:sub>
                        <m:sup>
                          <m:r>
                            <a:rPr lang="en-US" altLang="zh-CN" sz="1600" i="1">
                              <a:solidFill>
                                <a:srgbClr val="7030A0"/>
                              </a:solidFill>
                              <a:latin typeface="Cambria Math" panose="02040503050406030204" charset="0"/>
                              <a:cs typeface="Cambria Math" panose="02040503050406030204" charset="0"/>
                            </a:rPr>
                            <m:t>𝑖</m:t>
                          </m:r>
                        </m:sup>
                      </m:sSubSup>
                    </m:oMath>
                  </m:oMathPara>
                </a14:m>
                <a:endParaRPr lang="en-US" altLang="zh-CN" sz="1600" i="1">
                  <a:solidFill>
                    <a:srgbClr val="7030A0"/>
                  </a:solidFill>
                  <a:latin typeface="Cambria Math" panose="02040503050406030204"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0650156" y="3059684"/>
                <a:ext cx="543560" cy="349885"/>
              </a:xfrm>
              <a:prstGeom prst="rect">
                <a:avLst/>
              </a:prstGeom>
              <a:blipFill rotWithShape="1">
                <a:blip r:embed="rId13"/>
                <a:stretch>
                  <a:fillRect l="-105" t="-73" r="105" b="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9877425" y="4054475"/>
                <a:ext cx="943610" cy="38354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Sup>
                        <m:sSubSupPr>
                          <m:ctrlPr>
                            <a:rPr lang="en-US" altLang="zh-CN" sz="1600" i="1">
                              <a:solidFill>
                                <a:schemeClr val="accent6">
                                  <a:lumMod val="75000"/>
                                </a:schemeClr>
                              </a:solidFill>
                              <a:latin typeface="Cambria Math" panose="02040503050406030204" charset="0"/>
                              <a:cs typeface="Cambria Math" panose="02040503050406030204" charset="0"/>
                            </a:rPr>
                          </m:ctrlPr>
                        </m:sSubSupPr>
                        <m:e>
                          <m:r>
                            <a:rPr lang="en-US" altLang="zh-CN" sz="1600" i="1">
                              <a:solidFill>
                                <a:schemeClr val="accent6">
                                  <a:lumMod val="75000"/>
                                </a:schemeClr>
                              </a:solidFill>
                              <a:latin typeface="Cambria Math" panose="02040503050406030204" charset="0"/>
                              <a:cs typeface="Cambria Math" panose="02040503050406030204" charset="0"/>
                            </a:rPr>
                            <m:t>𝑧</m:t>
                          </m:r>
                        </m:e>
                        <m:sub>
                          <m:r>
                            <a:rPr lang="en-US" altLang="zh-CN" sz="1600" i="1">
                              <a:solidFill>
                                <a:schemeClr val="accent6">
                                  <a:lumMod val="75000"/>
                                </a:schemeClr>
                              </a:solidFill>
                              <a:latin typeface="Cambria Math" panose="02040503050406030204" charset="0"/>
                              <a:cs typeface="Cambria Math" panose="02040503050406030204" charset="0"/>
                            </a:rPr>
                            <m:t>𝑡</m:t>
                          </m:r>
                        </m:sub>
                        <m:sup>
                          <m:r>
                            <a:rPr lang="en-US" altLang="zh-CN" sz="1600" i="1">
                              <a:solidFill>
                                <a:schemeClr val="accent6">
                                  <a:lumMod val="75000"/>
                                </a:schemeClr>
                              </a:solidFill>
                              <a:latin typeface="Cambria Math" panose="02040503050406030204" charset="0"/>
                              <a:cs typeface="Cambria Math" panose="02040503050406030204" charset="0"/>
                            </a:rPr>
                            <m:t>𝑖𝑗</m:t>
                          </m:r>
                        </m:sup>
                      </m:sSubSup>
                    </m:oMath>
                  </m:oMathPara>
                </a14:m>
                <a:endParaRPr lang="en-US" altLang="zh-CN" sz="1600" i="1">
                  <a:solidFill>
                    <a:schemeClr val="accent6">
                      <a:lumMod val="75000"/>
                    </a:schemeClr>
                  </a:solidFill>
                  <a:latin typeface="Cambria Math" panose="02040503050406030204" charset="0"/>
                  <a:cs typeface="Cambria Math" panose="02040503050406030204" charset="0"/>
                </a:endParaRPr>
              </a:p>
            </p:txBody>
          </p:sp>
        </mc:Choice>
        <mc:Fallback>
          <p:sp>
            <p:nvSpPr>
              <p:cNvPr id="45" name="文本框 44"/>
              <p:cNvSpPr txBox="1">
                <a:spLocks noRot="1" noChangeAspect="1" noMove="1" noResize="1" noEditPoints="1" noAdjustHandles="1" noChangeArrowheads="1" noChangeShapeType="1" noTextEdit="1"/>
              </p:cNvSpPr>
              <p:nvPr/>
            </p:nvSpPr>
            <p:spPr>
              <a:xfrm>
                <a:off x="9877425" y="4054475"/>
                <a:ext cx="943610" cy="383540"/>
              </a:xfrm>
              <a:prstGeom prst="rect">
                <a:avLst/>
              </a:prstGeom>
              <a:blipFill rotWithShape="1">
                <a:blip r:embed="rId14"/>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250" advTm="75735">
        <p:wipe dir="d"/>
      </p:transition>
    </mc:Choice>
    <mc:Fallback>
      <p:transition advTm="75735">
        <p:wipe dir="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6" name="文本框 5"/>
          <p:cNvSpPr txBox="1"/>
          <p:nvPr/>
        </p:nvSpPr>
        <p:spPr>
          <a:xfrm>
            <a:off x="1148715" y="223520"/>
            <a:ext cx="4240530" cy="583565"/>
          </a:xfrm>
          <a:prstGeom prst="rect">
            <a:avLst/>
          </a:prstGeom>
          <a:noFill/>
        </p:spPr>
        <p:txBody>
          <a:bodyPr wrap="square" rtlCol="0">
            <a:spAutoFit/>
          </a:bodyPr>
          <a:lstStyle/>
          <a:p>
            <a:r>
              <a:rPr lang="en-US" altLang="zh-CN" sz="3200" b="1" dirty="0">
                <a:latin typeface="+mj-lt"/>
              </a:rPr>
              <a:t>Problem Definition</a:t>
            </a:r>
            <a:endParaRPr lang="zh-CN" altLang="en-US" sz="3200" b="1" dirty="0">
              <a:latin typeface="+mj-lt"/>
            </a:endParaRPr>
          </a:p>
        </p:txBody>
      </p:sp>
      <mc:AlternateContent xmlns:mc="http://schemas.openxmlformats.org/markup-compatibility/2006">
        <mc:Choice xmlns:a14="http://schemas.microsoft.com/office/drawing/2010/main" Requires="a14">
          <p:sp>
            <p:nvSpPr>
              <p:cNvPr id="13" name="文本框 12"/>
              <p:cNvSpPr txBox="1"/>
              <p:nvPr/>
            </p:nvSpPr>
            <p:spPr>
              <a:xfrm>
                <a:off x="604520" y="941070"/>
                <a:ext cx="10732135" cy="471805"/>
              </a:xfrm>
              <a:prstGeom prst="rect">
                <a:avLst/>
              </a:prstGeom>
              <a:noFill/>
            </p:spPr>
            <p:txBody>
              <a:bodyPr wrap="square" rtlCol="0">
                <a:spAutoFit/>
              </a:bodyPr>
              <a:lstStyle/>
              <a:p>
                <a:pPr marL="285750" indent="-285750" fontAlgn="auto">
                  <a:lnSpc>
                    <a:spcPct val="125000"/>
                  </a:lnSpc>
                  <a:buFont typeface="Arial" panose="020B0604020202020204" pitchFamily="34" charset="0"/>
                  <a:buChar char="•"/>
                </a:pPr>
                <a:r>
                  <a:rPr lang="en-US" altLang="zh-CN">
                    <a:latin typeface="+mj-lt"/>
                    <a:cs typeface="+mj-lt"/>
                  </a:rPr>
                  <a:t>The revenue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𝑅𝑉</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m:t>
                        </m:r>
                      </m:sup>
                    </m:sSubSup>
                  </m:oMath>
                </a14:m>
                <a:r>
                  <a:rPr lang="en-US" altLang="zh-CN">
                    <a:latin typeface="+mj-lt"/>
                    <a:cs typeface="+mj-lt"/>
                  </a:rPr>
                  <a:t> of retailer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mj-lt"/>
                    <a:cs typeface="+mj-lt"/>
                  </a:rPr>
                  <a:t> at period </a:t>
                </a:r>
                <a14:m>
                  <m:oMath xmlns:m="http://schemas.openxmlformats.org/officeDocument/2006/math">
                    <m:r>
                      <a:rPr lang="en-US" altLang="zh-CN" i="1">
                        <a:latin typeface="Cambria Math" panose="02040503050406030204" charset="0"/>
                        <a:cs typeface="Cambria Math" panose="02040503050406030204" charset="0"/>
                      </a:rPr>
                      <m:t>𝑡</m:t>
                    </m:r>
                  </m:oMath>
                </a14:m>
                <a:r>
                  <a:rPr lang="en-US" altLang="zh-CN">
                    <a:latin typeface="+mj-lt"/>
                    <a:cs typeface="+mj-lt"/>
                  </a:rPr>
                  <a:t> is given as follows:</a:t>
                </a:r>
                <a:endParaRPr lang="en-US" altLang="zh-CN">
                  <a:latin typeface="+mj-lt"/>
                  <a:cs typeface="+mj-lt"/>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4520" y="941070"/>
                <a:ext cx="10732135" cy="471805"/>
              </a:xfrm>
              <a:prstGeom prst="rect">
                <a:avLst/>
              </a:prstGeom>
              <a:blipFill rotWithShape="1">
                <a:blip r:embed="rId1"/>
                <a:stretch>
                  <a:fillRect/>
                </a:stretch>
              </a:blipFill>
            </p:spPr>
            <p:txBody>
              <a:bodyPr/>
              <a:lstStyle/>
              <a:p>
                <a:r>
                  <a:rPr lang="zh-CN" altLang="en-US">
                    <a:noFill/>
                  </a:rPr>
                  <a:t> </a:t>
                </a:r>
              </a:p>
            </p:txBody>
          </p:sp>
        </mc:Fallback>
      </mc:AlternateContent>
      <p:grpSp>
        <p:nvGrpSpPr>
          <p:cNvPr id="4" name="组合 3"/>
          <p:cNvGrpSpPr/>
          <p:nvPr/>
        </p:nvGrpSpPr>
        <p:grpSpPr>
          <a:xfrm>
            <a:off x="1932305" y="1482090"/>
            <a:ext cx="8780780" cy="1372870"/>
            <a:chOff x="3043" y="2679"/>
            <a:chExt cx="13828" cy="2162"/>
          </a:xfrm>
        </p:grpSpPr>
        <p:pic>
          <p:nvPicPr>
            <p:cNvPr id="15" name="图片 1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3043" y="2679"/>
              <a:ext cx="13828" cy="686"/>
            </a:xfrm>
            <a:prstGeom prst="rect">
              <a:avLst/>
            </a:prstGeom>
          </p:spPr>
        </p:pic>
        <p:cxnSp>
          <p:nvCxnSpPr>
            <p:cNvPr id="18" name="直接连接符 17"/>
            <p:cNvCxnSpPr/>
            <p:nvPr/>
          </p:nvCxnSpPr>
          <p:spPr>
            <a:xfrm>
              <a:off x="4208" y="3292"/>
              <a:ext cx="1978" cy="0"/>
            </a:xfrm>
            <a:prstGeom prst="line">
              <a:avLst/>
            </a:prstGeom>
            <a:ln w="19050">
              <a:solidFill>
                <a:schemeClr val="accent3">
                  <a:lumMod val="75000"/>
                </a:schemeClr>
              </a:solidFill>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4111" y="3316"/>
              <a:ext cx="2075" cy="434"/>
            </a:xfrm>
            <a:prstGeom prst="rect">
              <a:avLst/>
            </a:prstGeom>
            <a:noFill/>
          </p:spPr>
          <p:txBody>
            <a:bodyPr wrap="square" rtlCol="0">
              <a:spAutoFit/>
            </a:bodyPr>
            <a:lstStyle/>
            <a:p>
              <a:pPr algn="ctr"/>
              <a:r>
                <a:rPr lang="en-US" altLang="zh-CN" sz="1200">
                  <a:solidFill>
                    <a:schemeClr val="accent3">
                      <a:lumMod val="75000"/>
                    </a:schemeClr>
                  </a:solidFill>
                </a:rPr>
                <a:t>selling income</a:t>
              </a:r>
              <a:endParaRPr lang="en-US" altLang="zh-CN" sz="1200">
                <a:solidFill>
                  <a:schemeClr val="accent3">
                    <a:lumMod val="75000"/>
                  </a:schemeClr>
                </a:solidFill>
              </a:endParaRPr>
            </a:p>
          </p:txBody>
        </p:sp>
        <p:cxnSp>
          <p:nvCxnSpPr>
            <p:cNvPr id="20" name="直接连接符 19"/>
            <p:cNvCxnSpPr/>
            <p:nvPr/>
          </p:nvCxnSpPr>
          <p:spPr>
            <a:xfrm>
              <a:off x="6506" y="3292"/>
              <a:ext cx="2982"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6768" y="3316"/>
              <a:ext cx="2539" cy="434"/>
            </a:xfrm>
            <a:prstGeom prst="rect">
              <a:avLst/>
            </a:prstGeom>
            <a:noFill/>
          </p:spPr>
          <p:txBody>
            <a:bodyPr wrap="square" rtlCol="0">
              <a:spAutoFit/>
            </a:bodyPr>
            <a:lstStyle/>
            <a:p>
              <a:pPr algn="ctr"/>
              <a:r>
                <a:rPr lang="en-US" altLang="zh-CN" sz="1200">
                  <a:solidFill>
                    <a:srgbClr val="0070C0"/>
                  </a:solidFill>
                  <a:cs typeface="+mn-lt"/>
                </a:rPr>
                <a:t>ordering cost</a:t>
              </a:r>
              <a:endParaRPr lang="en-US" altLang="zh-CN" sz="1200">
                <a:solidFill>
                  <a:srgbClr val="0070C0"/>
                </a:solidFill>
                <a:cs typeface="+mn-lt"/>
              </a:endParaRPr>
            </a:p>
          </p:txBody>
        </p:sp>
        <p:pic>
          <p:nvPicPr>
            <p:cNvPr id="29" name="图片 28"/>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5192" y="3637"/>
              <a:ext cx="8829" cy="1069"/>
            </a:xfrm>
            <a:prstGeom prst="rect">
              <a:avLst/>
            </a:prstGeom>
          </p:spPr>
        </p:pic>
        <p:cxnSp>
          <p:nvCxnSpPr>
            <p:cNvPr id="23" name="直接连接符 22"/>
            <p:cNvCxnSpPr/>
            <p:nvPr/>
          </p:nvCxnSpPr>
          <p:spPr>
            <a:xfrm>
              <a:off x="9865" y="3292"/>
              <a:ext cx="1928"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9498" y="3316"/>
              <a:ext cx="2539" cy="434"/>
            </a:xfrm>
            <a:prstGeom prst="rect">
              <a:avLst/>
            </a:prstGeom>
            <a:noFill/>
          </p:spPr>
          <p:txBody>
            <a:bodyPr wrap="square" rtlCol="0">
              <a:spAutoFit/>
            </a:bodyPr>
            <a:lstStyle/>
            <a:p>
              <a:pPr algn="ctr"/>
              <a:r>
                <a:rPr lang="en-US" altLang="zh-CN" sz="1200">
                  <a:solidFill>
                    <a:srgbClr val="0070C0"/>
                  </a:solidFill>
                  <a:cs typeface="+mn-lt"/>
                </a:rPr>
                <a:t>holding cost</a:t>
              </a:r>
              <a:endParaRPr lang="en-US" altLang="zh-CN" sz="1200">
                <a:solidFill>
                  <a:srgbClr val="0070C0"/>
                </a:solidFill>
                <a:cs typeface="+mn-lt"/>
              </a:endParaRPr>
            </a:p>
          </p:txBody>
        </p:sp>
        <p:sp>
          <p:nvSpPr>
            <p:cNvPr id="25" name="文本框 24"/>
            <p:cNvSpPr txBox="1"/>
            <p:nvPr/>
          </p:nvSpPr>
          <p:spPr>
            <a:xfrm>
              <a:off x="11755" y="3316"/>
              <a:ext cx="2539" cy="434"/>
            </a:xfrm>
            <a:prstGeom prst="rect">
              <a:avLst/>
            </a:prstGeom>
            <a:noFill/>
          </p:spPr>
          <p:txBody>
            <a:bodyPr wrap="square" rtlCol="0">
              <a:spAutoFit/>
            </a:bodyPr>
            <a:lstStyle/>
            <a:p>
              <a:pPr algn="ctr"/>
              <a:r>
                <a:rPr lang="en-US" altLang="zh-CN" sz="1200">
                  <a:solidFill>
                    <a:srgbClr val="0070C0"/>
                  </a:solidFill>
                  <a:cs typeface="+mn-lt"/>
                </a:rPr>
                <a:t>stock-out cost</a:t>
              </a:r>
              <a:endParaRPr lang="en-US" altLang="zh-CN" sz="1200">
                <a:solidFill>
                  <a:srgbClr val="0070C0"/>
                </a:solidFill>
                <a:cs typeface="+mn-lt"/>
              </a:endParaRPr>
            </a:p>
          </p:txBody>
        </p:sp>
        <p:cxnSp>
          <p:nvCxnSpPr>
            <p:cNvPr id="26" name="直接连接符 25"/>
            <p:cNvCxnSpPr/>
            <p:nvPr/>
          </p:nvCxnSpPr>
          <p:spPr>
            <a:xfrm>
              <a:off x="12173" y="3292"/>
              <a:ext cx="1928"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6598" y="4407"/>
              <a:ext cx="2338" cy="434"/>
            </a:xfrm>
            <a:prstGeom prst="rect">
              <a:avLst/>
            </a:prstGeom>
            <a:noFill/>
          </p:spPr>
          <p:txBody>
            <a:bodyPr wrap="square" rtlCol="0">
              <a:spAutoFit/>
            </a:bodyPr>
            <a:lstStyle/>
            <a:p>
              <a:pPr algn="ctr"/>
              <a:r>
                <a:rPr lang="en-US" altLang="zh-CN" sz="1200">
                  <a:solidFill>
                    <a:schemeClr val="accent3">
                      <a:lumMod val="75000"/>
                    </a:schemeClr>
                  </a:solidFill>
                </a:rPr>
                <a:t>trans-out income</a:t>
              </a:r>
              <a:endParaRPr lang="en-US" altLang="zh-CN" sz="1200">
                <a:solidFill>
                  <a:schemeClr val="accent3">
                    <a:lumMod val="75000"/>
                  </a:schemeClr>
                </a:solidFill>
              </a:endParaRPr>
            </a:p>
          </p:txBody>
        </p:sp>
        <p:cxnSp>
          <p:nvCxnSpPr>
            <p:cNvPr id="28" name="直接连接符 27"/>
            <p:cNvCxnSpPr/>
            <p:nvPr/>
          </p:nvCxnSpPr>
          <p:spPr>
            <a:xfrm>
              <a:off x="6958" y="4407"/>
              <a:ext cx="1617" cy="0"/>
            </a:xfrm>
            <a:prstGeom prst="line">
              <a:avLst/>
            </a:prstGeom>
            <a:ln w="19050">
              <a:solidFill>
                <a:schemeClr val="accent3">
                  <a:lumMod val="75000"/>
                </a:schemeClr>
              </a:solidFill>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10276" y="4407"/>
              <a:ext cx="1983" cy="434"/>
            </a:xfrm>
            <a:prstGeom prst="rect">
              <a:avLst/>
            </a:prstGeom>
            <a:noFill/>
          </p:spPr>
          <p:txBody>
            <a:bodyPr wrap="square" rtlCol="0">
              <a:spAutoFit/>
            </a:bodyPr>
            <a:lstStyle/>
            <a:p>
              <a:pPr algn="ctr"/>
              <a:r>
                <a:rPr lang="en-US" altLang="zh-CN" sz="1200">
                  <a:solidFill>
                    <a:srgbClr val="0070C0"/>
                  </a:solidFill>
                </a:rPr>
                <a:t>trans-in cost</a:t>
              </a:r>
              <a:endParaRPr lang="en-US" altLang="zh-CN" sz="1200">
                <a:solidFill>
                  <a:srgbClr val="0070C0"/>
                </a:solidFill>
              </a:endParaRPr>
            </a:p>
          </p:txBody>
        </p:sp>
        <p:cxnSp>
          <p:nvCxnSpPr>
            <p:cNvPr id="31" name="直接连接符 30"/>
            <p:cNvCxnSpPr/>
            <p:nvPr/>
          </p:nvCxnSpPr>
          <p:spPr>
            <a:xfrm>
              <a:off x="9156" y="4407"/>
              <a:ext cx="4487" cy="0"/>
            </a:xfrm>
            <a:prstGeom prst="line">
              <a:avLst/>
            </a:prstGeom>
            <a:ln w="19050">
              <a:solidFill>
                <a:srgbClr val="0070C0"/>
              </a:solidFill>
            </a:ln>
          </p:spPr>
          <p:style>
            <a:lnRef idx="2">
              <a:schemeClr val="accent1"/>
            </a:lnRef>
            <a:fillRef idx="0">
              <a:srgbClr val="FFFFFF"/>
            </a:fillRef>
            <a:effectRef idx="0">
              <a:srgbClr val="FFFFFF"/>
            </a:effectRef>
            <a:fontRef idx="minor">
              <a:schemeClr val="tx1"/>
            </a:fontRef>
          </p:style>
        </p:cxnSp>
      </p:grpSp>
      <p:sp>
        <p:nvSpPr>
          <p:cNvPr id="5" name="矩形 4"/>
          <p:cNvSpPr/>
          <p:nvPr/>
        </p:nvSpPr>
        <p:spPr>
          <a:xfrm>
            <a:off x="4571365" y="6043930"/>
            <a:ext cx="149225" cy="15621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445250" y="5801995"/>
            <a:ext cx="727075" cy="33782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605155" y="3016885"/>
                <a:ext cx="10732135" cy="427355"/>
              </a:xfrm>
              <a:prstGeom prst="rect">
                <a:avLst/>
              </a:prstGeom>
            </p:spPr>
            <p:txBody>
              <a:bodyPr wrap="square">
                <a:spAutoFit/>
              </a:bodyPr>
              <a:lstStyle/>
              <a:p>
                <a:pPr marL="285750" indent="-285750">
                  <a:buFont typeface="Arial" panose="020B0604020202020204" pitchFamily="34" charset="0"/>
                  <a:buChar char="•"/>
                </a:pPr>
                <a:r>
                  <a:rPr lang="en-US" altLang="zh-CN">
                    <a:latin typeface="+mj-lt"/>
                    <a:cs typeface="+mj-lt"/>
                  </a:rPr>
                  <a:t>From the perspective of the overall system, the total revenue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𝑅𝑉</m:t>
                        </m:r>
                      </m:e>
                      <m:sub>
                        <m:r>
                          <a:rPr lang="en-US" altLang="zh-CN" i="1">
                            <a:latin typeface="Cambria Math" panose="02040503050406030204" charset="0"/>
                            <a:cs typeface="Cambria Math" panose="02040503050406030204" charset="0"/>
                          </a:rPr>
                          <m:t>𝑡</m:t>
                        </m:r>
                      </m:sub>
                      <m:sup>
                        <m:r>
                          <m:rPr>
                            <m:sty m:val="p"/>
                          </m:rPr>
                          <a:rPr lang="en-US" altLang="zh-CN">
                            <a:latin typeface="Cambria Math" panose="02040503050406030204" charset="0"/>
                            <a:cs typeface="Cambria Math" panose="02040503050406030204" charset="0"/>
                          </a:rPr>
                          <m:t>all</m:t>
                        </m:r>
                      </m:sup>
                    </m:sSubSup>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𝑁</m:t>
                        </m:r>
                      </m:sup>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𝑅𝑉</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m:t>
                            </m:r>
                          </m:sup>
                        </m:sSubSup>
                      </m:e>
                    </m:nary>
                  </m:oMath>
                </a14:m>
                <a:r>
                  <a:rPr lang="en-US" altLang="zh-CN">
                    <a:latin typeface="+mj-lt"/>
                    <a:cs typeface="+mj-lt"/>
                  </a:rPr>
                  <a:t> can be calculated as:</a:t>
                </a:r>
                <a:endParaRPr lang="en-US" altLang="zh-CN">
                  <a:latin typeface="+mj-lt"/>
                  <a:cs typeface="+mj-lt"/>
                </a:endParaRPr>
              </a:p>
            </p:txBody>
          </p:sp>
        </mc:Choice>
        <mc:Fallback>
          <p:sp>
            <p:nvSpPr>
              <p:cNvPr id="10" name="文本框 9"/>
              <p:cNvSpPr txBox="1">
                <a:spLocks noRot="1" noChangeAspect="1" noMove="1" noResize="1" noEditPoints="1" noAdjustHandles="1" noChangeArrowheads="1" noChangeShapeType="1" noTextEdit="1"/>
              </p:cNvSpPr>
              <p:nvPr/>
            </p:nvSpPr>
            <p:spPr>
              <a:xfrm>
                <a:off x="605155" y="3016885"/>
                <a:ext cx="10732135" cy="42735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605155" y="4799330"/>
                <a:ext cx="10732770" cy="751681"/>
              </a:xfrm>
              <a:prstGeom prst="rect">
                <a:avLst/>
              </a:prstGeom>
            </p:spPr>
            <p:txBody>
              <a:bodyPr wrap="square">
                <a:spAutoFit/>
              </a:bodyPr>
              <a:lstStyle/>
              <a:p>
                <a:pPr marL="285750" indent="-285750" fontAlgn="auto">
                  <a:lnSpc>
                    <a:spcPct val="125000"/>
                  </a:lnSpc>
                  <a:buFont typeface="Arial" panose="020B0604020202020204" pitchFamily="34" charset="0"/>
                  <a:buChar char="•"/>
                </a:pPr>
                <a:r>
                  <a:rPr lang="en-US" altLang="zh-CN" dirty="0">
                    <a:latin typeface="+mj-lt"/>
                    <a:cs typeface="+mj-lt"/>
                  </a:rPr>
                  <a:t>The objective of inventory management is to find</a:t>
                </a:r>
                <a:r>
                  <a:rPr lang="en-US" altLang="zh-CN" dirty="0">
                    <a:solidFill>
                      <a:schemeClr val="tx1"/>
                    </a:solidFill>
                    <a:latin typeface="+mj-lt"/>
                    <a:cs typeface="+mj-lt"/>
                  </a:rPr>
                  <a:t> a </a:t>
                </a:r>
                <a:r>
                  <a:rPr lang="en-US" altLang="zh-CN" dirty="0">
                    <a:solidFill>
                      <a:srgbClr val="C00000"/>
                    </a:solidFill>
                    <a:latin typeface="+mj-lt"/>
                    <a:cs typeface="+mj-lt"/>
                  </a:rPr>
                  <a:t>inventory adjustment policy </a:t>
                </a:r>
                <a14:m>
                  <m:oMath xmlns:m="http://schemas.openxmlformats.org/officeDocument/2006/math">
                    <m:r>
                      <a:rPr lang="en-US" altLang="zh-CN" i="1">
                        <a:solidFill>
                          <a:srgbClr val="C00000"/>
                        </a:solidFill>
                        <a:latin typeface="Cambria Math" panose="02040503050406030204" charset="0"/>
                        <a:cs typeface="Cambria Math" panose="02040503050406030204" charset="0"/>
                      </a:rPr>
                      <m:t>𝜋</m:t>
                    </m:r>
                  </m:oMath>
                </a14:m>
                <a:r>
                  <a:rPr lang="en-US" altLang="zh-CN" dirty="0">
                    <a:latin typeface="+mj-lt"/>
                    <a:cs typeface="+mj-lt"/>
                  </a:rPr>
                  <a:t> that maximizes the </a:t>
                </a:r>
                <a:r>
                  <a:rPr lang="en-US" altLang="zh-CN" dirty="0">
                    <a:solidFill>
                      <a:srgbClr val="0070C0"/>
                    </a:solidFill>
                    <a:latin typeface="+mj-lt"/>
                    <a:cs typeface="+mj-lt"/>
                  </a:rPr>
                  <a:t>long-term</a:t>
                </a:r>
                <a:r>
                  <a:rPr lang="en-US" altLang="zh-CN" dirty="0">
                    <a:latin typeface="+mj-lt"/>
                    <a:cs typeface="+mj-lt"/>
                  </a:rPr>
                  <a:t> revenue of the </a:t>
                </a:r>
                <a:r>
                  <a:rPr lang="en-US" altLang="zh-CN" dirty="0">
                    <a:solidFill>
                      <a:srgbClr val="0070C0"/>
                    </a:solidFill>
                    <a:latin typeface="+mj-lt"/>
                    <a:cs typeface="+mj-lt"/>
                  </a:rPr>
                  <a:t>overall</a:t>
                </a:r>
                <a:r>
                  <a:rPr lang="en-US" altLang="zh-CN" dirty="0">
                    <a:latin typeface="+mj-lt"/>
                    <a:cs typeface="+mj-lt"/>
                  </a:rPr>
                  <a:t> multi-location inventory system </a:t>
                </a:r>
                <a:r>
                  <a:rPr lang="en-US" altLang="zh-CN" dirty="0">
                    <a:solidFill>
                      <a:srgbClr val="0070C0"/>
                    </a:solidFill>
                    <a:latin typeface="+mj-lt"/>
                    <a:cs typeface="+mj-lt"/>
                  </a:rPr>
                  <a:t>within a period of time</a:t>
                </a:r>
                <a:r>
                  <a:rPr lang="en-US" altLang="zh-CN" dirty="0">
                    <a:latin typeface="+mj-lt"/>
                    <a:cs typeface="+mj-lt"/>
                  </a:rPr>
                  <a:t>:</a:t>
                </a:r>
                <a:endParaRPr lang="en-US" altLang="zh-CN" dirty="0">
                  <a:latin typeface="+mj-lt"/>
                  <a:cs typeface="+mj-lt"/>
                </a:endParaRPr>
              </a:p>
            </p:txBody>
          </p:sp>
        </mc:Choice>
        <mc:Fallback>
          <p:sp>
            <p:nvSpPr>
              <p:cNvPr id="14" name="文本框 13"/>
              <p:cNvSpPr txBox="1">
                <a:spLocks noRot="1" noChangeAspect="1" noMove="1" noResize="1" noEditPoints="1" noAdjustHandles="1" noChangeArrowheads="1" noChangeShapeType="1" noTextEdit="1"/>
              </p:cNvSpPr>
              <p:nvPr/>
            </p:nvSpPr>
            <p:spPr>
              <a:xfrm>
                <a:off x="605155" y="4799330"/>
                <a:ext cx="10732770" cy="751681"/>
              </a:xfrm>
              <a:prstGeom prst="rect">
                <a:avLst/>
              </a:prstGeom>
              <a:blipFill rotWithShape="1">
                <a:blip r:embed="rId5"/>
                <a:stretch>
                  <a:fillRect b="63"/>
                </a:stretch>
              </a:blipFill>
            </p:spPr>
            <p:txBody>
              <a:bodyPr/>
              <a:lstStyle/>
              <a:p>
                <a:r>
                  <a:rPr lang="zh-CN" altLang="en-US">
                    <a:noFill/>
                  </a:rPr>
                  <a:t> </a:t>
                </a:r>
              </a:p>
            </p:txBody>
          </p:sp>
        </mc:Fallback>
      </mc:AlternateContent>
      <p:pic>
        <p:nvPicPr>
          <p:cNvPr id="16" name="图片 15"/>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4344035" y="5591810"/>
            <a:ext cx="3483610" cy="768985"/>
          </a:xfrm>
          <a:prstGeom prst="rect">
            <a:avLst/>
          </a:prstGeom>
        </p:spPr>
      </p:pic>
      <p:pic>
        <p:nvPicPr>
          <p:cNvPr id="3" name="图片 2"/>
          <p:cNvPicPr>
            <a:picLocks noChangeAspect="1"/>
          </p:cNvPicPr>
          <p:nvPr/>
        </p:nvPicPr>
        <p:blipFill>
          <a:blip r:embed="rId7"/>
          <a:stretch>
            <a:fillRect/>
          </a:stretch>
        </p:blipFill>
        <p:spPr>
          <a:xfrm>
            <a:off x="2629535" y="3437890"/>
            <a:ext cx="7273925" cy="14268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37856">
        <p:wipe dir="d"/>
      </p:transition>
    </mc:Choice>
    <mc:Fallback>
      <p:transition advTm="37856">
        <p:wipe dir="d"/>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59510" y="226695"/>
            <a:ext cx="4240530" cy="583565"/>
          </a:xfrm>
          <a:prstGeom prst="rect">
            <a:avLst/>
          </a:prstGeom>
          <a:noFill/>
        </p:spPr>
        <p:txBody>
          <a:bodyPr wrap="square" rtlCol="0">
            <a:spAutoFit/>
          </a:bodyPr>
          <a:lstStyle/>
          <a:p>
            <a:r>
              <a:rPr lang="en-US" altLang="zh-CN" sz="3200" b="1" dirty="0">
                <a:latin typeface="+mj-lt"/>
              </a:rPr>
              <a:t>Related Work</a:t>
            </a:r>
            <a:endParaRPr lang="zh-CN" altLang="en-US" sz="3200" b="1" dirty="0">
              <a:latin typeface="+mj-lt"/>
            </a:endParaRPr>
          </a:p>
        </p:txBody>
      </p:sp>
      <p:sp>
        <p:nvSpPr>
          <p:cNvPr id="2" name="文本框 1"/>
          <p:cNvSpPr txBox="1"/>
          <p:nvPr>
            <p:custDataLst>
              <p:tags r:id="rId1"/>
            </p:custDataLst>
          </p:nvPr>
        </p:nvSpPr>
        <p:spPr>
          <a:xfrm>
            <a:off x="553085" y="1263650"/>
            <a:ext cx="10902315" cy="1324786"/>
          </a:xfrm>
          <a:prstGeom prst="rect">
            <a:avLst/>
          </a:prstGeom>
          <a:noFill/>
        </p:spPr>
        <p:txBody>
          <a:bodyPr wrap="square" rtlCol="0" anchor="t">
            <a:spAutoFit/>
          </a:bodyPr>
          <a:lstStyle/>
          <a:p>
            <a:pPr marL="342900" lvl="0" indent="-342900" algn="just" fontAlgn="auto">
              <a:lnSpc>
                <a:spcPct val="120000"/>
              </a:lnSpc>
              <a:spcBef>
                <a:spcPts val="600"/>
              </a:spcBef>
              <a:spcAft>
                <a:spcPts val="0"/>
              </a:spcAft>
              <a:buFont typeface="Arial" panose="020B0604020202020204" pitchFamily="34" charset="0"/>
              <a:buChar char="•"/>
            </a:pPr>
            <a:r>
              <a:rPr lang="en-US" altLang="zh-CN" sz="1600" dirty="0">
                <a:effectLst/>
                <a:latin typeface="+mj-lt"/>
                <a:ea typeface="宋体" panose="02010600030101010101" pitchFamily="2" charset="-122"/>
                <a:cs typeface="+mj-lt"/>
                <a:sym typeface="+mn-ea"/>
              </a:rPr>
              <a:t>Build programming model with specific </a:t>
            </a:r>
            <a:r>
              <a:rPr lang="en-US" altLang="zh-CN" sz="1600" dirty="0">
                <a:solidFill>
                  <a:srgbClr val="0070C0"/>
                </a:solidFill>
                <a:effectLst/>
                <a:latin typeface="+mj-lt"/>
                <a:ea typeface="宋体" panose="02010600030101010101" pitchFamily="2" charset="-122"/>
                <a:cs typeface="+mj-lt"/>
                <a:sym typeface="+mn-ea"/>
              </a:rPr>
              <a:t>parameter values</a:t>
            </a:r>
            <a:r>
              <a:rPr lang="en-US" altLang="zh-CN" sz="1600" dirty="0">
                <a:effectLst/>
                <a:latin typeface="+mj-lt"/>
                <a:ea typeface="宋体" panose="02010600030101010101" pitchFamily="2" charset="-122"/>
                <a:cs typeface="+mj-lt"/>
                <a:sym typeface="+mn-ea"/>
              </a:rPr>
              <a:t> derived from problem setting and historical data, and define the overall profit as </a:t>
            </a:r>
            <a:r>
              <a:rPr lang="en-US" altLang="zh-CN" sz="1600" dirty="0">
                <a:solidFill>
                  <a:srgbClr val="0070C0"/>
                </a:solidFill>
                <a:effectLst/>
                <a:latin typeface="+mj-lt"/>
                <a:ea typeface="宋体" panose="02010600030101010101" pitchFamily="2" charset="-122"/>
                <a:cs typeface="+mj-lt"/>
                <a:sym typeface="+mn-ea"/>
              </a:rPr>
              <a:t>objective function</a:t>
            </a:r>
            <a:r>
              <a:rPr lang="en-US" altLang="zh-CN" sz="1600" dirty="0">
                <a:effectLst/>
                <a:latin typeface="+mj-lt"/>
                <a:ea typeface="宋体" panose="02010600030101010101" pitchFamily="2" charset="-122"/>
                <a:cs typeface="+mj-lt"/>
                <a:sym typeface="+mn-ea"/>
              </a:rPr>
              <a:t>, solve to get optimal solution </a:t>
            </a:r>
            <a:r>
              <a:rPr lang="en-US" altLang="zh-CN" sz="1600" dirty="0">
                <a:solidFill>
                  <a:schemeClr val="accent4"/>
                </a:solidFill>
                <a:effectLst/>
                <a:latin typeface="+mj-lt"/>
                <a:ea typeface="宋体" panose="02010600030101010101" pitchFamily="2" charset="-122"/>
                <a:cs typeface="+mj-lt"/>
                <a:sym typeface="+mn-ea"/>
              </a:rPr>
              <a:t>(Minner et al. 2003, Vicente et al. 2015)</a:t>
            </a:r>
            <a:r>
              <a:rPr lang="en-US" altLang="zh-CN" sz="1600" dirty="0">
                <a:effectLst/>
                <a:latin typeface="+mj-lt"/>
                <a:ea typeface="宋体" panose="02010600030101010101" pitchFamily="2" charset="-122"/>
                <a:cs typeface="+mj-lt"/>
                <a:sym typeface="+mn-ea"/>
              </a:rPr>
              <a:t>.</a:t>
            </a:r>
            <a:endParaRPr lang="en-US" altLang="zh-CN" sz="1600" dirty="0">
              <a:effectLst/>
              <a:latin typeface="+mj-lt"/>
              <a:ea typeface="宋体" panose="02010600030101010101" pitchFamily="2" charset="-122"/>
              <a:cs typeface="+mj-lt"/>
              <a:sym typeface="+mn-ea"/>
            </a:endParaRPr>
          </a:p>
          <a:p>
            <a:pPr marL="342900" lvl="0" indent="-342900" algn="just" fontAlgn="auto">
              <a:lnSpc>
                <a:spcPct val="120000"/>
              </a:lnSpc>
              <a:spcBef>
                <a:spcPts val="600"/>
              </a:spcBef>
              <a:spcAft>
                <a:spcPts val="0"/>
              </a:spcAft>
              <a:buFont typeface="Arial" panose="020B0604020202020204" pitchFamily="34" charset="0"/>
              <a:buChar char="•"/>
            </a:pPr>
            <a:r>
              <a:rPr lang="en-US" altLang="zh-CN" sz="1600" dirty="0">
                <a:effectLst/>
                <a:latin typeface="+mj-lt"/>
                <a:ea typeface="宋体" panose="02010600030101010101" pitchFamily="2" charset="-122"/>
                <a:cs typeface="+mj-lt"/>
                <a:sym typeface="+mn-ea"/>
              </a:rPr>
              <a:t>Limitations: (i) Focus mainly on </a:t>
            </a:r>
            <a:r>
              <a:rPr lang="en-US" altLang="zh-CN" sz="1600" dirty="0">
                <a:solidFill>
                  <a:srgbClr val="0070C0"/>
                </a:solidFill>
                <a:effectLst/>
                <a:latin typeface="+mj-lt"/>
                <a:ea typeface="宋体" panose="02010600030101010101" pitchFamily="2" charset="-122"/>
                <a:cs typeface="+mj-lt"/>
                <a:sym typeface="+mn-ea"/>
              </a:rPr>
              <a:t>single-period</a:t>
            </a:r>
            <a:r>
              <a:rPr lang="en-US" altLang="zh-CN" sz="1600" dirty="0">
                <a:effectLst/>
                <a:latin typeface="+mj-lt"/>
                <a:ea typeface="宋体" panose="02010600030101010101" pitchFamily="2" charset="-122"/>
                <a:cs typeface="+mj-lt"/>
                <a:sym typeface="+mn-ea"/>
              </a:rPr>
              <a:t>, hard to deal with multi-period setting due to computational complexity; (ii) Struggle to accommodate </a:t>
            </a:r>
            <a:r>
              <a:rPr lang="en-US" altLang="zh-CN" sz="1600" dirty="0">
                <a:solidFill>
                  <a:srgbClr val="0070C0"/>
                </a:solidFill>
                <a:effectLst/>
                <a:latin typeface="+mj-lt"/>
                <a:ea typeface="宋体" panose="02010600030101010101" pitchFamily="2" charset="-122"/>
                <a:cs typeface="+mj-lt"/>
                <a:sym typeface="+mn-ea"/>
              </a:rPr>
              <a:t>real-world dynamics</a:t>
            </a:r>
            <a:r>
              <a:rPr lang="en-US" altLang="zh-CN" sz="1600" dirty="0">
                <a:effectLst/>
                <a:latin typeface="+mj-lt"/>
                <a:ea typeface="宋体" panose="02010600030101010101" pitchFamily="2" charset="-122"/>
                <a:cs typeface="+mj-lt"/>
                <a:sym typeface="+mn-ea"/>
              </a:rPr>
              <a:t>; (iii) Lack foresight into future demands.</a:t>
            </a:r>
            <a:endParaRPr lang="en-US" altLang="zh-CN" sz="1600" dirty="0">
              <a:effectLst/>
              <a:latin typeface="+mj-lt"/>
              <a:ea typeface="宋体" panose="02010600030101010101" pitchFamily="2" charset="-122"/>
              <a:cs typeface="+mj-lt"/>
              <a:sym typeface="+mn-ea"/>
            </a:endParaRPr>
          </a:p>
        </p:txBody>
      </p:sp>
      <p:grpSp>
        <p:nvGrpSpPr>
          <p:cNvPr id="14" name="组合 13"/>
          <p:cNvGrpSpPr/>
          <p:nvPr/>
        </p:nvGrpSpPr>
        <p:grpSpPr>
          <a:xfrm>
            <a:off x="9273540" y="245110"/>
            <a:ext cx="1780540" cy="1052830"/>
            <a:chOff x="7311" y="4548"/>
            <a:chExt cx="2804" cy="1658"/>
          </a:xfrm>
        </p:grpSpPr>
        <p:pic>
          <p:nvPicPr>
            <p:cNvPr id="15" name="图片 14" descr="物流存储"/>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457" y="4548"/>
              <a:ext cx="518" cy="465"/>
            </a:xfrm>
            <a:prstGeom prst="rect">
              <a:avLst/>
            </a:prstGeom>
            <a:effectLst>
              <a:outerShdw blurRad="63500" sx="102000" sy="102000" algn="ctr" rotWithShape="0">
                <a:prstClr val="black">
                  <a:alpha val="40000"/>
                </a:prstClr>
              </a:outerShdw>
            </a:effectLst>
          </p:spPr>
        </p:pic>
        <p:pic>
          <p:nvPicPr>
            <p:cNvPr id="16" name="图片 15" descr="商店"/>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1" y="5370"/>
              <a:ext cx="469" cy="469"/>
            </a:xfrm>
            <a:prstGeom prst="rect">
              <a:avLst/>
            </a:prstGeom>
            <a:effectLst>
              <a:outerShdw blurRad="63500" sx="102000" sy="102000" algn="ctr" rotWithShape="0">
                <a:prstClr val="black">
                  <a:alpha val="40000"/>
                </a:prstClr>
              </a:outerShdw>
            </a:effectLst>
          </p:spPr>
        </p:pic>
        <p:pic>
          <p:nvPicPr>
            <p:cNvPr id="17" name="图片 16" descr="商店"/>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79" y="5370"/>
              <a:ext cx="469" cy="469"/>
            </a:xfrm>
            <a:prstGeom prst="rect">
              <a:avLst/>
            </a:prstGeom>
            <a:effectLst>
              <a:outerShdw blurRad="63500" sx="102000" sy="102000" algn="ctr" rotWithShape="0">
                <a:prstClr val="black">
                  <a:alpha val="40000"/>
                </a:prstClr>
              </a:outerShdw>
            </a:effectLst>
          </p:spPr>
        </p:pic>
        <p:cxnSp>
          <p:nvCxnSpPr>
            <p:cNvPr id="18" name="直接箭头连接符 17"/>
            <p:cNvCxnSpPr/>
            <p:nvPr/>
          </p:nvCxnSpPr>
          <p:spPr>
            <a:xfrm>
              <a:off x="8947" y="4868"/>
              <a:ext cx="907" cy="483"/>
            </a:xfrm>
            <a:prstGeom prst="straightConnector1">
              <a:avLst/>
            </a:prstGeom>
            <a:ln>
              <a:solidFill>
                <a:schemeClr val="tx1"/>
              </a:solidFill>
              <a:prstDash val="dashDot"/>
              <a:headEnd type="none"/>
              <a:tailEnd type="triangle" w="med" len="med"/>
            </a:ln>
          </p:spPr>
          <p:style>
            <a:lnRef idx="2">
              <a:schemeClr val="accent1"/>
            </a:lnRef>
            <a:fillRef idx="0">
              <a:srgbClr val="FFFFFF"/>
            </a:fillRef>
            <a:effectRef idx="0">
              <a:srgbClr val="FFFFFF"/>
            </a:effectRef>
            <a:fontRef idx="minor">
              <a:schemeClr val="tx1"/>
            </a:fontRef>
          </p:style>
        </p:cxnSp>
        <p:pic>
          <p:nvPicPr>
            <p:cNvPr id="19" name="图片 18" descr="商店"/>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7" y="5370"/>
              <a:ext cx="469" cy="469"/>
            </a:xfrm>
            <a:prstGeom prst="rect">
              <a:avLst/>
            </a:prstGeom>
            <a:effectLst>
              <a:outerShdw blurRad="63500" sx="102000" sy="102000" algn="ctr" rotWithShape="0">
                <a:prstClr val="black">
                  <a:alpha val="40000"/>
                </a:prstClr>
              </a:outerShdw>
            </a:effectLst>
          </p:spPr>
        </p:pic>
        <p:cxnSp>
          <p:nvCxnSpPr>
            <p:cNvPr id="20" name="直接箭头连接符 19"/>
            <p:cNvCxnSpPr/>
            <p:nvPr/>
          </p:nvCxnSpPr>
          <p:spPr>
            <a:xfrm flipH="1">
              <a:off x="7597" y="4866"/>
              <a:ext cx="881" cy="482"/>
            </a:xfrm>
            <a:prstGeom prst="straightConnector1">
              <a:avLst/>
            </a:prstGeom>
            <a:ln>
              <a:solidFill>
                <a:schemeClr val="tx1"/>
              </a:solidFill>
              <a:prstDash val="dashDot"/>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15" idx="2"/>
              <a:endCxn id="17" idx="0"/>
            </p:cNvCxnSpPr>
            <p:nvPr/>
          </p:nvCxnSpPr>
          <p:spPr>
            <a:xfrm flipH="1">
              <a:off x="8714" y="5013"/>
              <a:ext cx="2" cy="357"/>
            </a:xfrm>
            <a:prstGeom prst="straightConnector1">
              <a:avLst/>
            </a:prstGeom>
            <a:ln>
              <a:solidFill>
                <a:schemeClr val="tx1"/>
              </a:solidFill>
              <a:prstDash val="dashDot"/>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8002" y="4987"/>
              <a:ext cx="1461" cy="337"/>
            </a:xfrm>
            <a:prstGeom prst="rect">
              <a:avLst/>
            </a:prstGeom>
            <a:noFill/>
          </p:spPr>
          <p:txBody>
            <a:bodyPr wrap="square" rtlCol="0">
              <a:spAutoFit/>
            </a:bodyPr>
            <a:lstStyle/>
            <a:p>
              <a:pPr algn="ctr"/>
              <a:r>
                <a:rPr lang="en-US" altLang="zh-CN" sz="800">
                  <a:latin typeface="Arial" panose="020B0604020202020204" pitchFamily="34" charset="0"/>
                  <a:cs typeface="Arial" panose="020B0604020202020204" pitchFamily="34" charset="0"/>
                </a:rPr>
                <a:t>replenishment</a:t>
              </a:r>
              <a:endParaRPr lang="en-US" altLang="zh-CN" sz="800">
                <a:latin typeface="Arial" panose="020B0604020202020204" pitchFamily="34" charset="0"/>
                <a:cs typeface="Arial" panose="020B0604020202020204" pitchFamily="34" charset="0"/>
              </a:endParaRPr>
            </a:p>
          </p:txBody>
        </p:sp>
        <p:cxnSp>
          <p:nvCxnSpPr>
            <p:cNvPr id="24" name="直接箭头连接符 23"/>
            <p:cNvCxnSpPr/>
            <p:nvPr/>
          </p:nvCxnSpPr>
          <p:spPr>
            <a:xfrm>
              <a:off x="7546" y="5814"/>
              <a:ext cx="0" cy="369"/>
            </a:xfrm>
            <a:prstGeom prst="straightConnector1">
              <a:avLst/>
            </a:prstGeom>
            <a:ln>
              <a:solidFill>
                <a:schemeClr val="tx1"/>
              </a:solidFill>
              <a:prstDash val="dashDot"/>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a:off x="8714" y="5814"/>
              <a:ext cx="0" cy="369"/>
            </a:xfrm>
            <a:prstGeom prst="straightConnector1">
              <a:avLst/>
            </a:prstGeom>
            <a:ln>
              <a:solidFill>
                <a:schemeClr val="tx1"/>
              </a:solidFill>
              <a:prstDash val="dashDot"/>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a:off x="9882" y="5814"/>
              <a:ext cx="0" cy="369"/>
            </a:xfrm>
            <a:prstGeom prst="straightConnector1">
              <a:avLst/>
            </a:prstGeom>
            <a:ln>
              <a:solidFill>
                <a:schemeClr val="tx1"/>
              </a:solidFill>
              <a:prstDash val="dashDot"/>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28" name="直接连接符 27"/>
            <p:cNvCxnSpPr/>
            <p:nvPr/>
          </p:nvCxnSpPr>
          <p:spPr>
            <a:xfrm>
              <a:off x="7567" y="6175"/>
              <a:ext cx="2324" cy="0"/>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7979" y="5870"/>
              <a:ext cx="1461" cy="337"/>
            </a:xfrm>
            <a:prstGeom prst="rect">
              <a:avLst/>
            </a:prstGeom>
            <a:noFill/>
          </p:spPr>
          <p:txBody>
            <a:bodyPr wrap="square" rtlCol="0">
              <a:spAutoFit/>
            </a:bodyPr>
            <a:lstStyle/>
            <a:p>
              <a:pPr algn="ctr"/>
              <a:r>
                <a:rPr lang="en-US" altLang="zh-CN" sz="800">
                  <a:latin typeface="Arial" panose="020B0604020202020204" pitchFamily="34" charset="0"/>
                  <a:cs typeface="Arial" panose="020B0604020202020204" pitchFamily="34" charset="0"/>
                </a:rPr>
                <a:t>transshipment</a:t>
              </a:r>
              <a:endParaRPr lang="en-US" altLang="zh-CN" sz="800">
                <a:latin typeface="Arial" panose="020B0604020202020204" pitchFamily="34" charset="0"/>
                <a:cs typeface="Arial" panose="020B0604020202020204" pitchFamily="34" charset="0"/>
              </a:endParaRPr>
            </a:p>
          </p:txBody>
        </p:sp>
      </p:grpSp>
      <p:sp>
        <p:nvSpPr>
          <p:cNvPr id="4" name="文本框 3"/>
          <p:cNvSpPr txBox="1"/>
          <p:nvPr>
            <p:custDataLst>
              <p:tags r:id="rId7"/>
            </p:custDataLst>
          </p:nvPr>
        </p:nvSpPr>
        <p:spPr>
          <a:xfrm>
            <a:off x="553085" y="859790"/>
            <a:ext cx="7081520" cy="460375"/>
          </a:xfrm>
          <a:prstGeom prst="rect">
            <a:avLst/>
          </a:prstGeom>
          <a:noFill/>
        </p:spPr>
        <p:txBody>
          <a:bodyPr wrap="square" rtlCol="0" anchor="t">
            <a:spAutoFit/>
          </a:bodyPr>
          <a:lstStyle/>
          <a:p>
            <a:pPr indent="0" algn="just" fontAlgn="auto">
              <a:lnSpc>
                <a:spcPct val="120000"/>
              </a:lnSpc>
              <a:spcBef>
                <a:spcPts val="1000"/>
              </a:spcBef>
              <a:spcAft>
                <a:spcPts val="0"/>
              </a:spcAft>
              <a:buFont typeface="Arial" panose="020B0604020202020204" pitchFamily="34" charset="0"/>
              <a:buNone/>
            </a:pPr>
            <a:r>
              <a:rPr lang="en-US" altLang="zh-CN" sz="2000" b="1" dirty="0">
                <a:effectLst/>
                <a:latin typeface="Georgia" panose="02040502050405020303" charset="0"/>
                <a:ea typeface="宋体" panose="02010600030101010101" pitchFamily="2" charset="-122"/>
                <a:cs typeface="Georgia" panose="02040502050405020303" charset="0"/>
                <a:sym typeface="+mn-ea"/>
              </a:rPr>
              <a:t>Mathematical Optimization</a:t>
            </a:r>
            <a:endParaRPr lang="en-US" altLang="zh-CN" sz="2000" b="1" dirty="0">
              <a:effectLst/>
              <a:latin typeface="Georgia" panose="02040502050405020303" charset="0"/>
              <a:ea typeface="宋体" panose="02010600030101010101" pitchFamily="2" charset="-122"/>
              <a:cs typeface="Georgia" panose="02040502050405020303" charset="0"/>
              <a:sym typeface="+mn-ea"/>
            </a:endParaRPr>
          </a:p>
        </p:txBody>
      </p:sp>
      <p:sp>
        <p:nvSpPr>
          <p:cNvPr id="5" name="文本框 4"/>
          <p:cNvSpPr txBox="1"/>
          <p:nvPr>
            <p:custDataLst>
              <p:tags r:id="rId8"/>
            </p:custDataLst>
          </p:nvPr>
        </p:nvSpPr>
        <p:spPr>
          <a:xfrm>
            <a:off x="553085" y="2555240"/>
            <a:ext cx="7081520" cy="460375"/>
          </a:xfrm>
          <a:prstGeom prst="rect">
            <a:avLst/>
          </a:prstGeom>
          <a:noFill/>
        </p:spPr>
        <p:txBody>
          <a:bodyPr wrap="square" rtlCol="0" anchor="t">
            <a:spAutoFit/>
          </a:bodyPr>
          <a:lstStyle/>
          <a:p>
            <a:pPr indent="0" algn="just" fontAlgn="auto">
              <a:lnSpc>
                <a:spcPct val="120000"/>
              </a:lnSpc>
              <a:spcBef>
                <a:spcPts val="1000"/>
              </a:spcBef>
              <a:spcAft>
                <a:spcPts val="0"/>
              </a:spcAft>
              <a:buFont typeface="Arial" panose="020B0604020202020204" pitchFamily="34" charset="0"/>
              <a:buNone/>
            </a:pPr>
            <a:r>
              <a:rPr lang="en-US" altLang="zh-CN" sz="2000" b="1" dirty="0">
                <a:effectLst/>
                <a:latin typeface="Georgia" panose="02040502050405020303" charset="0"/>
                <a:ea typeface="宋体" panose="02010600030101010101" pitchFamily="2" charset="-122"/>
                <a:cs typeface="Georgia" panose="02040502050405020303" charset="0"/>
                <a:sym typeface="+mn-ea"/>
              </a:rPr>
              <a:t>Markov Decision Processes (MDPs)</a:t>
            </a:r>
            <a:endParaRPr lang="en-US" altLang="zh-CN" sz="2000" b="1" dirty="0">
              <a:effectLst/>
              <a:latin typeface="Georgia" panose="02040502050405020303" charset="0"/>
              <a:ea typeface="宋体" panose="02010600030101010101" pitchFamily="2" charset="-122"/>
              <a:cs typeface="Georgia" panose="02040502050405020303" charset="0"/>
              <a:sym typeface="+mn-ea"/>
            </a:endParaRPr>
          </a:p>
        </p:txBody>
      </p:sp>
      <p:sp>
        <p:nvSpPr>
          <p:cNvPr id="7" name="文本框 6"/>
          <p:cNvSpPr txBox="1"/>
          <p:nvPr>
            <p:custDataLst>
              <p:tags r:id="rId9"/>
            </p:custDataLst>
          </p:nvPr>
        </p:nvSpPr>
        <p:spPr>
          <a:xfrm>
            <a:off x="553085" y="2959100"/>
            <a:ext cx="10902315" cy="1642745"/>
          </a:xfrm>
          <a:prstGeom prst="rect">
            <a:avLst/>
          </a:prstGeom>
          <a:noFill/>
        </p:spPr>
        <p:txBody>
          <a:bodyPr wrap="square" rtlCol="0" anchor="t">
            <a:spAutoFit/>
          </a:bodyPr>
          <a:lstStyle/>
          <a:p>
            <a:pPr marL="342900" lvl="0" indent="-342900" algn="just" fontAlgn="auto">
              <a:lnSpc>
                <a:spcPct val="120000"/>
              </a:lnSpc>
              <a:spcBef>
                <a:spcPts val="600"/>
              </a:spcBef>
              <a:spcAft>
                <a:spcPts val="0"/>
              </a:spcAft>
              <a:buFont typeface="Arial" panose="020B0604020202020204" pitchFamily="34" charset="0"/>
              <a:buChar char="•"/>
            </a:pPr>
            <a:r>
              <a:rPr lang="en-US" altLang="zh-CN" sz="1600" dirty="0">
                <a:effectLst/>
                <a:latin typeface="Georgia" panose="02040502050405020303" charset="0"/>
                <a:ea typeface="宋体" panose="02010600030101010101" pitchFamily="2" charset="-122"/>
                <a:cs typeface="Georgia" panose="02040502050405020303" charset="0"/>
                <a:sym typeface="+mn-ea"/>
              </a:rPr>
              <a:t>Model as a MDP and solve with dynamic programming to get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long-term</a:t>
            </a:r>
            <a:r>
              <a:rPr lang="en-US" altLang="zh-CN" sz="1600" dirty="0">
                <a:effectLst/>
                <a:latin typeface="Georgia" panose="02040502050405020303" charset="0"/>
                <a:ea typeface="宋体" panose="02010600030101010101" pitchFamily="2" charset="-122"/>
                <a:cs typeface="Georgia" panose="02040502050405020303" charset="0"/>
                <a:sym typeface="+mn-ea"/>
              </a:rPr>
              <a:t> optimal policies, accounting for evolving demand patterns </a:t>
            </a:r>
            <a:r>
              <a:rPr lang="en-US" altLang="zh-CN" sz="1600" dirty="0">
                <a:solidFill>
                  <a:schemeClr val="accent4"/>
                </a:solidFill>
                <a:effectLst/>
                <a:latin typeface="Georgia" panose="02040502050405020303" charset="0"/>
                <a:ea typeface="宋体" panose="02010600030101010101" pitchFamily="2" charset="-122"/>
                <a:cs typeface="Georgia" panose="02040502050405020303" charset="0"/>
                <a:sym typeface="+mn-ea"/>
              </a:rPr>
              <a:t>(Seidscher and Minner 2013, Feng et al. 2017)</a:t>
            </a:r>
            <a:r>
              <a:rPr lang="en-US" altLang="zh-CN" sz="1600" dirty="0">
                <a:effectLst/>
                <a:latin typeface="Georgia" panose="02040502050405020303" charset="0"/>
                <a:ea typeface="宋体" panose="02010600030101010101" pitchFamily="2" charset="-122"/>
                <a:cs typeface="Georgia" panose="02040502050405020303" charset="0"/>
                <a:sym typeface="+mn-ea"/>
              </a:rPr>
              <a:t>.</a:t>
            </a:r>
            <a:endParaRPr lang="en-US" altLang="zh-CN" sz="1600" dirty="0">
              <a:effectLst/>
              <a:latin typeface="Georgia" panose="02040502050405020303" charset="0"/>
              <a:ea typeface="宋体" panose="02010600030101010101" pitchFamily="2" charset="-122"/>
              <a:cs typeface="Georgia" panose="02040502050405020303" charset="0"/>
              <a:sym typeface="+mn-ea"/>
            </a:endParaRPr>
          </a:p>
          <a:p>
            <a:pPr marL="342900" lvl="0" indent="-342900" algn="just" fontAlgn="auto">
              <a:lnSpc>
                <a:spcPct val="120000"/>
              </a:lnSpc>
              <a:spcBef>
                <a:spcPts val="600"/>
              </a:spcBef>
              <a:spcAft>
                <a:spcPts val="0"/>
              </a:spcAft>
              <a:buFont typeface="Arial" panose="020B0604020202020204" pitchFamily="34" charset="0"/>
              <a:buChar char="•"/>
            </a:pPr>
            <a:r>
              <a:rPr lang="en-US" altLang="zh-CN" sz="1600" dirty="0">
                <a:effectLst/>
                <a:latin typeface="Georgia" panose="02040502050405020303" charset="0"/>
                <a:ea typeface="宋体" panose="02010600030101010101" pitchFamily="2" charset="-122"/>
                <a:cs typeface="Georgia" panose="02040502050405020303" charset="0"/>
                <a:sym typeface="+mn-ea"/>
              </a:rPr>
              <a:t>Limitations: the multi-period inventory management problem with transshipment is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NP-hard</a:t>
            </a:r>
            <a:r>
              <a:rPr lang="en-US" altLang="zh-CN" sz="1600" dirty="0">
                <a:effectLst/>
                <a:latin typeface="Georgia" panose="02040502050405020303" charset="0"/>
                <a:ea typeface="宋体" panose="02010600030101010101" pitchFamily="2" charset="-122"/>
                <a:cs typeface="Georgia" panose="02040502050405020303" charset="0"/>
                <a:sym typeface="+mn-ea"/>
              </a:rPr>
              <a:t> </a:t>
            </a:r>
            <a:r>
              <a:rPr lang="en-US" altLang="zh-CN" sz="1600" dirty="0">
                <a:solidFill>
                  <a:schemeClr val="accent4"/>
                </a:solidFill>
                <a:effectLst/>
                <a:latin typeface="Georgia" panose="02040502050405020303" charset="0"/>
                <a:ea typeface="宋体" panose="02010600030101010101" pitchFamily="2" charset="-122"/>
                <a:cs typeface="Georgia" panose="02040502050405020303" charset="0"/>
                <a:sym typeface="+mn-ea"/>
              </a:rPr>
              <a:t>(Herer and Tzur 2003)</a:t>
            </a:r>
            <a:r>
              <a:rPr lang="en-US" altLang="zh-CN" sz="1600" dirty="0">
                <a:effectLst/>
                <a:latin typeface="Georgia" panose="02040502050405020303" charset="0"/>
                <a:ea typeface="宋体" panose="02010600030101010101" pitchFamily="2" charset="-122"/>
                <a:cs typeface="Georgia" panose="02040502050405020303" charset="0"/>
                <a:sym typeface="+mn-ea"/>
              </a:rPr>
              <a:t>, constraining scope to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small scale</a:t>
            </a:r>
            <a:r>
              <a:rPr lang="en-US" altLang="zh-CN" sz="1600" dirty="0">
                <a:effectLst/>
                <a:latin typeface="Georgia" panose="02040502050405020303" charset="0"/>
                <a:ea typeface="宋体" panose="02010600030101010101" pitchFamily="2" charset="-122"/>
                <a:cs typeface="Georgia" panose="02040502050405020303" charset="0"/>
                <a:sym typeface="+mn-ea"/>
              </a:rPr>
              <a:t>. Some other resort to the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approximate dynamic programming (ADP)</a:t>
            </a:r>
            <a:r>
              <a:rPr lang="en-US" altLang="zh-CN" sz="1600" dirty="0">
                <a:effectLst/>
                <a:latin typeface="Georgia" panose="02040502050405020303" charset="0"/>
                <a:ea typeface="宋体" panose="02010600030101010101" pitchFamily="2" charset="-122"/>
                <a:cs typeface="Georgia" panose="02040502050405020303" charset="0"/>
                <a:sym typeface="+mn-ea"/>
              </a:rPr>
              <a:t>, but still with limitations </a:t>
            </a:r>
            <a:r>
              <a:rPr lang="en-US" altLang="zh-CN" sz="1600" dirty="0">
                <a:solidFill>
                  <a:schemeClr val="accent4"/>
                </a:solidFill>
                <a:effectLst/>
                <a:latin typeface="Georgia" panose="02040502050405020303" charset="0"/>
                <a:ea typeface="宋体" panose="02010600030101010101" pitchFamily="2" charset="-122"/>
                <a:cs typeface="Georgia" panose="02040502050405020303" charset="0"/>
                <a:sym typeface="+mn-ea"/>
              </a:rPr>
              <a:t>(Meissner and Senicheva 2018)</a:t>
            </a:r>
            <a:r>
              <a:rPr lang="en-US" altLang="zh-CN" sz="1600" dirty="0">
                <a:effectLst/>
                <a:latin typeface="Georgia" panose="02040502050405020303" charset="0"/>
                <a:ea typeface="宋体" panose="02010600030101010101" pitchFamily="2" charset="-122"/>
                <a:cs typeface="Georgia" panose="02040502050405020303" charset="0"/>
                <a:sym typeface="+mn-ea"/>
              </a:rPr>
              <a:t>.</a:t>
            </a:r>
            <a:endParaRPr lang="en-US" altLang="zh-CN" sz="1600" dirty="0">
              <a:effectLst/>
              <a:latin typeface="Georgia" panose="02040502050405020303" charset="0"/>
              <a:ea typeface="宋体" panose="02010600030101010101" pitchFamily="2" charset="-122"/>
              <a:cs typeface="Georgia" panose="02040502050405020303" charset="0"/>
              <a:sym typeface="+mn-ea"/>
            </a:endParaRPr>
          </a:p>
        </p:txBody>
      </p:sp>
      <p:sp>
        <p:nvSpPr>
          <p:cNvPr id="9" name="文本框 8"/>
          <p:cNvSpPr txBox="1"/>
          <p:nvPr>
            <p:custDataLst>
              <p:tags r:id="rId10"/>
            </p:custDataLst>
          </p:nvPr>
        </p:nvSpPr>
        <p:spPr>
          <a:xfrm>
            <a:off x="553085" y="4545330"/>
            <a:ext cx="7081520" cy="460375"/>
          </a:xfrm>
          <a:prstGeom prst="rect">
            <a:avLst/>
          </a:prstGeom>
          <a:noFill/>
        </p:spPr>
        <p:txBody>
          <a:bodyPr wrap="square" rtlCol="0" anchor="t">
            <a:spAutoFit/>
          </a:bodyPr>
          <a:lstStyle/>
          <a:p>
            <a:pPr indent="0" algn="just" fontAlgn="auto">
              <a:lnSpc>
                <a:spcPct val="120000"/>
              </a:lnSpc>
              <a:spcBef>
                <a:spcPts val="1000"/>
              </a:spcBef>
              <a:spcAft>
                <a:spcPts val="0"/>
              </a:spcAft>
              <a:buFont typeface="Arial" panose="020B0604020202020204" pitchFamily="34" charset="0"/>
              <a:buNone/>
            </a:pPr>
            <a:r>
              <a:rPr lang="en-US" altLang="zh-CN" sz="2000" b="1" dirty="0">
                <a:effectLst/>
                <a:latin typeface="Georgia" panose="02040502050405020303" charset="0"/>
                <a:ea typeface="宋体" panose="02010600030101010101" pitchFamily="2" charset="-122"/>
                <a:cs typeface="Georgia" panose="02040502050405020303" charset="0"/>
                <a:sym typeface="+mn-ea"/>
              </a:rPr>
              <a:t>Reinforcement Learning (RL)</a:t>
            </a:r>
            <a:endParaRPr lang="en-US" altLang="zh-CN" sz="2000" b="1" dirty="0">
              <a:effectLst/>
              <a:latin typeface="Georgia" panose="02040502050405020303" charset="0"/>
              <a:ea typeface="宋体" panose="02010600030101010101" pitchFamily="2" charset="-122"/>
              <a:cs typeface="Georgia" panose="02040502050405020303" charset="0"/>
              <a:sym typeface="+mn-ea"/>
            </a:endParaRPr>
          </a:p>
        </p:txBody>
      </p:sp>
      <p:sp>
        <p:nvSpPr>
          <p:cNvPr id="10" name="文本框 9"/>
          <p:cNvSpPr txBox="1"/>
          <p:nvPr>
            <p:custDataLst>
              <p:tags r:id="rId11"/>
            </p:custDataLst>
          </p:nvPr>
        </p:nvSpPr>
        <p:spPr>
          <a:xfrm>
            <a:off x="553085" y="4949190"/>
            <a:ext cx="10902950" cy="1694180"/>
          </a:xfrm>
          <a:prstGeom prst="rect">
            <a:avLst/>
          </a:prstGeom>
          <a:noFill/>
        </p:spPr>
        <p:txBody>
          <a:bodyPr wrap="square" rtlCol="0" anchor="t">
            <a:spAutoFit/>
          </a:bodyPr>
          <a:lstStyle/>
          <a:p>
            <a:pPr marL="342900" lvl="0" indent="-342900" algn="just" fontAlgn="auto">
              <a:lnSpc>
                <a:spcPct val="120000"/>
              </a:lnSpc>
              <a:spcBef>
                <a:spcPts val="600"/>
              </a:spcBef>
              <a:spcAft>
                <a:spcPts val="0"/>
              </a:spcAft>
              <a:buFont typeface="Arial" panose="020B0604020202020204" pitchFamily="34" charset="0"/>
              <a:buChar char="•"/>
            </a:pPr>
            <a:r>
              <a:rPr lang="en-US" altLang="zh-CN" sz="1600" dirty="0">
                <a:effectLst/>
                <a:latin typeface="Georgia" panose="02040502050405020303" charset="0"/>
                <a:ea typeface="宋体" panose="02010600030101010101" pitchFamily="2" charset="-122"/>
                <a:cs typeface="Georgia" panose="02040502050405020303" charset="0"/>
                <a:sym typeface="+mn-ea"/>
              </a:rPr>
              <a:t>RL strives to maximize the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discounted future benefits</a:t>
            </a:r>
            <a:r>
              <a:rPr lang="en-US" altLang="zh-CN" sz="1600" dirty="0">
                <a:effectLst/>
                <a:latin typeface="Georgia" panose="02040502050405020303" charset="0"/>
                <a:ea typeface="宋体" panose="02010600030101010101" pitchFamily="2" charset="-122"/>
                <a:cs typeface="Georgia" panose="02040502050405020303" charset="0"/>
                <a:sym typeface="+mn-ea"/>
              </a:rPr>
              <a:t>. DRL have unique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dynamic enviromental adaptability</a:t>
            </a:r>
            <a:r>
              <a:rPr lang="en-US" altLang="zh-CN" sz="1600" dirty="0">
                <a:effectLst/>
                <a:latin typeface="Georgia" panose="02040502050405020303" charset="0"/>
                <a:ea typeface="宋体" panose="02010600030101010101" pitchFamily="2" charset="-122"/>
                <a:cs typeface="Georgia" panose="02040502050405020303" charset="0"/>
                <a:sym typeface="+mn-ea"/>
              </a:rPr>
              <a:t>. MARL helps multi-agent </a:t>
            </a:r>
            <a:r>
              <a:rPr lang="en-US" altLang="zh-CN" sz="1600" dirty="0">
                <a:latin typeface="Georgia" panose="02040502050405020303" charset="0"/>
                <a:ea typeface="宋体" panose="02010600030101010101" pitchFamily="2" charset="-122"/>
                <a:cs typeface="Georgia" panose="02040502050405020303" charset="0"/>
                <a:sym typeface="+mn-ea"/>
              </a:rPr>
              <a:t>systems </a:t>
            </a:r>
            <a:r>
              <a:rPr lang="en-US" altLang="zh-CN" sz="1600" dirty="0">
                <a:effectLst/>
                <a:latin typeface="Georgia" panose="02040502050405020303" charset="0"/>
                <a:ea typeface="宋体" panose="02010600030101010101" pitchFamily="2" charset="-122"/>
                <a:cs typeface="Georgia" panose="02040502050405020303" charset="0"/>
                <a:sym typeface="+mn-ea"/>
              </a:rPr>
              <a:t>to foster effective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cooperation</a:t>
            </a:r>
            <a:r>
              <a:rPr lang="en-US" altLang="zh-CN" sz="1600" dirty="0">
                <a:effectLst/>
                <a:latin typeface="Georgia" panose="02040502050405020303" charset="0"/>
                <a:ea typeface="宋体" panose="02010600030101010101" pitchFamily="2" charset="-122"/>
                <a:cs typeface="Georgia" panose="02040502050405020303" charset="0"/>
                <a:sym typeface="+mn-ea"/>
              </a:rPr>
              <a:t>.</a:t>
            </a:r>
            <a:endParaRPr lang="en-US" altLang="zh-CN" sz="1600" dirty="0">
              <a:effectLst/>
              <a:latin typeface="Georgia" panose="02040502050405020303" charset="0"/>
              <a:ea typeface="宋体" panose="02010600030101010101" pitchFamily="2" charset="-122"/>
              <a:cs typeface="Georgia" panose="02040502050405020303" charset="0"/>
              <a:sym typeface="+mn-ea"/>
            </a:endParaRPr>
          </a:p>
          <a:p>
            <a:pPr marL="342900" lvl="0" indent="-342900" algn="just" fontAlgn="auto">
              <a:lnSpc>
                <a:spcPct val="120000"/>
              </a:lnSpc>
              <a:spcBef>
                <a:spcPts val="600"/>
              </a:spcBef>
              <a:spcAft>
                <a:spcPts val="0"/>
              </a:spcAft>
              <a:buFont typeface="Arial" panose="020B0604020202020204" pitchFamily="34" charset="0"/>
              <a:buChar char="•"/>
            </a:pPr>
            <a:r>
              <a:rPr lang="en-US" altLang="zh-CN" sz="1600" dirty="0">
                <a:effectLst/>
                <a:latin typeface="Georgia" panose="02040502050405020303" charset="0"/>
                <a:ea typeface="宋体" panose="02010600030101010101" pitchFamily="2" charset="-122"/>
                <a:cs typeface="Georgia" panose="02040502050405020303" charset="0"/>
                <a:sym typeface="+mn-ea"/>
              </a:rPr>
              <a:t>A few studies have tried RL-related methods and still have limitations: </a:t>
            </a:r>
            <a:endParaRPr lang="en-US" altLang="zh-CN" sz="1600" dirty="0">
              <a:effectLst/>
              <a:latin typeface="Georgia" panose="02040502050405020303" charset="0"/>
              <a:ea typeface="宋体" panose="02010600030101010101" pitchFamily="2" charset="-122"/>
              <a:cs typeface="Georgia" panose="02040502050405020303" charset="0"/>
              <a:sym typeface="+mn-ea"/>
            </a:endParaRPr>
          </a:p>
          <a:p>
            <a:pPr marL="800100" lvl="1" indent="-342900" algn="just" fontAlgn="auto">
              <a:lnSpc>
                <a:spcPct val="120000"/>
              </a:lnSpc>
              <a:spcBef>
                <a:spcPts val="200"/>
              </a:spcBef>
              <a:spcAft>
                <a:spcPts val="0"/>
              </a:spcAft>
              <a:buFont typeface="Wingdings" panose="05000000000000000000" charset="0"/>
              <a:buChar char="ü"/>
            </a:pPr>
            <a:r>
              <a:rPr lang="en-US" altLang="zh-CN" sz="1600" dirty="0">
                <a:effectLst/>
                <a:latin typeface="Georgia" panose="02040502050405020303" charset="0"/>
                <a:ea typeface="宋体" panose="02010600030101010101" pitchFamily="2" charset="-122"/>
                <a:cs typeface="Georgia" panose="02040502050405020303" charset="0"/>
                <a:sym typeface="+mn-ea"/>
              </a:rPr>
              <a:t>Small scale with 2 or 3 locations </a:t>
            </a:r>
            <a:r>
              <a:rPr lang="en-US" altLang="zh-CN" sz="1600" dirty="0">
                <a:solidFill>
                  <a:schemeClr val="accent4"/>
                </a:solidFill>
                <a:effectLst/>
                <a:latin typeface="Georgia" panose="02040502050405020303" charset="0"/>
                <a:ea typeface="宋体" panose="02010600030101010101" pitchFamily="2" charset="-122"/>
                <a:cs typeface="Georgia" panose="02040502050405020303" charset="0"/>
                <a:sym typeface="+mn-ea"/>
              </a:rPr>
              <a:t>(Sampath et al. 2022, Kim et al. 2024)</a:t>
            </a:r>
            <a:r>
              <a:rPr lang="en-US" altLang="zh-CN" sz="1600" dirty="0">
                <a:effectLst/>
                <a:latin typeface="Georgia" panose="02040502050405020303" charset="0"/>
                <a:ea typeface="宋体" panose="02010600030101010101" pitchFamily="2" charset="-122"/>
                <a:cs typeface="Georgia" panose="02040502050405020303" charset="0"/>
                <a:sym typeface="+mn-ea"/>
              </a:rPr>
              <a:t>, but without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scalability</a:t>
            </a:r>
            <a:r>
              <a:rPr lang="en-US" altLang="zh-CN" sz="1600" dirty="0">
                <a:effectLst/>
                <a:latin typeface="Georgia" panose="02040502050405020303" charset="0"/>
                <a:ea typeface="宋体" panose="02010600030101010101" pitchFamily="2" charset="-122"/>
                <a:cs typeface="Georgia" panose="02040502050405020303" charset="0"/>
                <a:sym typeface="+mn-ea"/>
              </a:rPr>
              <a:t>.</a:t>
            </a:r>
            <a:endParaRPr lang="en-US" altLang="zh-CN" sz="1600" dirty="0">
              <a:effectLst/>
              <a:latin typeface="Georgia" panose="02040502050405020303" charset="0"/>
              <a:ea typeface="宋体" panose="02010600030101010101" pitchFamily="2" charset="-122"/>
              <a:cs typeface="Georgia" panose="02040502050405020303" charset="0"/>
              <a:sym typeface="+mn-ea"/>
            </a:endParaRPr>
          </a:p>
          <a:p>
            <a:pPr marL="800100" lvl="1" indent="-342900" algn="just" fontAlgn="auto">
              <a:lnSpc>
                <a:spcPct val="120000"/>
              </a:lnSpc>
              <a:spcBef>
                <a:spcPts val="200"/>
              </a:spcBef>
              <a:spcAft>
                <a:spcPts val="0"/>
              </a:spcAft>
              <a:buFont typeface="Wingdings" panose="05000000000000000000" charset="0"/>
              <a:buChar char="ü"/>
            </a:pPr>
            <a:r>
              <a:rPr lang="en-US" altLang="zh-CN" sz="1600" dirty="0">
                <a:effectLst/>
                <a:latin typeface="Georgia" panose="02040502050405020303" charset="0"/>
                <a:ea typeface="宋体" panose="02010600030101010101" pitchFamily="2" charset="-122"/>
                <a:cs typeface="Georgia" panose="02040502050405020303" charset="0"/>
                <a:sym typeface="+mn-ea"/>
              </a:rPr>
              <a:t>Decentralized transshipment with MARL </a:t>
            </a:r>
            <a:r>
              <a:rPr lang="en-US" altLang="zh-CN" sz="1600" dirty="0">
                <a:solidFill>
                  <a:schemeClr val="accent4"/>
                </a:solidFill>
                <a:effectLst/>
                <a:latin typeface="Georgia" panose="02040502050405020303" charset="0"/>
                <a:ea typeface="宋体" panose="02010600030101010101" pitchFamily="2" charset="-122"/>
                <a:cs typeface="Georgia" panose="02040502050405020303" charset="0"/>
                <a:sym typeface="+mn-ea"/>
              </a:rPr>
              <a:t>(Xu et al. 2023)</a:t>
            </a:r>
            <a:r>
              <a:rPr lang="en-US" altLang="zh-CN" sz="1600" dirty="0">
                <a:effectLst/>
                <a:latin typeface="Georgia" panose="02040502050405020303" charset="0"/>
                <a:ea typeface="宋体" panose="02010600030101010101" pitchFamily="2" charset="-122"/>
                <a:cs typeface="Georgia" panose="02040502050405020303" charset="0"/>
                <a:sym typeface="+mn-ea"/>
              </a:rPr>
              <a:t>, but limited in </a:t>
            </a:r>
            <a:r>
              <a:rPr lang="en-US" altLang="zh-CN" sz="1600" dirty="0">
                <a:solidFill>
                  <a:srgbClr val="0070C0"/>
                </a:solidFill>
                <a:effectLst/>
                <a:latin typeface="Georgia" panose="02040502050405020303" charset="0"/>
                <a:ea typeface="宋体" panose="02010600030101010101" pitchFamily="2" charset="-122"/>
                <a:cs typeface="Georgia" panose="02040502050405020303" charset="0"/>
                <a:sym typeface="+mn-ea"/>
              </a:rPr>
              <a:t>decentralized information utilization</a:t>
            </a:r>
            <a:r>
              <a:rPr lang="en-US" altLang="zh-CN" sz="1600" dirty="0">
                <a:effectLst/>
                <a:latin typeface="Georgia" panose="02040502050405020303" charset="0"/>
                <a:ea typeface="宋体" panose="02010600030101010101" pitchFamily="2" charset="-122"/>
                <a:cs typeface="Georgia" panose="02040502050405020303" charset="0"/>
                <a:sym typeface="+mn-ea"/>
              </a:rPr>
              <a:t>.</a:t>
            </a:r>
            <a:endParaRPr lang="en-US" altLang="zh-CN" sz="1600" dirty="0">
              <a:effectLst/>
              <a:latin typeface="Georgia" panose="02040502050405020303" charset="0"/>
              <a:ea typeface="宋体" panose="02010600030101010101" pitchFamily="2" charset="-122"/>
              <a:cs typeface="Georgia" panose="02040502050405020303" charset="0"/>
              <a:sym typeface="+mn-ea"/>
            </a:endParaRPr>
          </a:p>
        </p:txBody>
      </p:sp>
      <p:sp>
        <p:nvSpPr>
          <p:cNvPr id="11" name="灯片编号占位符 10"/>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advTm="145640">
        <p:wipe dir="d"/>
      </p:transition>
    </mc:Choice>
    <mc:Fallback>
      <p:transition advTm="145640">
        <p:wipe dir="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 name="文本框 2"/>
          <p:cNvSpPr txBox="1"/>
          <p:nvPr/>
        </p:nvSpPr>
        <p:spPr>
          <a:xfrm>
            <a:off x="615950" y="1094740"/>
            <a:ext cx="10336530" cy="39878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a:latin typeface="Georgia" panose="02040502050405020303" charset="0"/>
                <a:cs typeface="Georgia" panose="02040502050405020303" charset="0"/>
              </a:rPr>
              <a:t>When applying RL directly, several nontrivial limitations and challenges still persist.</a:t>
            </a:r>
            <a:endParaRPr lang="en-US" altLang="zh-CN" sz="2000">
              <a:latin typeface="Georgia" panose="02040502050405020303" charset="0"/>
              <a:cs typeface="Georgia" panose="02040502050405020303" charset="0"/>
            </a:endParaRPr>
          </a:p>
        </p:txBody>
      </p:sp>
      <p:pic>
        <p:nvPicPr>
          <p:cNvPr id="38" name="图片 37"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83030" y="2183130"/>
            <a:ext cx="644525" cy="644525"/>
          </a:xfrm>
          <a:prstGeom prst="rect">
            <a:avLst/>
          </a:prstGeom>
          <a:effectLst>
            <a:outerShdw blurRad="63500" sx="102000" sy="102000" algn="ctr" rotWithShape="0">
              <a:prstClr val="black">
                <a:alpha val="40000"/>
              </a:prstClr>
            </a:outerShdw>
          </a:effectLst>
        </p:spPr>
      </p:pic>
      <p:pic>
        <p:nvPicPr>
          <p:cNvPr id="8" name="图片 7"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35450" y="2183130"/>
            <a:ext cx="644525" cy="644525"/>
          </a:xfrm>
          <a:prstGeom prst="rect">
            <a:avLst/>
          </a:prstGeom>
          <a:effectLst>
            <a:outerShdw blurRad="63500" sx="102000" sy="102000" algn="ctr" rotWithShape="0">
              <a:prstClr val="black">
                <a:alpha val="40000"/>
              </a:prstClr>
            </a:outerShdw>
          </a:effectLst>
        </p:spPr>
      </p:pic>
      <p:pic>
        <p:nvPicPr>
          <p:cNvPr id="9" name="图片 8"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83030" y="4581525"/>
            <a:ext cx="644525" cy="644525"/>
          </a:xfrm>
          <a:prstGeom prst="rect">
            <a:avLst/>
          </a:prstGeom>
          <a:effectLst>
            <a:outerShdw blurRad="63500" sx="102000" sy="102000" algn="ctr" rotWithShape="0">
              <a:prstClr val="black">
                <a:alpha val="40000"/>
              </a:prstClr>
            </a:outerShdw>
          </a:effectLst>
        </p:spPr>
      </p:pic>
      <p:pic>
        <p:nvPicPr>
          <p:cNvPr id="11" name="图片 10"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35450" y="4581525"/>
            <a:ext cx="644525" cy="644525"/>
          </a:xfrm>
          <a:prstGeom prst="rect">
            <a:avLst/>
          </a:prstGeom>
          <a:effectLst>
            <a:outerShdw blurRad="63500" sx="102000" sy="102000" algn="ctr" rotWithShape="0">
              <a:prstClr val="black">
                <a:alpha val="40000"/>
              </a:prstClr>
            </a:outerShdw>
          </a:effectLst>
        </p:spPr>
      </p:pic>
      <p:grpSp>
        <p:nvGrpSpPr>
          <p:cNvPr id="31" name="组合 30"/>
          <p:cNvGrpSpPr/>
          <p:nvPr/>
        </p:nvGrpSpPr>
        <p:grpSpPr>
          <a:xfrm>
            <a:off x="2030730" y="1644015"/>
            <a:ext cx="1391285" cy="650875"/>
            <a:chOff x="2941" y="2465"/>
            <a:chExt cx="2009" cy="940"/>
          </a:xfrm>
        </p:grpSpPr>
        <p:sp>
          <p:nvSpPr>
            <p:cNvPr id="13" name="下箭头 12"/>
            <p:cNvSpPr/>
            <p:nvPr/>
          </p:nvSpPr>
          <p:spPr>
            <a:xfrm rot="2580000">
              <a:off x="2941" y="2858"/>
              <a:ext cx="382" cy="547"/>
            </a:xfrm>
            <a:prstGeom prst="downArrow">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Georgia" panose="02040502050405020303" charset="0"/>
                <a:cs typeface="Georgia" panose="02040502050405020303" charset="0"/>
              </a:endParaRPr>
            </a:p>
          </p:txBody>
        </p:sp>
        <p:sp>
          <p:nvSpPr>
            <p:cNvPr id="14" name="文本框 13"/>
            <p:cNvSpPr txBox="1"/>
            <p:nvPr/>
          </p:nvSpPr>
          <p:spPr>
            <a:xfrm>
              <a:off x="3227" y="2465"/>
              <a:ext cx="1723" cy="532"/>
            </a:xfrm>
            <a:prstGeom prst="rect">
              <a:avLst/>
            </a:prstGeom>
            <a:noFill/>
          </p:spPr>
          <p:txBody>
            <a:bodyPr wrap="square" rtlCol="0">
              <a:spAutoFit/>
            </a:bodyPr>
            <a:lstStyle/>
            <a:p>
              <a:r>
                <a:rPr lang="en-US" altLang="zh-CN">
                  <a:solidFill>
                    <a:schemeClr val="accent3">
                      <a:lumMod val="75000"/>
                    </a:schemeClr>
                  </a:solidFill>
                  <a:latin typeface="Georgia" panose="02040502050405020303" charset="0"/>
                  <a:ea typeface="微软雅黑" panose="020B0503020204020204" pitchFamily="34" charset="-122"/>
                  <a:cs typeface="Georgia" panose="02040502050405020303" charset="0"/>
                </a:rPr>
                <a:t>rep=20</a:t>
              </a:r>
              <a:endParaRPr lang="en-US" altLang="zh-CN">
                <a:solidFill>
                  <a:schemeClr val="accent3">
                    <a:lumMod val="75000"/>
                  </a:schemeClr>
                </a:solidFill>
                <a:latin typeface="Georgia" panose="02040502050405020303" charset="0"/>
                <a:ea typeface="微软雅黑" panose="020B0503020204020204" pitchFamily="34" charset="-122"/>
                <a:cs typeface="Georgia" panose="02040502050405020303" charset="0"/>
              </a:endParaRPr>
            </a:p>
          </p:txBody>
        </p:sp>
      </p:grpSp>
      <p:cxnSp>
        <p:nvCxnSpPr>
          <p:cNvPr id="17" name="直接箭头连接符 16"/>
          <p:cNvCxnSpPr/>
          <p:nvPr/>
        </p:nvCxnSpPr>
        <p:spPr>
          <a:xfrm flipH="1" flipV="1">
            <a:off x="2101850" y="2887345"/>
            <a:ext cx="2005965" cy="1652270"/>
          </a:xfrm>
          <a:prstGeom prst="straightConnector1">
            <a:avLst/>
          </a:prstGeom>
          <a:ln w="19050">
            <a:solidFill>
              <a:schemeClr val="accent3">
                <a:lumMod val="75000"/>
              </a:schemeClr>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flipV="1">
            <a:off x="1618615" y="2887345"/>
            <a:ext cx="0" cy="1623060"/>
          </a:xfrm>
          <a:prstGeom prst="straightConnector1">
            <a:avLst/>
          </a:prstGeom>
          <a:ln w="19050">
            <a:solidFill>
              <a:schemeClr val="accent3">
                <a:lumMod val="75000"/>
              </a:schemeClr>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278890" y="3545205"/>
            <a:ext cx="339725" cy="398780"/>
          </a:xfrm>
          <a:prstGeom prst="rect">
            <a:avLst/>
          </a:prstGeom>
          <a:noFill/>
          <a:ln>
            <a:noFill/>
          </a:ln>
        </p:spPr>
        <p:txBody>
          <a:bodyPr wrap="square" rtlCol="0">
            <a:spAutoFit/>
          </a:bodyPr>
          <a:lstStyle/>
          <a:p>
            <a:r>
              <a:rPr lang="en-US" altLang="zh-CN" sz="2000">
                <a:ln>
                  <a:noFill/>
                </a:ln>
                <a:solidFill>
                  <a:schemeClr val="accent3">
                    <a:lumMod val="75000"/>
                  </a:schemeClr>
                </a:solidFill>
                <a:latin typeface="Georgia" panose="02040502050405020303" charset="0"/>
                <a:ea typeface="微软雅黑" panose="020B0503020204020204" pitchFamily="34" charset="-122"/>
                <a:cs typeface="Georgia" panose="02040502050405020303" charset="0"/>
              </a:rPr>
              <a:t>2</a:t>
            </a:r>
            <a:endParaRPr lang="en-US" altLang="zh-CN" sz="2000">
              <a:ln>
                <a:noFill/>
              </a:ln>
              <a:solidFill>
                <a:schemeClr val="accent3">
                  <a:lumMod val="75000"/>
                </a:schemeClr>
              </a:solidFill>
              <a:latin typeface="Georgia" panose="02040502050405020303" charset="0"/>
              <a:ea typeface="微软雅黑" panose="020B0503020204020204" pitchFamily="34" charset="-122"/>
              <a:cs typeface="Georgia" panose="02040502050405020303" charset="0"/>
            </a:endParaRPr>
          </a:p>
        </p:txBody>
      </p:sp>
      <p:sp>
        <p:nvSpPr>
          <p:cNvPr id="19" name="文本框 18"/>
          <p:cNvSpPr txBox="1"/>
          <p:nvPr/>
        </p:nvSpPr>
        <p:spPr>
          <a:xfrm>
            <a:off x="2494280" y="3375660"/>
            <a:ext cx="339725" cy="398780"/>
          </a:xfrm>
          <a:prstGeom prst="rect">
            <a:avLst/>
          </a:prstGeom>
          <a:noFill/>
          <a:ln>
            <a:noFill/>
          </a:ln>
        </p:spPr>
        <p:txBody>
          <a:bodyPr wrap="square" rtlCol="0">
            <a:spAutoFit/>
          </a:bodyPr>
          <a:lstStyle/>
          <a:p>
            <a:r>
              <a:rPr lang="en-US" altLang="zh-CN" sz="2000">
                <a:ln>
                  <a:noFill/>
                </a:ln>
                <a:solidFill>
                  <a:schemeClr val="accent3">
                    <a:lumMod val="75000"/>
                  </a:schemeClr>
                </a:solidFill>
                <a:latin typeface="Georgia" panose="02040502050405020303" charset="0"/>
                <a:ea typeface="微软雅黑" panose="020B0503020204020204" pitchFamily="34" charset="-122"/>
                <a:cs typeface="Georgia" panose="02040502050405020303" charset="0"/>
              </a:rPr>
              <a:t>4</a:t>
            </a:r>
            <a:endParaRPr lang="en-US" altLang="zh-CN" sz="2000">
              <a:ln>
                <a:noFill/>
              </a:ln>
              <a:solidFill>
                <a:schemeClr val="accent3">
                  <a:lumMod val="75000"/>
                </a:schemeClr>
              </a:solidFill>
              <a:latin typeface="Georgia" panose="02040502050405020303" charset="0"/>
              <a:ea typeface="微软雅黑" panose="020B0503020204020204" pitchFamily="34" charset="-122"/>
              <a:cs typeface="Georgia" panose="02040502050405020303" charset="0"/>
            </a:endParaRPr>
          </a:p>
        </p:txBody>
      </p:sp>
      <p:cxnSp>
        <p:nvCxnSpPr>
          <p:cNvPr id="22" name="直接箭头连接符 21"/>
          <p:cNvCxnSpPr/>
          <p:nvPr/>
        </p:nvCxnSpPr>
        <p:spPr>
          <a:xfrm flipV="1">
            <a:off x="1819910" y="2914015"/>
            <a:ext cx="0" cy="1623060"/>
          </a:xfrm>
          <a:prstGeom prst="straightConnector1">
            <a:avLst/>
          </a:prstGeom>
          <a:ln w="19050">
            <a:solidFill>
              <a:schemeClr val="accent6">
                <a:lumMod val="75000"/>
              </a:schemeClr>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flipV="1">
            <a:off x="2115820" y="4845050"/>
            <a:ext cx="2026285" cy="4445"/>
          </a:xfrm>
          <a:prstGeom prst="straightConnector1">
            <a:avLst/>
          </a:prstGeom>
          <a:ln w="19050">
            <a:solidFill>
              <a:schemeClr val="accent6">
                <a:lumMod val="75000"/>
              </a:schemeClr>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V="1">
            <a:off x="2027555" y="2928620"/>
            <a:ext cx="2059940" cy="1693545"/>
          </a:xfrm>
          <a:prstGeom prst="straightConnector1">
            <a:avLst/>
          </a:prstGeom>
          <a:ln w="19050">
            <a:solidFill>
              <a:schemeClr val="accent6">
                <a:lumMod val="75000"/>
              </a:schemeClr>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3422015" y="3375660"/>
            <a:ext cx="339725" cy="398780"/>
          </a:xfrm>
          <a:prstGeom prst="rect">
            <a:avLst/>
          </a:prstGeom>
          <a:noFill/>
          <a:ln>
            <a:noFill/>
          </a:ln>
        </p:spPr>
        <p:txBody>
          <a:bodyPr wrap="square" rtlCol="0">
            <a:spAutoFit/>
          </a:bodyPr>
          <a:lstStyle/>
          <a:p>
            <a:r>
              <a:rPr lang="en-US" altLang="zh-CN" sz="2000">
                <a:ln>
                  <a:noFill/>
                </a:ln>
                <a:solidFill>
                  <a:schemeClr val="accent6">
                    <a:lumMod val="75000"/>
                  </a:schemeClr>
                </a:solidFill>
                <a:latin typeface="Georgia" panose="02040502050405020303" charset="0"/>
                <a:ea typeface="微软雅黑" panose="020B0503020204020204" pitchFamily="34" charset="-122"/>
                <a:cs typeface="Georgia" panose="02040502050405020303" charset="0"/>
              </a:rPr>
              <a:t>3</a:t>
            </a:r>
            <a:endParaRPr lang="en-US" altLang="zh-CN" sz="2000">
              <a:ln>
                <a:noFill/>
              </a:ln>
              <a:solidFill>
                <a:schemeClr val="accent6">
                  <a:lumMod val="75000"/>
                </a:schemeClr>
              </a:solidFill>
              <a:latin typeface="Georgia" panose="02040502050405020303" charset="0"/>
              <a:ea typeface="微软雅黑" panose="020B0503020204020204" pitchFamily="34" charset="-122"/>
              <a:cs typeface="Georgia" panose="02040502050405020303" charset="0"/>
            </a:endParaRPr>
          </a:p>
        </p:txBody>
      </p:sp>
      <p:sp>
        <p:nvSpPr>
          <p:cNvPr id="27" name="文本框 26"/>
          <p:cNvSpPr txBox="1"/>
          <p:nvPr/>
        </p:nvSpPr>
        <p:spPr>
          <a:xfrm>
            <a:off x="2961640" y="4443095"/>
            <a:ext cx="339725" cy="398780"/>
          </a:xfrm>
          <a:prstGeom prst="rect">
            <a:avLst/>
          </a:prstGeom>
          <a:noFill/>
          <a:ln>
            <a:noFill/>
          </a:ln>
        </p:spPr>
        <p:txBody>
          <a:bodyPr wrap="square" rtlCol="0">
            <a:spAutoFit/>
          </a:bodyPr>
          <a:lstStyle/>
          <a:p>
            <a:r>
              <a:rPr lang="en-US" altLang="zh-CN" sz="2000">
                <a:ln>
                  <a:noFill/>
                </a:ln>
                <a:solidFill>
                  <a:schemeClr val="accent6">
                    <a:lumMod val="75000"/>
                  </a:schemeClr>
                </a:solidFill>
                <a:latin typeface="Georgia" panose="02040502050405020303" charset="0"/>
                <a:ea typeface="微软雅黑" panose="020B0503020204020204" pitchFamily="34" charset="-122"/>
                <a:cs typeface="Georgia" panose="02040502050405020303" charset="0"/>
              </a:rPr>
              <a:t>1</a:t>
            </a:r>
            <a:endParaRPr lang="en-US" altLang="zh-CN" sz="2000">
              <a:ln>
                <a:noFill/>
              </a:ln>
              <a:solidFill>
                <a:schemeClr val="accent6">
                  <a:lumMod val="75000"/>
                </a:schemeClr>
              </a:solidFill>
              <a:latin typeface="Georgia" panose="02040502050405020303" charset="0"/>
              <a:ea typeface="微软雅黑" panose="020B0503020204020204" pitchFamily="34" charset="-122"/>
              <a:cs typeface="Georgia" panose="02040502050405020303" charset="0"/>
            </a:endParaRPr>
          </a:p>
        </p:txBody>
      </p:sp>
      <p:sp>
        <p:nvSpPr>
          <p:cNvPr id="28" name="文本框 27"/>
          <p:cNvSpPr txBox="1"/>
          <p:nvPr/>
        </p:nvSpPr>
        <p:spPr>
          <a:xfrm>
            <a:off x="1819910" y="3545205"/>
            <a:ext cx="296545" cy="398780"/>
          </a:xfrm>
          <a:prstGeom prst="rect">
            <a:avLst/>
          </a:prstGeom>
          <a:noFill/>
        </p:spPr>
        <p:txBody>
          <a:bodyPr wrap="square" rtlCol="0" anchor="t">
            <a:spAutoFit/>
          </a:bodyPr>
          <a:lstStyle/>
          <a:p>
            <a:r>
              <a:rPr lang="en-US" altLang="zh-CN" sz="2000">
                <a:ln>
                  <a:noFill/>
                </a:ln>
                <a:solidFill>
                  <a:schemeClr val="accent6">
                    <a:lumMod val="75000"/>
                  </a:schemeClr>
                </a:solidFill>
                <a:latin typeface="Georgia" panose="02040502050405020303" charset="0"/>
                <a:ea typeface="微软雅黑" panose="020B0503020204020204" pitchFamily="34" charset="-122"/>
                <a:cs typeface="Georgia" panose="02040502050405020303" charset="0"/>
                <a:sym typeface="+mn-ea"/>
              </a:rPr>
              <a:t>3</a:t>
            </a:r>
            <a:endParaRPr lang="en-US" altLang="zh-CN" sz="2000">
              <a:ln>
                <a:noFill/>
              </a:ln>
              <a:solidFill>
                <a:schemeClr val="accent6">
                  <a:lumMod val="75000"/>
                </a:schemeClr>
              </a:solidFill>
              <a:latin typeface="Georgia" panose="02040502050405020303" charset="0"/>
              <a:ea typeface="微软雅黑" panose="020B0503020204020204" pitchFamily="34" charset="-122"/>
              <a:cs typeface="Georgia" panose="02040502050405020303" charset="0"/>
              <a:sym typeface="+mn-ea"/>
            </a:endParaRPr>
          </a:p>
        </p:txBody>
      </p:sp>
      <p:grpSp>
        <p:nvGrpSpPr>
          <p:cNvPr id="34" name="组合 33"/>
          <p:cNvGrpSpPr/>
          <p:nvPr/>
        </p:nvGrpSpPr>
        <p:grpSpPr>
          <a:xfrm>
            <a:off x="2014855" y="5200015"/>
            <a:ext cx="1460500" cy="529590"/>
            <a:chOff x="2918" y="7601"/>
            <a:chExt cx="2109" cy="765"/>
          </a:xfrm>
        </p:grpSpPr>
        <p:sp>
          <p:nvSpPr>
            <p:cNvPr id="29" name="下箭头 28"/>
            <p:cNvSpPr/>
            <p:nvPr/>
          </p:nvSpPr>
          <p:spPr>
            <a:xfrm rot="7860000">
              <a:off x="3000" y="7518"/>
              <a:ext cx="382" cy="547"/>
            </a:xfrm>
            <a:prstGeom prst="downArrow">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Georgia" panose="02040502050405020303" charset="0"/>
                <a:cs typeface="Georgia" panose="02040502050405020303" charset="0"/>
              </a:endParaRPr>
            </a:p>
          </p:txBody>
        </p:sp>
        <p:sp>
          <p:nvSpPr>
            <p:cNvPr id="30" name="文本框 29"/>
            <p:cNvSpPr txBox="1"/>
            <p:nvPr/>
          </p:nvSpPr>
          <p:spPr>
            <a:xfrm>
              <a:off x="3304" y="7834"/>
              <a:ext cx="1723" cy="532"/>
            </a:xfrm>
            <a:prstGeom prst="rect">
              <a:avLst/>
            </a:prstGeom>
            <a:noFill/>
          </p:spPr>
          <p:txBody>
            <a:bodyPr wrap="square" rtlCol="0">
              <a:spAutoFit/>
            </a:bodyPr>
            <a:lstStyle/>
            <a:p>
              <a:r>
                <a:rPr lang="en-US" altLang="zh-CN">
                  <a:solidFill>
                    <a:schemeClr val="accent6">
                      <a:lumMod val="75000"/>
                    </a:schemeClr>
                  </a:solidFill>
                  <a:latin typeface="Georgia" panose="02040502050405020303" charset="0"/>
                  <a:ea typeface="微软雅黑" panose="020B0503020204020204" pitchFamily="34" charset="-122"/>
                  <a:cs typeface="Georgia" panose="02040502050405020303" charset="0"/>
                </a:rPr>
                <a:t>rep=12</a:t>
              </a:r>
              <a:endParaRPr lang="en-US" altLang="zh-CN">
                <a:solidFill>
                  <a:schemeClr val="accent6">
                    <a:lumMod val="75000"/>
                  </a:schemeClr>
                </a:solidFill>
                <a:latin typeface="Georgia" panose="02040502050405020303" charset="0"/>
                <a:ea typeface="微软雅黑" panose="020B0503020204020204" pitchFamily="34" charset="-122"/>
                <a:cs typeface="Georgia" panose="02040502050405020303" charset="0"/>
              </a:endParaRPr>
            </a:p>
          </p:txBody>
        </p:sp>
      </p:grpSp>
      <p:sp>
        <p:nvSpPr>
          <p:cNvPr id="35" name="椭圆 34"/>
          <p:cNvSpPr/>
          <p:nvPr/>
        </p:nvSpPr>
        <p:spPr>
          <a:xfrm>
            <a:off x="1177290" y="3489960"/>
            <a:ext cx="1082040" cy="533400"/>
          </a:xfrm>
          <a:prstGeom prst="ellipse">
            <a:avLst/>
          </a:prstGeom>
          <a:noFill/>
          <a:ln w="28575">
            <a:solidFill>
              <a:srgbClr val="C00000"/>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Georgia" panose="02040502050405020303" charset="0"/>
              <a:cs typeface="Georgia" panose="02040502050405020303" charset="0"/>
            </a:endParaRPr>
          </a:p>
        </p:txBody>
      </p:sp>
      <p:sp>
        <p:nvSpPr>
          <p:cNvPr id="36" name="文本框 35"/>
          <p:cNvSpPr txBox="1"/>
          <p:nvPr/>
        </p:nvSpPr>
        <p:spPr>
          <a:xfrm>
            <a:off x="627380" y="3337560"/>
            <a:ext cx="529590" cy="829945"/>
          </a:xfrm>
          <a:prstGeom prst="rect">
            <a:avLst/>
          </a:prstGeom>
          <a:noFill/>
        </p:spPr>
        <p:txBody>
          <a:bodyPr wrap="square" rtlCol="0">
            <a:spAutoFit/>
          </a:bodyPr>
          <a:lstStyle/>
          <a:p>
            <a:pPr algn="ctr"/>
            <a:r>
              <a:rPr lang="en-US" altLang="zh-CN" sz="4800" b="1">
                <a:solidFill>
                  <a:srgbClr val="C00000"/>
                </a:solidFill>
                <a:effectLst>
                  <a:outerShdw blurRad="38100" dist="38100" dir="2700000" algn="tl">
                    <a:srgbClr val="000000">
                      <a:alpha val="43137"/>
                    </a:srgbClr>
                  </a:outerShdw>
                </a:effectLst>
                <a:latin typeface="Georgia" panose="02040502050405020303" charset="0"/>
                <a:cs typeface="Georgia" panose="02040502050405020303" charset="0"/>
              </a:rPr>
              <a:t>?</a:t>
            </a:r>
            <a:endParaRPr lang="en-US" altLang="zh-CN" sz="4800" b="1">
              <a:solidFill>
                <a:srgbClr val="C00000"/>
              </a:solidFill>
              <a:effectLst>
                <a:outerShdw blurRad="38100" dist="38100" dir="2700000" algn="tl">
                  <a:srgbClr val="000000">
                    <a:alpha val="43137"/>
                  </a:srgbClr>
                </a:outerShdw>
              </a:effectLst>
              <a:latin typeface="Georgia" panose="02040502050405020303" charset="0"/>
              <a:cs typeface="Georgia" panose="02040502050405020303" charset="0"/>
            </a:endParaRPr>
          </a:p>
        </p:txBody>
      </p:sp>
      <p:sp>
        <p:nvSpPr>
          <p:cNvPr id="4" name="文本框 3"/>
          <p:cNvSpPr txBox="1"/>
          <p:nvPr/>
        </p:nvSpPr>
        <p:spPr>
          <a:xfrm>
            <a:off x="1524635" y="2392045"/>
            <a:ext cx="387985" cy="398780"/>
          </a:xfrm>
          <a:prstGeom prst="rect">
            <a:avLst/>
          </a:prstGeom>
          <a:noFill/>
        </p:spPr>
        <p:txBody>
          <a:bodyPr wrap="square" rtlCol="0">
            <a:spAutoFit/>
          </a:bodyPr>
          <a:lstStyle/>
          <a:p>
            <a:pPr algn="ctr"/>
            <a:r>
              <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A</a:t>
            </a:r>
            <a:endPar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5" name="文本框 4"/>
          <p:cNvSpPr txBox="1"/>
          <p:nvPr/>
        </p:nvSpPr>
        <p:spPr>
          <a:xfrm>
            <a:off x="4363720" y="2392045"/>
            <a:ext cx="387985" cy="398780"/>
          </a:xfrm>
          <a:prstGeom prst="rect">
            <a:avLst/>
          </a:prstGeom>
          <a:noFill/>
        </p:spPr>
        <p:txBody>
          <a:bodyPr wrap="square" rtlCol="0">
            <a:spAutoFit/>
          </a:bodyPr>
          <a:lstStyle/>
          <a:p>
            <a:pPr algn="ctr"/>
            <a:r>
              <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C</a:t>
            </a:r>
            <a:endPar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7" name="文本框 6"/>
          <p:cNvSpPr txBox="1"/>
          <p:nvPr/>
        </p:nvSpPr>
        <p:spPr>
          <a:xfrm>
            <a:off x="1522095" y="4790440"/>
            <a:ext cx="387985" cy="398780"/>
          </a:xfrm>
          <a:prstGeom prst="rect">
            <a:avLst/>
          </a:prstGeom>
          <a:noFill/>
        </p:spPr>
        <p:txBody>
          <a:bodyPr wrap="square" rtlCol="0">
            <a:spAutoFit/>
          </a:bodyPr>
          <a:lstStyle/>
          <a:p>
            <a:pPr algn="ctr"/>
            <a:r>
              <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B</a:t>
            </a:r>
            <a:endPar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10" name="文本框 9"/>
          <p:cNvSpPr txBox="1"/>
          <p:nvPr/>
        </p:nvSpPr>
        <p:spPr>
          <a:xfrm>
            <a:off x="4360545" y="4790440"/>
            <a:ext cx="387985" cy="398780"/>
          </a:xfrm>
          <a:prstGeom prst="rect">
            <a:avLst/>
          </a:prstGeom>
          <a:noFill/>
        </p:spPr>
        <p:txBody>
          <a:bodyPr wrap="square" rtlCol="0">
            <a:spAutoFit/>
          </a:bodyPr>
          <a:lstStyle/>
          <a:p>
            <a:pPr algn="ctr"/>
            <a:r>
              <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D</a:t>
            </a:r>
            <a:endParaRPr lang="en-US" altLang="zh-CN" sz="20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16" name="文本框 15"/>
          <p:cNvSpPr txBox="1"/>
          <p:nvPr/>
        </p:nvSpPr>
        <p:spPr>
          <a:xfrm>
            <a:off x="5450840" y="1694180"/>
            <a:ext cx="6104255" cy="1650365"/>
          </a:xfrm>
          <a:prstGeom prst="rect">
            <a:avLst/>
          </a:prstGeom>
        </p:spPr>
        <p:txBody>
          <a:bodyPr wrap="square">
            <a:spAutoFit/>
          </a:bodyPr>
          <a:lstStyle/>
          <a:p>
            <a:pPr marL="342900" indent="-342900" fontAlgn="auto">
              <a:lnSpc>
                <a:spcPct val="120000"/>
              </a:lnSpc>
              <a:spcBef>
                <a:spcPts val="900"/>
              </a:spcBef>
              <a:buFont typeface="+mj-lt"/>
              <a:buAutoNum type="arabicPeriod"/>
            </a:pPr>
            <a:r>
              <a:rPr lang="en-US" altLang="zh-CN" dirty="0">
                <a:solidFill>
                  <a:srgbClr val="000000"/>
                </a:solidFill>
                <a:latin typeface="Georgia" panose="02040502050405020303" charset="0"/>
                <a:ea typeface="CMR10"/>
                <a:cs typeface="Georgia" panose="02040502050405020303" charset="0"/>
              </a:rPr>
              <a:t>Transshipment involves at least two retailers, should not be made </a:t>
            </a:r>
            <a:r>
              <a:rPr lang="en-US" altLang="zh-CN" dirty="0">
                <a:solidFill>
                  <a:srgbClr val="000000"/>
                </a:solidFill>
                <a:latin typeface="Georgia" panose="02040502050405020303" charset="0"/>
                <a:ea typeface="CMR10"/>
                <a:cs typeface="Georgia" panose="02040502050405020303" charset="0"/>
                <a:sym typeface="+mn-ea"/>
              </a:rPr>
              <a:t>in a </a:t>
            </a:r>
            <a:r>
              <a:rPr lang="en-US" altLang="zh-CN" dirty="0">
                <a:solidFill>
                  <a:srgbClr val="C00000"/>
                </a:solidFill>
                <a:latin typeface="Georgia" panose="02040502050405020303" charset="0"/>
                <a:ea typeface="CMR10"/>
                <a:cs typeface="Georgia" panose="02040502050405020303" charset="0"/>
                <a:sym typeface="+mn-ea"/>
              </a:rPr>
              <a:t>fully-decentralized</a:t>
            </a:r>
            <a:r>
              <a:rPr lang="en-US" altLang="zh-CN" dirty="0">
                <a:solidFill>
                  <a:schemeClr val="tx1"/>
                </a:solidFill>
                <a:latin typeface="Georgia" panose="02040502050405020303" charset="0"/>
                <a:ea typeface="CMR10"/>
                <a:cs typeface="Georgia" panose="02040502050405020303" charset="0"/>
                <a:sym typeface="+mn-ea"/>
              </a:rPr>
              <a:t> manner</a:t>
            </a:r>
            <a:r>
              <a:rPr lang="en-US" altLang="zh-CN" dirty="0">
                <a:solidFill>
                  <a:srgbClr val="000000"/>
                </a:solidFill>
                <a:latin typeface="Georgia" panose="02040502050405020303" charset="0"/>
                <a:ea typeface="CMR10"/>
                <a:cs typeface="Georgia" panose="02040502050405020303" charset="0"/>
              </a:rPr>
              <a:t>:</a:t>
            </a:r>
            <a:endParaRPr lang="en-US" altLang="zh-CN" dirty="0">
              <a:solidFill>
                <a:srgbClr val="000000"/>
              </a:solidFill>
              <a:latin typeface="Georgia" panose="02040502050405020303" charset="0"/>
              <a:ea typeface="CMR10"/>
              <a:cs typeface="Georgia" panose="02040502050405020303" charset="0"/>
            </a:endParaRPr>
          </a:p>
          <a:p>
            <a:pPr marL="547370" lvl="1" indent="-198120" fontAlgn="auto">
              <a:lnSpc>
                <a:spcPct val="120000"/>
              </a:lnSpc>
              <a:spcBef>
                <a:spcPts val="900"/>
              </a:spcBef>
              <a:buFont typeface="Arial" panose="020B0604020202020204" pitchFamily="34" charset="0"/>
              <a:buChar char="•"/>
            </a:pPr>
            <a:r>
              <a:rPr lang="en-US" altLang="zh-CN" dirty="0">
                <a:solidFill>
                  <a:srgbClr val="000000"/>
                </a:solidFill>
                <a:latin typeface="Georgia" panose="02040502050405020303" charset="0"/>
                <a:ea typeface="CMR10"/>
                <a:cs typeface="Georgia" panose="02040502050405020303" charset="0"/>
              </a:rPr>
              <a:t>do transshipment from the </a:t>
            </a:r>
            <a:r>
              <a:rPr lang="en-US" altLang="zh-CN" dirty="0">
                <a:solidFill>
                  <a:srgbClr val="0070C0"/>
                </a:solidFill>
                <a:latin typeface="Georgia" panose="02040502050405020303" charset="0"/>
                <a:ea typeface="CMR10"/>
                <a:cs typeface="Georgia" panose="02040502050405020303" charset="0"/>
              </a:rPr>
              <a:t>global</a:t>
            </a:r>
            <a:r>
              <a:rPr lang="en-US" altLang="zh-CN" dirty="0">
                <a:solidFill>
                  <a:srgbClr val="000000"/>
                </a:solidFill>
                <a:latin typeface="Georgia" panose="02040502050405020303" charset="0"/>
                <a:ea typeface="CMR10"/>
                <a:cs typeface="Georgia" panose="02040502050405020303" charset="0"/>
              </a:rPr>
              <a:t> perspective.</a:t>
            </a:r>
            <a:endParaRPr lang="en-US" altLang="zh-CN" dirty="0">
              <a:solidFill>
                <a:srgbClr val="000000"/>
              </a:solidFill>
              <a:latin typeface="Georgia" panose="02040502050405020303" charset="0"/>
              <a:ea typeface="CMR10"/>
              <a:cs typeface="Georgia" panose="02040502050405020303" charset="0"/>
            </a:endParaRPr>
          </a:p>
          <a:p>
            <a:pPr marL="547370" lvl="1" indent="-198120" fontAlgn="auto">
              <a:lnSpc>
                <a:spcPct val="120000"/>
              </a:lnSpc>
              <a:spcBef>
                <a:spcPts val="900"/>
              </a:spcBef>
              <a:buFont typeface="Arial" panose="020B0604020202020204" pitchFamily="34" charset="0"/>
              <a:buChar char="•"/>
            </a:pPr>
            <a:r>
              <a:rPr lang="en-US" altLang="zh-CN" dirty="0">
                <a:solidFill>
                  <a:srgbClr val="000000"/>
                </a:solidFill>
                <a:latin typeface="Georgia" panose="02040502050405020303" charset="0"/>
                <a:ea typeface="CMR10"/>
                <a:cs typeface="Georgia" panose="02040502050405020303" charset="0"/>
              </a:rPr>
              <a:t>prevent conflicts to achieve </a:t>
            </a:r>
            <a:r>
              <a:rPr lang="en-US" altLang="zh-CN" dirty="0">
                <a:solidFill>
                  <a:srgbClr val="0070C0"/>
                </a:solidFill>
                <a:latin typeface="Georgia" panose="02040502050405020303" charset="0"/>
                <a:ea typeface="CMR10"/>
                <a:cs typeface="Georgia" panose="02040502050405020303" charset="0"/>
              </a:rPr>
              <a:t>coordinated</a:t>
            </a:r>
            <a:r>
              <a:rPr lang="en-US" altLang="zh-CN" dirty="0">
                <a:solidFill>
                  <a:srgbClr val="000000"/>
                </a:solidFill>
                <a:latin typeface="Georgia" panose="02040502050405020303" charset="0"/>
                <a:ea typeface="CMR10"/>
                <a:cs typeface="Georgia" panose="02040502050405020303" charset="0"/>
              </a:rPr>
              <a:t> decision.</a:t>
            </a:r>
            <a:endParaRPr lang="en-US" altLang="zh-CN" dirty="0">
              <a:solidFill>
                <a:srgbClr val="000000"/>
              </a:solidFill>
              <a:latin typeface="Georgia" panose="02040502050405020303" charset="0"/>
              <a:ea typeface="CMR10"/>
              <a:cs typeface="Georgia" panose="02040502050405020303" charset="0"/>
            </a:endParaRPr>
          </a:p>
        </p:txBody>
      </p:sp>
      <p:sp>
        <p:nvSpPr>
          <p:cNvPr id="20" name="文本框 19"/>
          <p:cNvSpPr txBox="1"/>
          <p:nvPr/>
        </p:nvSpPr>
        <p:spPr>
          <a:xfrm>
            <a:off x="5450840" y="3494405"/>
            <a:ext cx="6104890" cy="2762250"/>
          </a:xfrm>
          <a:prstGeom prst="rect">
            <a:avLst/>
          </a:prstGeom>
        </p:spPr>
        <p:txBody>
          <a:bodyPr wrap="square">
            <a:spAutoFit/>
          </a:bodyPr>
          <a:lstStyle/>
          <a:p>
            <a:pPr marL="342900" indent="-342900" fontAlgn="auto">
              <a:lnSpc>
                <a:spcPct val="120000"/>
              </a:lnSpc>
              <a:spcBef>
                <a:spcPts val="800"/>
              </a:spcBef>
              <a:buFont typeface="+mj-lt"/>
              <a:buAutoNum type="arabicPeriod" startAt="2"/>
            </a:pPr>
            <a:r>
              <a:rPr lang="en-US" altLang="zh-CN" dirty="0">
                <a:solidFill>
                  <a:srgbClr val="000000"/>
                </a:solidFill>
                <a:latin typeface="Georgia" panose="02040502050405020303" charset="0"/>
                <a:ea typeface="CMR10"/>
                <a:cs typeface="Georgia" panose="02040502050405020303" charset="0"/>
                <a:sym typeface="+mn-ea"/>
              </a:rPr>
              <a:t>Replenishment and Transshipment have </a:t>
            </a:r>
            <a:r>
              <a:rPr lang="en-US" altLang="zh-CN" dirty="0">
                <a:solidFill>
                  <a:srgbClr val="C00000"/>
                </a:solidFill>
                <a:latin typeface="Georgia" panose="02040502050405020303" charset="0"/>
                <a:ea typeface="CMR10"/>
                <a:cs typeface="Georgia" panose="02040502050405020303" charset="0"/>
                <a:sym typeface="+mn-ea"/>
              </a:rPr>
              <a:t>different roles</a:t>
            </a:r>
            <a:r>
              <a:rPr lang="en-US" altLang="zh-CN" dirty="0">
                <a:solidFill>
                  <a:srgbClr val="000000"/>
                </a:solidFill>
                <a:latin typeface="Georgia" panose="02040502050405020303" charset="0"/>
                <a:ea typeface="CMR10"/>
                <a:cs typeface="Georgia" panose="02040502050405020303" charset="0"/>
              </a:rPr>
              <a:t>:</a:t>
            </a:r>
            <a:endParaRPr lang="en-US" altLang="zh-CN" dirty="0">
              <a:solidFill>
                <a:srgbClr val="000000"/>
              </a:solidFill>
              <a:latin typeface="Georgia" panose="02040502050405020303" charset="0"/>
              <a:ea typeface="CMR10"/>
              <a:cs typeface="Georgia" panose="02040502050405020303" charset="0"/>
            </a:endParaRPr>
          </a:p>
          <a:p>
            <a:pPr marL="547370" lvl="1" indent="-198120" fontAlgn="auto">
              <a:lnSpc>
                <a:spcPct val="120000"/>
              </a:lnSpc>
              <a:spcBef>
                <a:spcPts val="900"/>
              </a:spcBef>
              <a:buFont typeface="Arial" panose="020B0604020202020204" pitchFamily="34" charset="0"/>
              <a:buChar char="•"/>
            </a:pPr>
            <a:r>
              <a:rPr lang="en-US" altLang="zh-CN" dirty="0">
                <a:solidFill>
                  <a:srgbClr val="000000"/>
                </a:solidFill>
                <a:latin typeface="Georgia" panose="02040502050405020303" charset="0"/>
                <a:ea typeface="CMR10"/>
                <a:cs typeface="Georgia" panose="02040502050405020303" charset="0"/>
              </a:rPr>
              <a:t>Replenishment acts as the </a:t>
            </a:r>
            <a:r>
              <a:rPr lang="en-US" altLang="zh-CN" dirty="0">
                <a:solidFill>
                  <a:srgbClr val="0070C0"/>
                </a:solidFill>
                <a:latin typeface="Georgia" panose="02040502050405020303" charset="0"/>
                <a:ea typeface="CMR10"/>
                <a:cs typeface="Georgia" panose="02040502050405020303" charset="0"/>
              </a:rPr>
              <a:t>main</a:t>
            </a:r>
            <a:r>
              <a:rPr lang="en-US" altLang="zh-CN" dirty="0">
                <a:solidFill>
                  <a:srgbClr val="000000"/>
                </a:solidFill>
                <a:latin typeface="Georgia" panose="02040502050405020303" charset="0"/>
                <a:ea typeface="CMR10"/>
                <a:cs typeface="Georgia" panose="02040502050405020303" charset="0"/>
              </a:rPr>
              <a:t> </a:t>
            </a:r>
            <a:r>
              <a:rPr lang="en-US" altLang="zh-CN" dirty="0">
                <a:solidFill>
                  <a:srgbClr val="000000"/>
                </a:solidFill>
                <a:latin typeface="Georgia" panose="02040502050405020303" charset="0"/>
                <a:ea typeface="CMR10"/>
                <a:cs typeface="Georgia" panose="02040502050405020303" charset="0"/>
                <a:sym typeface="+mn-ea"/>
              </a:rPr>
              <a:t>mechanism </a:t>
            </a:r>
            <a:r>
              <a:rPr lang="en-US" altLang="zh-CN" dirty="0">
                <a:solidFill>
                  <a:srgbClr val="000000"/>
                </a:solidFill>
                <a:latin typeface="Georgia" panose="02040502050405020303" charset="0"/>
                <a:ea typeface="CMR10"/>
                <a:cs typeface="Georgia" panose="02040502050405020303" charset="0"/>
              </a:rPr>
              <a:t>for augmenting inventory, decided with </a:t>
            </a:r>
            <a:r>
              <a:rPr lang="en-US" altLang="zh-CN" dirty="0">
                <a:solidFill>
                  <a:srgbClr val="0070C0"/>
                </a:solidFill>
                <a:latin typeface="Georgia" panose="02040502050405020303" charset="0"/>
                <a:ea typeface="CMR10"/>
                <a:cs typeface="Georgia" panose="02040502050405020303" charset="0"/>
              </a:rPr>
              <a:t>absolute</a:t>
            </a:r>
            <a:r>
              <a:rPr lang="en-US" altLang="zh-CN" dirty="0">
                <a:solidFill>
                  <a:srgbClr val="000000"/>
                </a:solidFill>
                <a:latin typeface="Georgia" panose="02040502050405020303" charset="0"/>
                <a:ea typeface="CMR10"/>
                <a:cs typeface="Georgia" panose="02040502050405020303" charset="0"/>
              </a:rPr>
              <a:t> stock. </a:t>
            </a:r>
            <a:endParaRPr lang="en-US" altLang="zh-CN" dirty="0">
              <a:solidFill>
                <a:srgbClr val="000000"/>
              </a:solidFill>
              <a:latin typeface="Georgia" panose="02040502050405020303" charset="0"/>
              <a:ea typeface="CMR10"/>
              <a:cs typeface="Georgia" panose="02040502050405020303" charset="0"/>
            </a:endParaRPr>
          </a:p>
          <a:p>
            <a:pPr marL="547370" lvl="1" indent="-198120" fontAlgn="auto">
              <a:lnSpc>
                <a:spcPct val="120000"/>
              </a:lnSpc>
              <a:spcBef>
                <a:spcPts val="900"/>
              </a:spcBef>
              <a:buFont typeface="Arial" panose="020B0604020202020204" pitchFamily="34" charset="0"/>
              <a:buChar char="•"/>
            </a:pPr>
            <a:r>
              <a:rPr lang="en-US" altLang="zh-CN" dirty="0">
                <a:solidFill>
                  <a:srgbClr val="000000"/>
                </a:solidFill>
                <a:latin typeface="Georgia" panose="02040502050405020303" charset="0"/>
                <a:ea typeface="CMR10"/>
                <a:cs typeface="Georgia" panose="02040502050405020303" charset="0"/>
              </a:rPr>
              <a:t>Transshipment serves as a </a:t>
            </a:r>
            <a:r>
              <a:rPr lang="en-US" altLang="zh-CN" dirty="0">
                <a:solidFill>
                  <a:srgbClr val="0070C0"/>
                </a:solidFill>
                <a:latin typeface="Georgia" panose="02040502050405020303" charset="0"/>
                <a:ea typeface="CMR10"/>
                <a:cs typeface="Georgia" panose="02040502050405020303" charset="0"/>
              </a:rPr>
              <a:t>complementary</a:t>
            </a:r>
            <a:r>
              <a:rPr lang="en-US" altLang="zh-CN" dirty="0">
                <a:solidFill>
                  <a:srgbClr val="000000"/>
                </a:solidFill>
                <a:latin typeface="Georgia" panose="02040502050405020303" charset="0"/>
                <a:ea typeface="CMR10"/>
                <a:cs typeface="Georgia" panose="02040502050405020303" charset="0"/>
              </a:rPr>
              <a:t> inventory adjustment mechanism, depending on </a:t>
            </a:r>
            <a:r>
              <a:rPr lang="en-US" altLang="zh-CN" dirty="0">
                <a:solidFill>
                  <a:srgbClr val="0070C0"/>
                </a:solidFill>
                <a:latin typeface="Georgia" panose="02040502050405020303" charset="0"/>
                <a:ea typeface="CMR10"/>
                <a:cs typeface="Georgia" panose="02040502050405020303" charset="0"/>
              </a:rPr>
              <a:t>relative</a:t>
            </a:r>
            <a:r>
              <a:rPr lang="en-US" altLang="zh-CN" dirty="0">
                <a:solidFill>
                  <a:srgbClr val="000000"/>
                </a:solidFill>
                <a:latin typeface="Georgia" panose="02040502050405020303" charset="0"/>
                <a:ea typeface="CMR10"/>
                <a:cs typeface="Georgia" panose="02040502050405020303" charset="0"/>
              </a:rPr>
              <a:t> stock.</a:t>
            </a:r>
            <a:endParaRPr lang="en-US" altLang="zh-CN" dirty="0">
              <a:solidFill>
                <a:srgbClr val="000000"/>
              </a:solidFill>
              <a:latin typeface="Georgia" panose="02040502050405020303" charset="0"/>
              <a:ea typeface="CMR10"/>
              <a:cs typeface="Georgia" panose="02040502050405020303" charset="0"/>
            </a:endParaRPr>
          </a:p>
          <a:p>
            <a:pPr marL="547370" lvl="1" indent="-198120" fontAlgn="auto">
              <a:lnSpc>
                <a:spcPct val="120000"/>
              </a:lnSpc>
              <a:spcBef>
                <a:spcPts val="900"/>
              </a:spcBef>
              <a:buFont typeface="Arial" panose="020B0604020202020204" pitchFamily="34" charset="0"/>
              <a:buChar char="•"/>
            </a:pPr>
            <a:r>
              <a:rPr lang="en-US" altLang="zh-CN" dirty="0">
                <a:solidFill>
                  <a:srgbClr val="000000"/>
                </a:solidFill>
                <a:latin typeface="Georgia" panose="02040502050405020303" charset="0"/>
                <a:ea typeface="CMR10"/>
                <a:cs typeface="Georgia" panose="02040502050405020303" charset="0"/>
              </a:rPr>
              <a:t>When modeling, should explicitly account for their </a:t>
            </a:r>
            <a:r>
              <a:rPr lang="en-US" altLang="zh-CN" dirty="0">
                <a:solidFill>
                  <a:srgbClr val="0070C0"/>
                </a:solidFill>
                <a:latin typeface="Georgia" panose="02040502050405020303" charset="0"/>
                <a:ea typeface="CMR10"/>
                <a:cs typeface="Georgia" panose="02040502050405020303" charset="0"/>
              </a:rPr>
              <a:t>differences</a:t>
            </a:r>
            <a:r>
              <a:rPr lang="en-US" altLang="zh-CN" dirty="0">
                <a:solidFill>
                  <a:srgbClr val="000000"/>
                </a:solidFill>
                <a:latin typeface="Georgia" panose="02040502050405020303" charset="0"/>
                <a:ea typeface="CMR10"/>
                <a:cs typeface="Georgia" panose="02040502050405020303" charset="0"/>
              </a:rPr>
              <a:t> while recognizing </a:t>
            </a:r>
            <a:r>
              <a:rPr lang="en-US" altLang="zh-CN" dirty="0">
                <a:solidFill>
                  <a:srgbClr val="0070C0"/>
                </a:solidFill>
                <a:latin typeface="Georgia" panose="02040502050405020303" charset="0"/>
                <a:ea typeface="CMR10"/>
                <a:cs typeface="Georgia" panose="02040502050405020303" charset="0"/>
              </a:rPr>
              <a:t>inter-dependencies</a:t>
            </a:r>
            <a:r>
              <a:rPr lang="en-US" altLang="zh-CN" dirty="0">
                <a:solidFill>
                  <a:srgbClr val="000000"/>
                </a:solidFill>
                <a:latin typeface="Georgia" panose="02040502050405020303" charset="0"/>
                <a:ea typeface="CMR10"/>
                <a:cs typeface="Georgia" panose="02040502050405020303" charset="0"/>
              </a:rPr>
              <a:t>.</a:t>
            </a:r>
            <a:endParaRPr lang="en-US" altLang="zh-CN" dirty="0">
              <a:solidFill>
                <a:srgbClr val="000000"/>
              </a:solidFill>
              <a:latin typeface="Georgia" panose="02040502050405020303" charset="0"/>
              <a:ea typeface="CMR10"/>
              <a:cs typeface="Georgia" panose="02040502050405020303" charset="0"/>
            </a:endParaRPr>
          </a:p>
        </p:txBody>
      </p:sp>
      <p:sp>
        <p:nvSpPr>
          <p:cNvPr id="12" name="文本框 11"/>
          <p:cNvSpPr txBox="1"/>
          <p:nvPr/>
        </p:nvSpPr>
        <p:spPr>
          <a:xfrm>
            <a:off x="1119739" y="218235"/>
            <a:ext cx="2929631" cy="583565"/>
          </a:xfrm>
          <a:prstGeom prst="rect">
            <a:avLst/>
          </a:prstGeom>
          <a:noFill/>
        </p:spPr>
        <p:txBody>
          <a:bodyPr wrap="square" rtlCol="0">
            <a:spAutoFit/>
          </a:bodyPr>
          <a:lstStyle/>
          <a:p>
            <a:r>
              <a:rPr lang="en-US" altLang="zh-CN" sz="3200" b="1" dirty="0">
                <a:latin typeface="+mj-lt"/>
              </a:rPr>
              <a:t>Challenges</a:t>
            </a:r>
            <a:endParaRPr lang="en-US" altLang="zh-CN" sz="3200" b="1" dirty="0">
              <a:latin typeface="+mj-lt"/>
            </a:endParaRPr>
          </a:p>
        </p:txBody>
      </p:sp>
      <p:pic>
        <p:nvPicPr>
          <p:cNvPr id="6" name="图片 5" descr="心脏"/>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49527" y="4392295"/>
            <a:ext cx="483235" cy="483235"/>
          </a:xfrm>
          <a:prstGeom prst="rect">
            <a:avLst/>
          </a:prstGeom>
        </p:spPr>
      </p:pic>
      <p:pic>
        <p:nvPicPr>
          <p:cNvPr id="21" name="图片 20"/>
          <p:cNvPicPr/>
          <p:nvPr/>
        </p:nvPicPr>
        <p:blipFill>
          <a:blip r:embed="rId5"/>
          <a:srcRect t="6483" b="10621"/>
          <a:stretch>
            <a:fillRect/>
          </a:stretch>
        </p:blipFill>
        <p:spPr>
          <a:xfrm>
            <a:off x="11494770" y="5218430"/>
            <a:ext cx="438150" cy="446405"/>
          </a:xfrm>
          <a:prstGeom prst="rect">
            <a:avLst/>
          </a:prstGeom>
        </p:spPr>
      </p:pic>
      <p:sp>
        <p:nvSpPr>
          <p:cNvPr id="25" name="文本框 24"/>
          <p:cNvSpPr txBox="1"/>
          <p:nvPr/>
        </p:nvSpPr>
        <p:spPr>
          <a:xfrm>
            <a:off x="1035050" y="4023360"/>
            <a:ext cx="1426210" cy="337185"/>
          </a:xfrm>
          <a:prstGeom prst="rect">
            <a:avLst/>
          </a:prstGeom>
          <a:noFill/>
        </p:spPr>
        <p:txBody>
          <a:bodyPr wrap="square" rtlCol="0">
            <a:spAutoFit/>
          </a:bodyPr>
          <a:lstStyle/>
          <a:p>
            <a:pPr algn="ctr"/>
            <a:r>
              <a:rPr lang="en-US" altLang="zh-CN" sz="1600">
                <a:solidFill>
                  <a:srgbClr val="C00000"/>
                </a:solidFill>
                <a:effectLst>
                  <a:outerShdw blurRad="38100" dist="38100" dir="2700000" algn="tl">
                    <a:srgbClr val="000000">
                      <a:alpha val="43137"/>
                    </a:srgbClr>
                  </a:outerShdw>
                </a:effectLst>
                <a:latin typeface="Georgia" panose="02040502050405020303" charset="0"/>
                <a:cs typeface="Georgia" panose="02040502050405020303" charset="0"/>
              </a:rPr>
              <a:t>Confliction !!!</a:t>
            </a:r>
            <a:endParaRPr lang="en-US" altLang="zh-CN" sz="1600">
              <a:solidFill>
                <a:srgbClr val="C00000"/>
              </a:solidFill>
              <a:effectLst>
                <a:outerShdw blurRad="38100" dist="38100" dir="2700000" algn="tl">
                  <a:srgbClr val="000000">
                    <a:alpha val="43137"/>
                  </a:srgbClr>
                </a:outerShdw>
              </a:effectLst>
              <a:latin typeface="Georgia" panose="02040502050405020303" charset="0"/>
              <a:cs typeface="Georgia" panose="02040502050405020303" charset="0"/>
            </a:endParaRPr>
          </a:p>
        </p:txBody>
      </p:sp>
      <p:grpSp>
        <p:nvGrpSpPr>
          <p:cNvPr id="33" name="组合 32"/>
          <p:cNvGrpSpPr/>
          <p:nvPr/>
        </p:nvGrpSpPr>
        <p:grpSpPr>
          <a:xfrm>
            <a:off x="687705" y="5946140"/>
            <a:ext cx="5059680" cy="645160"/>
            <a:chOff x="1174" y="9364"/>
            <a:chExt cx="7968" cy="1016"/>
          </a:xfrm>
        </p:grpSpPr>
        <p:sp>
          <p:nvSpPr>
            <p:cNvPr id="32" name="文本框 31"/>
            <p:cNvSpPr txBox="1"/>
            <p:nvPr/>
          </p:nvSpPr>
          <p:spPr>
            <a:xfrm>
              <a:off x="2152" y="9364"/>
              <a:ext cx="6990" cy="1016"/>
            </a:xfrm>
            <a:prstGeom prst="rect">
              <a:avLst/>
            </a:prstGeom>
          </p:spPr>
          <p:txBody>
            <a:bodyPr wrap="square">
              <a:spAutoFit/>
            </a:bodyPr>
            <a:lstStyle/>
            <a:p>
              <a:pPr indent="0" algn="ctr" defTabSz="266700" fontAlgn="auto">
                <a:lnSpc>
                  <a:spcPct val="100000"/>
                </a:lnSpc>
              </a:pPr>
              <a:r>
                <a:rPr lang="en-US">
                  <a:solidFill>
                    <a:schemeClr val="tx1"/>
                  </a:solidFill>
                  <a:effectLst/>
                  <a:ea typeface="宋体" panose="02010600030101010101" pitchFamily="2" charset="-122"/>
                  <a:cs typeface="+mn-lt"/>
                </a:rPr>
                <a:t>How should these transshipments</a:t>
              </a:r>
              <a:endParaRPr lang="en-US">
                <a:solidFill>
                  <a:schemeClr val="tx1"/>
                </a:solidFill>
                <a:effectLst/>
                <a:ea typeface="宋体" panose="02010600030101010101" pitchFamily="2" charset="-122"/>
                <a:cs typeface="+mn-lt"/>
              </a:endParaRPr>
            </a:p>
            <a:p>
              <a:pPr indent="0" algn="ctr" defTabSz="266700" fontAlgn="auto">
                <a:lnSpc>
                  <a:spcPct val="100000"/>
                </a:lnSpc>
              </a:pPr>
              <a:r>
                <a:rPr lang="en-US">
                  <a:solidFill>
                    <a:schemeClr val="tx1"/>
                  </a:solidFill>
                  <a:effectLst/>
                  <a:ea typeface="宋体" panose="02010600030101010101" pitchFamily="2" charset="-122"/>
                  <a:cs typeface="+mn-lt"/>
                </a:rPr>
                <a:t>be executed under such circumstances?</a:t>
              </a:r>
              <a:endParaRPr lang="en-US" altLang="zh-CN">
                <a:solidFill>
                  <a:schemeClr val="tx1"/>
                </a:solidFill>
                <a:effectLst/>
                <a:ea typeface="宋体" panose="02010600030101010101" pitchFamily="2" charset="-122"/>
                <a:cs typeface="+mn-lt"/>
              </a:endParaRPr>
            </a:p>
          </p:txBody>
        </p:sp>
        <p:pic>
          <p:nvPicPr>
            <p:cNvPr id="111" name="图片 110" descr="问号"/>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74" y="9400"/>
              <a:ext cx="840" cy="840"/>
            </a:xfrm>
            <a:prstGeom prst="rect">
              <a:avLst/>
            </a:prstGeom>
          </p:spPr>
        </p:pic>
      </p:grpSp>
    </p:spTree>
    <p:custDataLst>
      <p:tags r:id="rId8"/>
    </p:custDataLst>
  </p:cSld>
  <p:clrMapOvr>
    <a:masterClrMapping/>
  </p:clrMapOvr>
  <mc:AlternateContent xmlns:mc="http://schemas.openxmlformats.org/markup-compatibility/2006">
    <mc:Choice xmlns:p14="http://schemas.microsoft.com/office/powerpoint/2010/main" Requires="p14">
      <p:transition p14:dur="250" advTm="180661">
        <p:wipe dir="d"/>
      </p:transition>
    </mc:Choice>
    <mc:Fallback>
      <p:transition advTm="180661">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randombar(horizontal)">
                                      <p:cBhvr>
                                        <p:cTn id="10" dur="500"/>
                                        <p:tgtEl>
                                          <p:spTgt spid="38"/>
                                        </p:tgtEl>
                                      </p:cBhvr>
                                    </p:animEffect>
                                  </p:childTnLst>
                                </p:cTn>
                              </p:par>
                              <p:par>
                                <p:cTn id="11" presetID="14"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randombar(horizontal)">
                                      <p:cBhvr>
                                        <p:cTn id="19" dur="500"/>
                                        <p:tgtEl>
                                          <p:spTgt spid="10"/>
                                        </p:tgtEl>
                                      </p:cBhvr>
                                    </p:animEffect>
                                  </p:childTnLst>
                                </p:cTn>
                              </p:par>
                              <p:par>
                                <p:cTn id="20" presetID="14" presetClass="entr" presetSubtype="1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randombar(horizontal)">
                                      <p:cBhvr>
                                        <p:cTn id="25" dur="500"/>
                                        <p:tgtEl>
                                          <p:spTgt spid="7"/>
                                        </p:tgtEl>
                                      </p:cBhvr>
                                    </p:animEffect>
                                  </p:childTnLst>
                                </p:cTn>
                              </p:par>
                              <p:par>
                                <p:cTn id="26" presetID="14" presetClass="entr" presetSubtype="1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randombar(horizontal)">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up)">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down)">
                                      <p:cBhvr>
                                        <p:cTn id="38" dur="500"/>
                                        <p:tgtEl>
                                          <p:spTgt spid="15"/>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down)">
                                      <p:cBhvr>
                                        <p:cTn id="46" dur="500"/>
                                        <p:tgtEl>
                                          <p:spTgt spid="17"/>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wipe(down)">
                                      <p:cBhvr>
                                        <p:cTn id="54" dur="500"/>
                                        <p:tgtEl>
                                          <p:spTgt spid="34"/>
                                        </p:tgtEl>
                                      </p:cBhvr>
                                    </p:animEffect>
                                  </p:childTnLst>
                                </p:cTn>
                              </p:par>
                            </p:childTnLst>
                          </p:cTn>
                        </p:par>
                        <p:par>
                          <p:cTn id="55" fill="hold">
                            <p:stCondLst>
                              <p:cond delay="500"/>
                            </p:stCondLst>
                            <p:childTnLst>
                              <p:par>
                                <p:cTn id="56" presetID="22" presetClass="entr" presetSubtype="1" fill="hold"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up)">
                                      <p:cBhvr>
                                        <p:cTn id="58" dur="500"/>
                                        <p:tgtEl>
                                          <p:spTgt spid="22"/>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wipe(up)">
                                      <p:cBhvr>
                                        <p:cTn id="61" dur="500"/>
                                        <p:tgtEl>
                                          <p:spTgt spid="28"/>
                                        </p:tgtEl>
                                      </p:cBhvr>
                                    </p:animEffect>
                                  </p:childTnLst>
                                </p:cTn>
                              </p:par>
                            </p:childTnLst>
                          </p:cTn>
                        </p:par>
                        <p:par>
                          <p:cTn id="62" fill="hold">
                            <p:stCondLst>
                              <p:cond delay="1000"/>
                            </p:stCondLst>
                            <p:childTnLst>
                              <p:par>
                                <p:cTn id="63" presetID="22" presetClass="entr" presetSubtype="2"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right)">
                                      <p:cBhvr>
                                        <p:cTn id="65" dur="500"/>
                                        <p:tgtEl>
                                          <p:spTgt spid="24"/>
                                        </p:tgtEl>
                                      </p:cBhvr>
                                    </p:animEffect>
                                  </p:childTnLst>
                                </p:cTn>
                              </p:par>
                              <p:par>
                                <p:cTn id="66" presetID="22" presetClass="entr" presetSubtype="2"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right)">
                                      <p:cBhvr>
                                        <p:cTn id="68" dur="500"/>
                                        <p:tgtEl>
                                          <p:spTgt spid="26"/>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right)">
                                      <p:cBhvr>
                                        <p:cTn id="72" dur="500"/>
                                        <p:tgtEl>
                                          <p:spTgt spid="23"/>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right)">
                                      <p:cBhvr>
                                        <p:cTn id="75" dur="500"/>
                                        <p:tgtEl>
                                          <p:spTgt spid="27"/>
                                        </p:tgtEl>
                                      </p:cBhvr>
                                    </p:animEffect>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grpId="0"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randombar(horizontal)">
                                      <p:cBhvr>
                                        <p:cTn id="80" dur="500"/>
                                        <p:tgtEl>
                                          <p:spTgt spid="36"/>
                                        </p:tgtEl>
                                      </p:cBhvr>
                                    </p:animEffect>
                                  </p:childTnLst>
                                </p:cTn>
                              </p:par>
                              <p:par>
                                <p:cTn id="81" presetID="14" presetClass="entr" presetSubtype="1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randombar(horizontal)">
                                      <p:cBhvr>
                                        <p:cTn id="83" dur="500"/>
                                        <p:tgtEl>
                                          <p:spTgt spid="35"/>
                                        </p:tgtEl>
                                      </p:cBhvr>
                                    </p:animEffect>
                                  </p:childTnLst>
                                </p:cTn>
                              </p:par>
                              <p:par>
                                <p:cTn id="84" presetID="14" presetClass="entr" presetSubtype="1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randombar(horizontal)">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randombar(horizontal)">
                                      <p:cBhvr>
                                        <p:cTn id="91" dur="500"/>
                                        <p:tgtEl>
                                          <p:spTgt spid="33"/>
                                        </p:tgtEl>
                                      </p:cBhvr>
                                    </p:animEffect>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grpId="0" nodeType="clickEffect">
                                  <p:stCondLst>
                                    <p:cond delay="0"/>
                                  </p:stCondLst>
                                  <p:childTnLst>
                                    <p:set>
                                      <p:cBhvr>
                                        <p:cTn id="95" dur="1" fill="hold">
                                          <p:stCondLst>
                                            <p:cond delay="0"/>
                                          </p:stCondLst>
                                        </p:cTn>
                                        <p:tgtEl>
                                          <p:spTgt spid="16"/>
                                        </p:tgtEl>
                                        <p:attrNameLst>
                                          <p:attrName>style.visibility</p:attrName>
                                        </p:attrNameLst>
                                      </p:cBhvr>
                                      <p:to>
                                        <p:strVal val="visible"/>
                                      </p:to>
                                    </p:set>
                                    <p:animEffect transition="in" filter="randombar(horizontal)">
                                      <p:cBhvr>
                                        <p:cTn id="96" dur="500"/>
                                        <p:tgtEl>
                                          <p:spTgt spid="16"/>
                                        </p:tgtEl>
                                      </p:cBhvr>
                                    </p:animEffect>
                                  </p:childTnLst>
                                </p:cTn>
                              </p:par>
                            </p:childTnLst>
                          </p:cTn>
                        </p:par>
                      </p:childTnLst>
                    </p:cTn>
                  </p:par>
                  <p:par>
                    <p:cTn id="97" fill="hold">
                      <p:stCondLst>
                        <p:cond delay="indefinite"/>
                      </p:stCondLst>
                      <p:childTnLst>
                        <p:par>
                          <p:cTn id="98" fill="hold">
                            <p:stCondLst>
                              <p:cond delay="0"/>
                            </p:stCondLst>
                            <p:childTnLst>
                              <p:par>
                                <p:cTn id="99" presetID="14" presetClass="entr" presetSubtype="10" fill="hold" nodeType="clickEffect">
                                  <p:stCondLst>
                                    <p:cond delay="0"/>
                                  </p:stCondLst>
                                  <p:childTnLst>
                                    <p:set>
                                      <p:cBhvr>
                                        <p:cTn id="100" dur="1" fill="hold">
                                          <p:stCondLst>
                                            <p:cond delay="0"/>
                                          </p:stCondLst>
                                        </p:cTn>
                                        <p:tgtEl>
                                          <p:spTgt spid="20">
                                            <p:txEl>
                                              <p:pRg st="0" end="0"/>
                                            </p:txEl>
                                          </p:spTgt>
                                        </p:tgtEl>
                                        <p:attrNameLst>
                                          <p:attrName>style.visibility</p:attrName>
                                        </p:attrNameLst>
                                      </p:cBhvr>
                                      <p:to>
                                        <p:strVal val="visible"/>
                                      </p:to>
                                    </p:set>
                                    <p:animEffect transition="in" filter="randombar(horizontal)">
                                      <p:cBhvr>
                                        <p:cTn id="101" dur="500"/>
                                        <p:tgtEl>
                                          <p:spTgt spid="20">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4" presetClass="entr" presetSubtype="10" fill="hold" nodeType="clickEffect">
                                  <p:stCondLst>
                                    <p:cond delay="0"/>
                                  </p:stCondLst>
                                  <p:childTnLst>
                                    <p:set>
                                      <p:cBhvr>
                                        <p:cTn id="105" dur="1" fill="hold">
                                          <p:stCondLst>
                                            <p:cond delay="0"/>
                                          </p:stCondLst>
                                        </p:cTn>
                                        <p:tgtEl>
                                          <p:spTgt spid="20">
                                            <p:txEl>
                                              <p:pRg st="1" end="1"/>
                                            </p:txEl>
                                          </p:spTgt>
                                        </p:tgtEl>
                                        <p:attrNameLst>
                                          <p:attrName>style.visibility</p:attrName>
                                        </p:attrNameLst>
                                      </p:cBhvr>
                                      <p:to>
                                        <p:strVal val="visible"/>
                                      </p:to>
                                    </p:set>
                                    <p:animEffect transition="in" filter="randombar(horizontal)">
                                      <p:cBhvr>
                                        <p:cTn id="106" dur="500"/>
                                        <p:tgtEl>
                                          <p:spTgt spid="20">
                                            <p:txEl>
                                              <p:pRg st="1" end="1"/>
                                            </p:txEl>
                                          </p:spTgt>
                                        </p:tgtEl>
                                      </p:cBhvr>
                                    </p:animEffect>
                                  </p:childTnLst>
                                </p:cTn>
                              </p:par>
                            </p:childTnLst>
                          </p:cTn>
                        </p:par>
                        <p:par>
                          <p:cTn id="107" fill="hold">
                            <p:stCondLst>
                              <p:cond delay="500"/>
                            </p:stCondLst>
                            <p:childTnLst>
                              <p:par>
                                <p:cTn id="108" presetID="14" presetClass="entr" presetSubtype="10" fill="hold" nodeType="afterEffect">
                                  <p:stCondLst>
                                    <p:cond delay="0"/>
                                  </p:stCondLst>
                                  <p:childTnLst>
                                    <p:set>
                                      <p:cBhvr>
                                        <p:cTn id="109" dur="1" fill="hold">
                                          <p:stCondLst>
                                            <p:cond delay="0"/>
                                          </p:stCondLst>
                                        </p:cTn>
                                        <p:tgtEl>
                                          <p:spTgt spid="6"/>
                                        </p:tgtEl>
                                        <p:attrNameLst>
                                          <p:attrName>style.visibility</p:attrName>
                                        </p:attrNameLst>
                                      </p:cBhvr>
                                      <p:to>
                                        <p:strVal val="visible"/>
                                      </p:to>
                                    </p:set>
                                    <p:animEffect transition="in" filter="randombar(horizontal)">
                                      <p:cBhvr>
                                        <p:cTn id="110" dur="500"/>
                                        <p:tgtEl>
                                          <p:spTgt spid="6"/>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20">
                                            <p:txEl>
                                              <p:pRg st="2" end="2"/>
                                            </p:txEl>
                                          </p:spTgt>
                                        </p:tgtEl>
                                        <p:attrNameLst>
                                          <p:attrName>style.visibility</p:attrName>
                                        </p:attrNameLst>
                                      </p:cBhvr>
                                      <p:to>
                                        <p:strVal val="visible"/>
                                      </p:to>
                                    </p:set>
                                    <p:animEffect transition="in" filter="randombar(horizontal)">
                                      <p:cBhvr>
                                        <p:cTn id="115" dur="500"/>
                                        <p:tgtEl>
                                          <p:spTgt spid="20">
                                            <p:txEl>
                                              <p:pRg st="2" end="2"/>
                                            </p:txEl>
                                          </p:spTgt>
                                        </p:tgtEl>
                                      </p:cBhvr>
                                    </p:animEffect>
                                  </p:childTnLst>
                                </p:cTn>
                              </p:par>
                            </p:childTnLst>
                          </p:cTn>
                        </p:par>
                        <p:par>
                          <p:cTn id="116" fill="hold">
                            <p:stCondLst>
                              <p:cond delay="500"/>
                            </p:stCondLst>
                            <p:childTnLst>
                              <p:par>
                                <p:cTn id="117" presetID="14" presetClass="entr" presetSubtype="10" fill="hold" nodeType="afterEffect">
                                  <p:stCondLst>
                                    <p:cond delay="0"/>
                                  </p:stCondLst>
                                  <p:childTnLst>
                                    <p:set>
                                      <p:cBhvr>
                                        <p:cTn id="118" dur="1" fill="hold">
                                          <p:stCondLst>
                                            <p:cond delay="0"/>
                                          </p:stCondLst>
                                        </p:cTn>
                                        <p:tgtEl>
                                          <p:spTgt spid="21"/>
                                        </p:tgtEl>
                                        <p:attrNameLst>
                                          <p:attrName>style.visibility</p:attrName>
                                        </p:attrNameLst>
                                      </p:cBhvr>
                                      <p:to>
                                        <p:strVal val="visible"/>
                                      </p:to>
                                    </p:set>
                                    <p:animEffect transition="in" filter="randombar(horizontal)">
                                      <p:cBhvr>
                                        <p:cTn id="119" dur="500"/>
                                        <p:tgtEl>
                                          <p:spTgt spid="21"/>
                                        </p:tgtEl>
                                      </p:cBhvr>
                                    </p:animEffect>
                                  </p:childTnLst>
                                </p:cTn>
                              </p:par>
                            </p:childTnLst>
                          </p:cTn>
                        </p:par>
                      </p:childTnLst>
                    </p:cTn>
                  </p:par>
                  <p:par>
                    <p:cTn id="120" fill="hold">
                      <p:stCondLst>
                        <p:cond delay="indefinite"/>
                      </p:stCondLst>
                      <p:childTnLst>
                        <p:par>
                          <p:cTn id="121" fill="hold">
                            <p:stCondLst>
                              <p:cond delay="0"/>
                            </p:stCondLst>
                            <p:childTnLst>
                              <p:par>
                                <p:cTn id="122" presetID="14" presetClass="entr" presetSubtype="10" fill="hold" nodeType="clickEffect">
                                  <p:stCondLst>
                                    <p:cond delay="0"/>
                                  </p:stCondLst>
                                  <p:childTnLst>
                                    <p:set>
                                      <p:cBhvr>
                                        <p:cTn id="123" dur="1" fill="hold">
                                          <p:stCondLst>
                                            <p:cond delay="0"/>
                                          </p:stCondLst>
                                        </p:cTn>
                                        <p:tgtEl>
                                          <p:spTgt spid="20">
                                            <p:txEl>
                                              <p:pRg st="3" end="3"/>
                                            </p:txEl>
                                          </p:spTgt>
                                        </p:tgtEl>
                                        <p:attrNameLst>
                                          <p:attrName>style.visibility</p:attrName>
                                        </p:attrNameLst>
                                      </p:cBhvr>
                                      <p:to>
                                        <p:strVal val="visible"/>
                                      </p:to>
                                    </p:set>
                                    <p:animEffect transition="in" filter="randombar(horizontal)">
                                      <p:cBhvr>
                                        <p:cTn id="124" dur="500"/>
                                        <p:tgtEl>
                                          <p:spTgt spid="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9" grpId="0"/>
      <p:bldP spid="19" grpId="1"/>
      <p:bldP spid="26" grpId="0"/>
      <p:bldP spid="26" grpId="1"/>
      <p:bldP spid="27" grpId="0"/>
      <p:bldP spid="27" grpId="1"/>
      <p:bldP spid="28" grpId="0"/>
      <p:bldP spid="28" grpId="1"/>
      <p:bldP spid="35" grpId="0" bldLvl="0" animBg="1"/>
      <p:bldP spid="35" grpId="1" animBg="1"/>
      <p:bldP spid="36" grpId="0"/>
      <p:bldP spid="36" grpId="1"/>
      <p:bldP spid="4" grpId="0"/>
      <p:bldP spid="4" grpId="1"/>
      <p:bldP spid="5" grpId="0"/>
      <p:bldP spid="5" grpId="1"/>
      <p:bldP spid="7" grpId="0"/>
      <p:bldP spid="7" grpId="1"/>
      <p:bldP spid="10" grpId="0"/>
      <p:bldP spid="10" grpId="1"/>
      <p:bldP spid="16" grpId="0"/>
      <p:bldP spid="16" grpId="1"/>
      <p:bldP spid="20" grpId="1"/>
      <p:bldP spid="25" grpId="0"/>
      <p:bldP spid="2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12" name="文本框 11"/>
          <p:cNvSpPr txBox="1"/>
          <p:nvPr/>
        </p:nvSpPr>
        <p:spPr>
          <a:xfrm>
            <a:off x="579120" y="1011555"/>
            <a:ext cx="10838815" cy="829945"/>
          </a:xfrm>
          <a:prstGeom prst="rect">
            <a:avLst/>
          </a:prstGeom>
          <a:noFill/>
        </p:spPr>
        <p:txBody>
          <a:bodyPr wrap="square" rtlCol="0">
            <a:spAutoFit/>
          </a:bodyPr>
          <a:lstStyle/>
          <a:p>
            <a:pPr marL="285750" indent="-285750" fontAlgn="auto">
              <a:lnSpc>
                <a:spcPct val="120000"/>
              </a:lnSpc>
              <a:buFont typeface="Arial" panose="020B0604020202020204" pitchFamily="34" charset="0"/>
              <a:buChar char="•"/>
            </a:pPr>
            <a:r>
              <a:rPr lang="en-US" altLang="zh-CN" sz="2000">
                <a:latin typeface="Georgia" panose="02040502050405020303" charset="0"/>
                <a:cs typeface="Georgia" panose="02040502050405020303" charset="0"/>
              </a:rPr>
              <a:t>We utilize a unified graph structure to capture the intrinsic interdependence between replenishment and transshipment.</a:t>
            </a:r>
            <a:endParaRPr lang="en-US" altLang="zh-CN" sz="2000">
              <a:latin typeface="Georgia" panose="02040502050405020303" charset="0"/>
              <a:cs typeface="Georgia" panose="02040502050405020303" charset="0"/>
            </a:endParaRPr>
          </a:p>
        </p:txBody>
      </p:sp>
      <p:grpSp>
        <p:nvGrpSpPr>
          <p:cNvPr id="155" name="组合 154"/>
          <p:cNvGrpSpPr/>
          <p:nvPr/>
        </p:nvGrpSpPr>
        <p:grpSpPr>
          <a:xfrm>
            <a:off x="923290" y="2474595"/>
            <a:ext cx="2720340" cy="2367915"/>
            <a:chOff x="2056" y="3891"/>
            <a:chExt cx="3862" cy="3361"/>
          </a:xfrm>
        </p:grpSpPr>
        <p:pic>
          <p:nvPicPr>
            <p:cNvPr id="38" name="图片 37"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56" y="3891"/>
              <a:ext cx="712" cy="712"/>
            </a:xfrm>
            <a:prstGeom prst="rect">
              <a:avLst/>
            </a:prstGeom>
            <a:effectLst>
              <a:outerShdw blurRad="63500" sx="102000" sy="102000" algn="ctr" rotWithShape="0">
                <a:prstClr val="black">
                  <a:alpha val="40000"/>
                </a:prstClr>
              </a:outerShdw>
            </a:effectLst>
          </p:spPr>
        </p:pic>
        <p:pic>
          <p:nvPicPr>
            <p:cNvPr id="8" name="图片 7"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06" y="3891"/>
              <a:ext cx="712" cy="712"/>
            </a:xfrm>
            <a:prstGeom prst="rect">
              <a:avLst/>
            </a:prstGeom>
            <a:effectLst>
              <a:outerShdw blurRad="63500" sx="102000" sy="102000" algn="ctr" rotWithShape="0">
                <a:prstClr val="black">
                  <a:alpha val="40000"/>
                </a:prstClr>
              </a:outerShdw>
            </a:effectLst>
          </p:spPr>
        </p:pic>
        <p:pic>
          <p:nvPicPr>
            <p:cNvPr id="9" name="图片 8"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56" y="6540"/>
              <a:ext cx="712" cy="712"/>
            </a:xfrm>
            <a:prstGeom prst="rect">
              <a:avLst/>
            </a:prstGeom>
            <a:effectLst>
              <a:outerShdw blurRad="63500" sx="102000" sy="102000" algn="ctr" rotWithShape="0">
                <a:prstClr val="black">
                  <a:alpha val="40000"/>
                </a:prstClr>
              </a:outerShdw>
            </a:effectLst>
          </p:spPr>
        </p:pic>
        <p:pic>
          <p:nvPicPr>
            <p:cNvPr id="11" name="图片 10" descr="商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06" y="6540"/>
              <a:ext cx="712" cy="712"/>
            </a:xfrm>
            <a:prstGeom prst="rect">
              <a:avLst/>
            </a:prstGeom>
            <a:effectLst>
              <a:outerShdw blurRad="63500" sx="102000" sy="102000" algn="ctr" rotWithShape="0">
                <a:prstClr val="black">
                  <a:alpha val="40000"/>
                </a:prstClr>
              </a:outerShdw>
            </a:effectLst>
          </p:spPr>
        </p:pic>
        <p:sp>
          <p:nvSpPr>
            <p:cNvPr id="4" name="文本框 3"/>
            <p:cNvSpPr txBox="1"/>
            <p:nvPr/>
          </p:nvSpPr>
          <p:spPr>
            <a:xfrm>
              <a:off x="2213" y="4121"/>
              <a:ext cx="428" cy="479"/>
            </a:xfrm>
            <a:prstGeom prst="rect">
              <a:avLst/>
            </a:prstGeom>
            <a:noFill/>
          </p:spPr>
          <p:txBody>
            <a:bodyPr wrap="square" rtlCol="0">
              <a:spAutoFit/>
            </a:bodyPr>
            <a:lstStyle/>
            <a:p>
              <a:pPr algn="ctr"/>
              <a:r>
                <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A</a:t>
              </a:r>
              <a:endPar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5" name="文本框 4"/>
            <p:cNvSpPr txBox="1"/>
            <p:nvPr/>
          </p:nvSpPr>
          <p:spPr>
            <a:xfrm>
              <a:off x="5347" y="4121"/>
              <a:ext cx="428" cy="479"/>
            </a:xfrm>
            <a:prstGeom prst="rect">
              <a:avLst/>
            </a:prstGeom>
            <a:noFill/>
          </p:spPr>
          <p:txBody>
            <a:bodyPr wrap="square" rtlCol="0">
              <a:spAutoFit/>
            </a:bodyPr>
            <a:lstStyle/>
            <a:p>
              <a:pPr algn="ctr"/>
              <a:r>
                <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C</a:t>
              </a:r>
              <a:endPar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7" name="文本框 6"/>
            <p:cNvSpPr txBox="1"/>
            <p:nvPr/>
          </p:nvSpPr>
          <p:spPr>
            <a:xfrm>
              <a:off x="2210" y="6770"/>
              <a:ext cx="428" cy="479"/>
            </a:xfrm>
            <a:prstGeom prst="rect">
              <a:avLst/>
            </a:prstGeom>
            <a:noFill/>
          </p:spPr>
          <p:txBody>
            <a:bodyPr wrap="square" rtlCol="0">
              <a:spAutoFit/>
            </a:bodyPr>
            <a:lstStyle/>
            <a:p>
              <a:pPr algn="ctr"/>
              <a:r>
                <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B</a:t>
              </a:r>
              <a:endPar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sp>
          <p:nvSpPr>
            <p:cNvPr id="10" name="文本框 9"/>
            <p:cNvSpPr txBox="1"/>
            <p:nvPr/>
          </p:nvSpPr>
          <p:spPr>
            <a:xfrm>
              <a:off x="5344" y="6770"/>
              <a:ext cx="428" cy="479"/>
            </a:xfrm>
            <a:prstGeom prst="rect">
              <a:avLst/>
            </a:prstGeom>
            <a:noFill/>
          </p:spPr>
          <p:txBody>
            <a:bodyPr wrap="square" rtlCol="0">
              <a:spAutoFit/>
            </a:bodyPr>
            <a:lstStyle/>
            <a:p>
              <a:pPr algn="ctr"/>
              <a:r>
                <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rPr>
                <a:t>D</a:t>
              </a:r>
              <a:endParaRPr lang="en-US" altLang="zh-CN" sz="1600" b="1">
                <a:solidFill>
                  <a:schemeClr val="tx1">
                    <a:lumMod val="75000"/>
                    <a:lumOff val="25000"/>
                  </a:schemeClr>
                </a:solidFill>
                <a:effectLst>
                  <a:outerShdw blurRad="38100" dist="38100" dir="2700000" algn="tl">
                    <a:srgbClr val="000000">
                      <a:alpha val="43137"/>
                    </a:srgbClr>
                  </a:outerShdw>
                </a:effectLst>
                <a:latin typeface="Georgia" panose="02040502050405020303" charset="0"/>
                <a:ea typeface="微软雅黑" panose="020B0503020204020204" pitchFamily="34" charset="-122"/>
                <a:cs typeface="Georgia" panose="02040502050405020303" charset="0"/>
              </a:endParaRPr>
            </a:p>
          </p:txBody>
        </p:sp>
        <p:cxnSp>
          <p:nvCxnSpPr>
            <p:cNvPr id="3" name="直接箭头连接符 2"/>
            <p:cNvCxnSpPr/>
            <p:nvPr/>
          </p:nvCxnSpPr>
          <p:spPr>
            <a:xfrm>
              <a:off x="2906" y="4185"/>
              <a:ext cx="2210" cy="0"/>
            </a:xfrm>
            <a:prstGeom prst="straightConnector1">
              <a:avLst/>
            </a:prstGeom>
            <a:ln w="19050">
              <a:solidFill>
                <a:schemeClr val="bg2">
                  <a:lumMod val="75000"/>
                </a:schemeClr>
              </a:solidFill>
              <a:prstDash val="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2906" y="4400"/>
              <a:ext cx="2210" cy="0"/>
            </a:xfrm>
            <a:prstGeom prst="straightConnector1">
              <a:avLst/>
            </a:prstGeom>
            <a:ln w="19050">
              <a:solidFill>
                <a:schemeClr val="bg2">
                  <a:lumMod val="75000"/>
                </a:schemeClr>
              </a:solidFill>
              <a:prstDash val="dash"/>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H="1" flipV="1">
              <a:off x="5435" y="4678"/>
              <a:ext cx="4" cy="1787"/>
            </a:xfrm>
            <a:prstGeom prst="straightConnector1">
              <a:avLst/>
            </a:prstGeom>
            <a:ln w="19050">
              <a:solidFill>
                <a:schemeClr val="bg2">
                  <a:lumMod val="75000"/>
                </a:schemeClr>
              </a:solidFill>
              <a:prstDash val="dash"/>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H="1" flipV="1">
              <a:off x="5679" y="4678"/>
              <a:ext cx="4" cy="1787"/>
            </a:xfrm>
            <a:prstGeom prst="straightConnector1">
              <a:avLst/>
            </a:prstGeom>
            <a:ln w="19050">
              <a:solidFill>
                <a:schemeClr val="bg2">
                  <a:lumMod val="75000"/>
                </a:schemeClr>
              </a:solidFill>
              <a:prstDash val="dash"/>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a:off x="2906" y="6871"/>
              <a:ext cx="2210" cy="0"/>
            </a:xfrm>
            <a:prstGeom prst="straightConnector1">
              <a:avLst/>
            </a:prstGeom>
            <a:ln w="19050">
              <a:solidFill>
                <a:schemeClr val="bg2">
                  <a:lumMod val="75000"/>
                </a:schemeClr>
              </a:solidFill>
              <a:prstDash val="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2" name="直接箭头连接符 31"/>
            <p:cNvCxnSpPr/>
            <p:nvPr/>
          </p:nvCxnSpPr>
          <p:spPr>
            <a:xfrm>
              <a:off x="2906" y="7093"/>
              <a:ext cx="2210" cy="0"/>
            </a:xfrm>
            <a:prstGeom prst="straightConnector1">
              <a:avLst/>
            </a:prstGeom>
            <a:ln w="19050">
              <a:solidFill>
                <a:schemeClr val="bg2">
                  <a:lumMod val="75000"/>
                </a:schemeClr>
              </a:solidFill>
              <a:prstDash val="dash"/>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33" name="直接箭头连接符 32"/>
            <p:cNvCxnSpPr/>
            <p:nvPr/>
          </p:nvCxnSpPr>
          <p:spPr>
            <a:xfrm flipH="1" flipV="1">
              <a:off x="2272" y="4678"/>
              <a:ext cx="4" cy="1787"/>
            </a:xfrm>
            <a:prstGeom prst="straightConnector1">
              <a:avLst/>
            </a:prstGeom>
            <a:ln w="19050">
              <a:solidFill>
                <a:schemeClr val="bg2">
                  <a:lumMod val="75000"/>
                </a:schemeClr>
              </a:solidFill>
              <a:prstDash val="dash"/>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H="1" flipV="1">
              <a:off x="2517" y="4678"/>
              <a:ext cx="4" cy="1787"/>
            </a:xfrm>
            <a:prstGeom prst="straightConnector1">
              <a:avLst/>
            </a:prstGeom>
            <a:ln w="19050">
              <a:solidFill>
                <a:schemeClr val="bg2">
                  <a:lumMod val="75000"/>
                </a:schemeClr>
              </a:solidFill>
              <a:prstDash val="dash"/>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flipH="1">
              <a:off x="2745" y="4568"/>
              <a:ext cx="2325" cy="1916"/>
            </a:xfrm>
            <a:prstGeom prst="straightConnector1">
              <a:avLst/>
            </a:prstGeom>
            <a:ln w="19050">
              <a:solidFill>
                <a:schemeClr val="bg2">
                  <a:lumMod val="75000"/>
                </a:schemeClr>
              </a:solidFill>
              <a:prstDash val="dash"/>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flipH="1">
              <a:off x="2898" y="4721"/>
              <a:ext cx="2325" cy="1916"/>
            </a:xfrm>
            <a:prstGeom prst="straightConnector1">
              <a:avLst/>
            </a:prstGeom>
            <a:ln w="19050">
              <a:solidFill>
                <a:schemeClr val="bg2">
                  <a:lumMod val="75000"/>
                </a:schemeClr>
              </a:solidFill>
              <a:prstDash val="dash"/>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2921" y="4566"/>
              <a:ext cx="2340" cy="1925"/>
            </a:xfrm>
            <a:prstGeom prst="straightConnector1">
              <a:avLst/>
            </a:prstGeom>
            <a:ln w="19050">
              <a:solidFill>
                <a:schemeClr val="bg2">
                  <a:lumMod val="75000"/>
                </a:schemeClr>
              </a:solidFill>
              <a:prstDash val="dash"/>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41" name="直接箭头连接符 40"/>
            <p:cNvCxnSpPr/>
            <p:nvPr/>
          </p:nvCxnSpPr>
          <p:spPr>
            <a:xfrm>
              <a:off x="2768" y="4731"/>
              <a:ext cx="2340" cy="1925"/>
            </a:xfrm>
            <a:prstGeom prst="straightConnector1">
              <a:avLst/>
            </a:prstGeom>
            <a:ln w="19050">
              <a:solidFill>
                <a:schemeClr val="bg2">
                  <a:lumMod val="75000"/>
                </a:schemeClr>
              </a:solidFill>
              <a:prstDash val="dash"/>
              <a:headEnd type="triangle" w="med" len="med"/>
              <a:tailEnd type="none" w="med" len="med"/>
            </a:ln>
          </p:spPr>
          <p:style>
            <a:lnRef idx="2">
              <a:schemeClr val="accent1"/>
            </a:lnRef>
            <a:fillRef idx="0">
              <a:srgbClr val="FFFFFF"/>
            </a:fillRef>
            <a:effectRef idx="0">
              <a:srgbClr val="FFFFFF"/>
            </a:effectRef>
            <a:fontRef idx="minor">
              <a:schemeClr val="tx1"/>
            </a:fontRef>
          </p:style>
        </p:cxnSp>
      </p:grpSp>
      <p:sp>
        <p:nvSpPr>
          <p:cNvPr id="42" name="下箭头 41"/>
          <p:cNvSpPr/>
          <p:nvPr/>
        </p:nvSpPr>
        <p:spPr>
          <a:xfrm rot="16200000">
            <a:off x="3971925" y="3364548"/>
            <a:ext cx="401955" cy="590550"/>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783590" y="5255260"/>
            <a:ext cx="2933065" cy="681355"/>
          </a:xfrm>
          <a:prstGeom prst="rect">
            <a:avLst/>
          </a:prstGeom>
          <a:noFill/>
        </p:spPr>
        <p:txBody>
          <a:bodyPr wrap="square" rtlCol="0" anchor="t">
            <a:spAutoFit/>
          </a:bodyPr>
          <a:lstStyle/>
          <a:p>
            <a:pPr indent="0" algn="ctr" fontAlgn="auto">
              <a:lnSpc>
                <a:spcPct val="120000"/>
              </a:lnSpc>
            </a:pPr>
            <a:r>
              <a:rPr lang="en-US" altLang="zh-CN" sz="1600" u="sng" dirty="0">
                <a:effectLst/>
                <a:latin typeface="+mj-lt"/>
                <a:ea typeface="宋体" panose="02010600030101010101" pitchFamily="2" charset="-122"/>
                <a:cs typeface="+mj-lt"/>
                <a:sym typeface="+mn-ea"/>
              </a:rPr>
              <a:t>Original Multi-Location </a:t>
            </a:r>
            <a:endParaRPr lang="en-US" altLang="zh-CN" sz="1600" u="sng" dirty="0">
              <a:effectLst/>
              <a:latin typeface="+mj-lt"/>
              <a:ea typeface="宋体" panose="02010600030101010101" pitchFamily="2" charset="-122"/>
              <a:cs typeface="+mj-lt"/>
              <a:sym typeface="+mn-ea"/>
            </a:endParaRPr>
          </a:p>
          <a:p>
            <a:pPr indent="0" algn="ctr" fontAlgn="auto">
              <a:lnSpc>
                <a:spcPct val="120000"/>
              </a:lnSpc>
            </a:pPr>
            <a:r>
              <a:rPr lang="en-US" altLang="zh-CN" sz="1600" u="sng" dirty="0">
                <a:effectLst/>
                <a:latin typeface="+mj-lt"/>
                <a:ea typeface="宋体" panose="02010600030101010101" pitchFamily="2" charset="-122"/>
                <a:cs typeface="+mj-lt"/>
                <a:sym typeface="+mn-ea"/>
              </a:rPr>
              <a:t>Inventory System</a:t>
            </a:r>
            <a:endParaRPr lang="en-US" altLang="zh-CN" sz="1600" u="sng" dirty="0">
              <a:effectLst/>
              <a:latin typeface="+mj-lt"/>
              <a:ea typeface="宋体" panose="02010600030101010101" pitchFamily="2" charset="-122"/>
              <a:cs typeface="+mj-lt"/>
              <a:sym typeface="+mn-ea"/>
            </a:endParaRPr>
          </a:p>
        </p:txBody>
      </p:sp>
      <p:sp>
        <p:nvSpPr>
          <p:cNvPr id="81" name="文本框 80"/>
          <p:cNvSpPr txBox="1"/>
          <p:nvPr/>
        </p:nvSpPr>
        <p:spPr>
          <a:xfrm>
            <a:off x="8560435" y="2069465"/>
            <a:ext cx="2099310" cy="368300"/>
          </a:xfrm>
          <a:prstGeom prst="rect">
            <a:avLst/>
          </a:prstGeom>
          <a:noFill/>
        </p:spPr>
        <p:txBody>
          <a:bodyPr wrap="square" rtlCol="0">
            <a:spAutoFit/>
          </a:bodyPr>
          <a:lstStyle/>
          <a:p>
            <a:pPr indent="0">
              <a:buNone/>
            </a:pPr>
            <a:r>
              <a:rPr lang="en-US" altLang="zh-CN" b="1"/>
              <a:t>Replenishment:</a:t>
            </a:r>
            <a:endParaRPr lang="en-US" altLang="zh-CN" b="1"/>
          </a:p>
        </p:txBody>
      </p:sp>
      <p:grpSp>
        <p:nvGrpSpPr>
          <p:cNvPr id="18" name="组合 17"/>
          <p:cNvGrpSpPr/>
          <p:nvPr/>
        </p:nvGrpSpPr>
        <p:grpSpPr>
          <a:xfrm>
            <a:off x="8976995" y="2332990"/>
            <a:ext cx="1791335" cy="732155"/>
            <a:chOff x="14137" y="3524"/>
            <a:chExt cx="2821" cy="1153"/>
          </a:xfrm>
        </p:grpSpPr>
        <p:grpSp>
          <p:nvGrpSpPr>
            <p:cNvPr id="77" name="组合 76"/>
            <p:cNvGrpSpPr/>
            <p:nvPr/>
          </p:nvGrpSpPr>
          <p:grpSpPr>
            <a:xfrm rot="5400000">
              <a:off x="16045" y="4205"/>
              <a:ext cx="708" cy="236"/>
              <a:chOff x="10003" y="8434"/>
              <a:chExt cx="708" cy="236"/>
            </a:xfrm>
          </p:grpSpPr>
          <p:sp>
            <p:nvSpPr>
              <p:cNvPr id="78" name="矩形 77"/>
              <p:cNvSpPr/>
              <p:nvPr>
                <p:custDataLst>
                  <p:tags r:id="rId3"/>
                </p:custDataLst>
              </p:nvPr>
            </p:nvSpPr>
            <p:spPr>
              <a:xfrm rot="16200000">
                <a:off x="10003"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9" name="矩形 78"/>
              <p:cNvSpPr/>
              <p:nvPr>
                <p:custDataLst>
                  <p:tags r:id="rId4"/>
                </p:custDataLst>
              </p:nvPr>
            </p:nvSpPr>
            <p:spPr>
              <a:xfrm rot="16200000">
                <a:off x="10239"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0" name="矩形 79"/>
              <p:cNvSpPr/>
              <p:nvPr>
                <p:custDataLst>
                  <p:tags r:id="rId5"/>
                </p:custDataLst>
              </p:nvPr>
            </p:nvSpPr>
            <p:spPr>
              <a:xfrm rot="16200000">
                <a:off x="10475"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82" name="文本框 81"/>
                <p:cNvSpPr txBox="1"/>
                <p:nvPr/>
              </p:nvSpPr>
              <p:spPr>
                <a:xfrm>
                  <a:off x="15182" y="4028"/>
                  <a:ext cx="1776" cy="59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𝜋</m:t>
                            </m:r>
                          </m:e>
                          <m:sub>
                            <m:r>
                              <m:rPr>
                                <m:sty m:val="p"/>
                              </m:rPr>
                              <a:rPr lang="en-US" altLang="zh-CN">
                                <a:latin typeface="Cambria Math" panose="02040503050406030204" charset="0"/>
                                <a:cs typeface="Cambria Math" panose="02040503050406030204" charset="0"/>
                              </a:rPr>
                              <m:t>rep</m:t>
                            </m:r>
                          </m:sub>
                        </m:sSub>
                        <m:d>
                          <m:dPr>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      </m:t>
                            </m:r>
                          </m:e>
                        </m:d>
                      </m:oMath>
                    </m:oMathPara>
                  </a14:m>
                  <a:endParaRPr lang="zh-CN" altLang="en-US"/>
                </a:p>
              </p:txBody>
            </p:sp>
          </mc:Choice>
          <mc:Fallback>
            <p:sp>
              <p:nvSpPr>
                <p:cNvPr id="82" name="文本框 81"/>
                <p:cNvSpPr txBox="1">
                  <a:spLocks noRot="1" noChangeAspect="1" noMove="1" noResize="1" noEditPoints="1" noAdjustHandles="1" noChangeArrowheads="1" noChangeShapeType="1" noTextEdit="1"/>
                </p:cNvSpPr>
                <p:nvPr/>
              </p:nvSpPr>
              <p:spPr>
                <a:xfrm>
                  <a:off x="15182" y="4028"/>
                  <a:ext cx="1776" cy="59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4" name="文本框 83"/>
                <p:cNvSpPr txBox="1"/>
                <p:nvPr/>
              </p:nvSpPr>
              <p:spPr>
                <a:xfrm>
                  <a:off x="16008" y="3524"/>
                  <a:ext cx="825" cy="488"/>
                </a:xfrm>
                <a:prstGeom prst="rect">
                  <a:avLst/>
                </a:prstGeom>
                <a:noFill/>
              </p:spPr>
              <p:txBody>
                <a:bodyPr wrap="square" rtlCol="0">
                  <a:spAutoFit/>
                </a:bodyPr>
                <a:lstStyle/>
                <a:p>
                  <a14:m>
                    <m:oMathPara xmlns:m="http://schemas.openxmlformats.org/officeDocument/2006/math">
                      <m:oMathParaPr>
                        <m:jc m:val="center"/>
                      </m:oMathParaPr>
                      <m:oMath xmlns:m="http://schemas.openxmlformats.org/officeDocument/2006/math">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𝑜𝑛</m:t>
                            </m:r>
                          </m:e>
                          <m:sub>
                            <m:r>
                              <a:rPr lang="en-US" altLang="zh-CN" sz="1400" i="1">
                                <a:latin typeface="Cambria Math" panose="02040503050406030204" charset="0"/>
                                <a:cs typeface="Cambria Math" panose="02040503050406030204" charset="0"/>
                              </a:rPr>
                              <m:t>𝑡</m:t>
                            </m:r>
                          </m:sub>
                          <m:sup>
                            <m:r>
                              <a:rPr lang="en-US" altLang="zh-CN" sz="1400" i="1">
                                <a:latin typeface="Cambria Math" panose="02040503050406030204" charset="0"/>
                                <a:cs typeface="Cambria Math" panose="02040503050406030204" charset="0"/>
                              </a:rPr>
                              <m:t>𝑖</m:t>
                            </m:r>
                          </m:sup>
                        </m:sSubSup>
                      </m:oMath>
                    </m:oMathPara>
                  </a14:m>
                  <a:endParaRPr lang="en-US" altLang="zh-CN" sz="1400" i="1">
                    <a:latin typeface="Cambria Math" panose="02040503050406030204" charset="0"/>
                    <a:cs typeface="Cambria Math" panose="02040503050406030204" charset="0"/>
                  </a:endParaRPr>
                </a:p>
              </p:txBody>
            </p:sp>
          </mc:Choice>
          <mc:Fallback>
            <p:sp>
              <p:nvSpPr>
                <p:cNvPr id="84" name="文本框 83"/>
                <p:cNvSpPr txBox="1">
                  <a:spLocks noRot="1" noChangeAspect="1" noMove="1" noResize="1" noEditPoints="1" noAdjustHandles="1" noChangeArrowheads="1" noChangeShapeType="1" noTextEdit="1"/>
                </p:cNvSpPr>
                <p:nvPr/>
              </p:nvSpPr>
              <p:spPr>
                <a:xfrm>
                  <a:off x="16008" y="3524"/>
                  <a:ext cx="825" cy="488"/>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文本框 84"/>
                <p:cNvSpPr txBox="1"/>
                <p:nvPr/>
              </p:nvSpPr>
              <p:spPr>
                <a:xfrm>
                  <a:off x="14137" y="4006"/>
                  <a:ext cx="1059" cy="59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m:t>
                            </m:r>
                          </m:sup>
                        </m:sSubSup>
                        <m:r>
                          <a:rPr lang="en-US" altLang="zh-CN" i="1">
                            <a:latin typeface="Cambria Math" panose="02040503050406030204" charset="0"/>
                            <a:cs typeface="Cambria Math" panose="02040503050406030204" charset="0"/>
                          </a:rPr>
                          <m:t> =</m:t>
                        </m:r>
                      </m:oMath>
                    </m:oMathPara>
                  </a14:m>
                  <a:endParaRPr lang="zh-CN" altLang="en-US"/>
                </a:p>
              </p:txBody>
            </p:sp>
          </mc:Choice>
          <mc:Fallback>
            <p:sp>
              <p:nvSpPr>
                <p:cNvPr id="85" name="文本框 84"/>
                <p:cNvSpPr txBox="1">
                  <a:spLocks noRot="1" noChangeAspect="1" noMove="1" noResize="1" noEditPoints="1" noAdjustHandles="1" noChangeArrowheads="1" noChangeShapeType="1" noTextEdit="1"/>
                </p:cNvSpPr>
                <p:nvPr/>
              </p:nvSpPr>
              <p:spPr>
                <a:xfrm>
                  <a:off x="14137" y="4006"/>
                  <a:ext cx="1059" cy="590"/>
                </a:xfrm>
                <a:prstGeom prst="rect">
                  <a:avLst/>
                </a:prstGeom>
                <a:blipFill rotWithShape="1">
                  <a:blip r:embed="rId8"/>
                </a:blipFill>
              </p:spPr>
              <p:txBody>
                <a:bodyPr/>
                <a:lstStyle/>
                <a:p>
                  <a:r>
                    <a:rPr lang="zh-CN" altLang="en-US">
                      <a:noFill/>
                    </a:rPr>
                    <a:t> </a:t>
                  </a:r>
                </a:p>
              </p:txBody>
            </p:sp>
          </mc:Fallback>
        </mc:AlternateContent>
      </p:grpSp>
      <p:sp>
        <p:nvSpPr>
          <p:cNvPr id="86" name="文本框 85"/>
          <p:cNvSpPr txBox="1"/>
          <p:nvPr/>
        </p:nvSpPr>
        <p:spPr>
          <a:xfrm>
            <a:off x="8560435" y="3303905"/>
            <a:ext cx="2099310" cy="368300"/>
          </a:xfrm>
          <a:prstGeom prst="rect">
            <a:avLst/>
          </a:prstGeom>
          <a:noFill/>
        </p:spPr>
        <p:txBody>
          <a:bodyPr wrap="square" rtlCol="0">
            <a:spAutoFit/>
          </a:bodyPr>
          <a:lstStyle/>
          <a:p>
            <a:r>
              <a:rPr lang="en-US" altLang="zh-CN" b="1"/>
              <a:t>Transshipment:</a:t>
            </a:r>
            <a:endParaRPr lang="en-US" altLang="zh-CN" b="1"/>
          </a:p>
        </p:txBody>
      </p:sp>
      <p:grpSp>
        <p:nvGrpSpPr>
          <p:cNvPr id="19" name="组合 18"/>
          <p:cNvGrpSpPr/>
          <p:nvPr/>
        </p:nvGrpSpPr>
        <p:grpSpPr>
          <a:xfrm>
            <a:off x="8968105" y="3389630"/>
            <a:ext cx="1937385" cy="916305"/>
            <a:chOff x="14123" y="5233"/>
            <a:chExt cx="3051" cy="1443"/>
          </a:xfrm>
        </p:grpSpPr>
        <mc:AlternateContent xmlns:mc="http://schemas.openxmlformats.org/markup-compatibility/2006">
          <mc:Choice xmlns:a14="http://schemas.microsoft.com/office/drawing/2010/main" Requires="a14">
            <p:sp>
              <p:nvSpPr>
                <p:cNvPr id="87" name="文本框 86"/>
                <p:cNvSpPr txBox="1"/>
                <p:nvPr/>
              </p:nvSpPr>
              <p:spPr>
                <a:xfrm>
                  <a:off x="14123" y="5850"/>
                  <a:ext cx="1137" cy="664"/>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𝑖𝑗</m:t>
                            </m:r>
                          </m:sup>
                        </m:sSubSup>
                        <m:r>
                          <a:rPr lang="en-US" altLang="zh-CN" i="1">
                            <a:latin typeface="Cambria Math" panose="02040503050406030204" charset="0"/>
                            <a:cs typeface="Cambria Math" panose="02040503050406030204" charset="0"/>
                          </a:rPr>
                          <m:t> =</m:t>
                        </m:r>
                      </m:oMath>
                    </m:oMathPara>
                  </a14:m>
                  <a:endParaRPr lang="zh-CN" altLang="en-US"/>
                </a:p>
              </p:txBody>
            </p:sp>
          </mc:Choice>
          <mc:Fallback>
            <p:sp>
              <p:nvSpPr>
                <p:cNvPr id="87" name="文本框 86"/>
                <p:cNvSpPr txBox="1">
                  <a:spLocks noRot="1" noChangeAspect="1" noMove="1" noResize="1" noEditPoints="1" noAdjustHandles="1" noChangeArrowheads="1" noChangeShapeType="1" noTextEdit="1"/>
                </p:cNvSpPr>
                <p:nvPr/>
              </p:nvSpPr>
              <p:spPr>
                <a:xfrm>
                  <a:off x="14123" y="5850"/>
                  <a:ext cx="1137" cy="664"/>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 name="文本框 91"/>
                <p:cNvSpPr txBox="1"/>
                <p:nvPr/>
              </p:nvSpPr>
              <p:spPr>
                <a:xfrm>
                  <a:off x="15228" y="5916"/>
                  <a:ext cx="1946" cy="58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𝜋</m:t>
                            </m:r>
                          </m:e>
                          <m:sub>
                            <m:r>
                              <m:rPr>
                                <m:sty m:val="p"/>
                              </m:rPr>
                              <a:rPr lang="en-US" altLang="zh-CN">
                                <a:latin typeface="Cambria Math" panose="02040503050406030204" charset="0"/>
                                <a:cs typeface="Cambria Math" panose="02040503050406030204" charset="0"/>
                              </a:rPr>
                              <m:t>trans</m:t>
                            </m:r>
                          </m:sub>
                        </m:sSub>
                        <m:d>
                          <m:dPr>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      </m:t>
                            </m:r>
                          </m:e>
                        </m:d>
                      </m:oMath>
                    </m:oMathPara>
                  </a14:m>
                  <a:endParaRPr lang="zh-CN" altLang="en-US"/>
                </a:p>
              </p:txBody>
            </p:sp>
          </mc:Choice>
          <mc:Fallback>
            <p:sp>
              <p:nvSpPr>
                <p:cNvPr id="92" name="文本框 91"/>
                <p:cNvSpPr txBox="1">
                  <a:spLocks noRot="1" noChangeAspect="1" noMove="1" noResize="1" noEditPoints="1" noAdjustHandles="1" noChangeArrowheads="1" noChangeShapeType="1" noTextEdit="1"/>
                </p:cNvSpPr>
                <p:nvPr/>
              </p:nvSpPr>
              <p:spPr>
                <a:xfrm>
                  <a:off x="15228" y="5916"/>
                  <a:ext cx="1946" cy="580"/>
                </a:xfrm>
                <a:prstGeom prst="rect">
                  <a:avLst/>
                </a:prstGeom>
                <a:blipFill rotWithShape="1">
                  <a:blip r:embed="rId10"/>
                </a:blipFill>
              </p:spPr>
              <p:txBody>
                <a:bodyPr/>
                <a:lstStyle/>
                <a:p>
                  <a:r>
                    <a:rPr lang="zh-CN" altLang="en-US">
                      <a:noFill/>
                    </a:rPr>
                    <a:t> </a:t>
                  </a:r>
                </a:p>
              </p:txBody>
            </p:sp>
          </mc:Fallback>
        </mc:AlternateContent>
        <p:grpSp>
          <p:nvGrpSpPr>
            <p:cNvPr id="93" name="组合 92"/>
            <p:cNvGrpSpPr/>
            <p:nvPr/>
          </p:nvGrpSpPr>
          <p:grpSpPr>
            <a:xfrm>
              <a:off x="16528" y="5732"/>
              <a:ext cx="236" cy="944"/>
              <a:chOff x="14673" y="4928"/>
              <a:chExt cx="236" cy="944"/>
            </a:xfrm>
          </p:grpSpPr>
          <p:sp>
            <p:nvSpPr>
              <p:cNvPr id="94" name="矩形 93"/>
              <p:cNvSpPr/>
              <p:nvPr>
                <p:custDataLst>
                  <p:tags r:id="rId11"/>
                </p:custDataLst>
              </p:nvPr>
            </p:nvSpPr>
            <p:spPr>
              <a:xfrm>
                <a:off x="14673" y="4928"/>
                <a:ext cx="236" cy="236"/>
              </a:xfrm>
              <a:prstGeom prst="rect">
                <a:avLst/>
              </a:prstGeom>
              <a:solidFill>
                <a:schemeClr val="accent3">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5" name="矩形 94"/>
              <p:cNvSpPr/>
              <p:nvPr>
                <p:custDataLst>
                  <p:tags r:id="rId12"/>
                </p:custDataLst>
              </p:nvPr>
            </p:nvSpPr>
            <p:spPr>
              <a:xfrm>
                <a:off x="14673" y="5164"/>
                <a:ext cx="236" cy="236"/>
              </a:xfrm>
              <a:prstGeom prst="rect">
                <a:avLst/>
              </a:prstGeom>
              <a:solidFill>
                <a:schemeClr val="accent3">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6" name="矩形 95"/>
              <p:cNvSpPr/>
              <p:nvPr>
                <p:custDataLst>
                  <p:tags r:id="rId13"/>
                </p:custDataLst>
              </p:nvPr>
            </p:nvSpPr>
            <p:spPr>
              <a:xfrm>
                <a:off x="14673" y="5400"/>
                <a:ext cx="236" cy="236"/>
              </a:xfrm>
              <a:prstGeom prst="rect">
                <a:avLst/>
              </a:prstGeom>
              <a:solidFill>
                <a:schemeClr val="accent3">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7" name="矩形 96"/>
              <p:cNvSpPr/>
              <p:nvPr>
                <p:custDataLst>
                  <p:tags r:id="rId14"/>
                </p:custDataLst>
              </p:nvPr>
            </p:nvSpPr>
            <p:spPr>
              <a:xfrm rot="21600000">
                <a:off x="14673" y="5636"/>
                <a:ext cx="236" cy="236"/>
              </a:xfrm>
              <a:prstGeom prst="rect">
                <a:avLst/>
              </a:prstGeom>
              <a:solidFill>
                <a:schemeClr val="accent3">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98" name="文本框 97"/>
                <p:cNvSpPr txBox="1"/>
                <p:nvPr/>
              </p:nvSpPr>
              <p:spPr>
                <a:xfrm>
                  <a:off x="16259" y="5233"/>
                  <a:ext cx="825" cy="544"/>
                </a:xfrm>
                <a:prstGeom prst="rect">
                  <a:avLst/>
                </a:prstGeom>
                <a:noFill/>
              </p:spPr>
              <p:txBody>
                <a:bodyPr wrap="square" rtlCol="0">
                  <a:spAutoFit/>
                </a:bodyPr>
                <a:lstStyle/>
                <a:p>
                  <a14:m>
                    <m:oMathPara xmlns:m="http://schemas.openxmlformats.org/officeDocument/2006/math">
                      <m:oMathParaPr>
                        <m:jc m:val="center"/>
                      </m:oMathParaPr>
                      <m:oMath xmlns:m="http://schemas.openxmlformats.org/officeDocument/2006/math">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𝑜𝑒</m:t>
                            </m:r>
                          </m:e>
                          <m:sub>
                            <m:r>
                              <a:rPr lang="en-US" altLang="zh-CN" sz="1400" i="1">
                                <a:latin typeface="Cambria Math" panose="02040503050406030204" charset="0"/>
                                <a:cs typeface="Cambria Math" panose="02040503050406030204" charset="0"/>
                              </a:rPr>
                              <m:t>𝑡</m:t>
                            </m:r>
                          </m:sub>
                          <m:sup>
                            <m:r>
                              <a:rPr lang="en-US" altLang="zh-CN" sz="1400" i="1">
                                <a:latin typeface="Cambria Math" panose="02040503050406030204" charset="0"/>
                                <a:cs typeface="Cambria Math" panose="02040503050406030204" charset="0"/>
                              </a:rPr>
                              <m:t>𝑖𝑗</m:t>
                            </m:r>
                          </m:sup>
                        </m:sSubSup>
                      </m:oMath>
                    </m:oMathPara>
                  </a14:m>
                  <a:endParaRPr lang="en-US" altLang="zh-CN" sz="1400" i="1">
                    <a:latin typeface="Cambria Math" panose="02040503050406030204" charset="0"/>
                    <a:cs typeface="Cambria Math" panose="02040503050406030204" charset="0"/>
                  </a:endParaRPr>
                </a:p>
              </p:txBody>
            </p:sp>
          </mc:Choice>
          <mc:Fallback>
            <p:sp>
              <p:nvSpPr>
                <p:cNvPr id="98" name="文本框 97"/>
                <p:cNvSpPr txBox="1">
                  <a:spLocks noRot="1" noChangeAspect="1" noMove="1" noResize="1" noEditPoints="1" noAdjustHandles="1" noChangeArrowheads="1" noChangeShapeType="1" noTextEdit="1"/>
                </p:cNvSpPr>
                <p:nvPr/>
              </p:nvSpPr>
              <p:spPr>
                <a:xfrm>
                  <a:off x="16259" y="5233"/>
                  <a:ext cx="825" cy="544"/>
                </a:xfrm>
                <a:prstGeom prst="rect">
                  <a:avLst/>
                </a:prstGeom>
                <a:blipFill rotWithShape="1">
                  <a:blip r:embed="rId15"/>
                </a:blipFill>
              </p:spPr>
              <p:txBody>
                <a:bodyPr/>
                <a:lstStyle/>
                <a:p>
                  <a:r>
                    <a:rPr lang="zh-CN" altLang="en-US">
                      <a:noFill/>
                    </a:rPr>
                    <a:t> </a:t>
                  </a:r>
                </a:p>
              </p:txBody>
            </p:sp>
          </mc:Fallback>
        </mc:AlternateContent>
      </p:grpSp>
      <p:sp>
        <p:nvSpPr>
          <p:cNvPr id="99" name="文本框 98"/>
          <p:cNvSpPr txBox="1"/>
          <p:nvPr/>
        </p:nvSpPr>
        <p:spPr>
          <a:xfrm>
            <a:off x="4507865" y="5271453"/>
            <a:ext cx="2933065" cy="386080"/>
          </a:xfrm>
          <a:prstGeom prst="rect">
            <a:avLst/>
          </a:prstGeom>
          <a:noFill/>
        </p:spPr>
        <p:txBody>
          <a:bodyPr wrap="square" rtlCol="0" anchor="t">
            <a:spAutoFit/>
          </a:bodyPr>
          <a:lstStyle/>
          <a:p>
            <a:pPr indent="0" algn="ctr" fontAlgn="auto">
              <a:lnSpc>
                <a:spcPct val="120000"/>
              </a:lnSpc>
            </a:pPr>
            <a:r>
              <a:rPr lang="en-US" altLang="zh-CN" sz="1600" u="sng" dirty="0">
                <a:effectLst/>
                <a:latin typeface="+mj-lt"/>
                <a:ea typeface="宋体" panose="02010600030101010101" pitchFamily="2" charset="-122"/>
                <a:cs typeface="+mj-lt"/>
                <a:sym typeface="+mn-ea"/>
              </a:rPr>
              <a:t>Model as Directed Graph</a:t>
            </a:r>
            <a:endParaRPr lang="en-US" altLang="zh-CN" sz="1600" u="sng" dirty="0">
              <a:effectLst/>
              <a:latin typeface="+mj-lt"/>
              <a:ea typeface="宋体" panose="02010600030101010101" pitchFamily="2" charset="-122"/>
              <a:cs typeface="+mj-lt"/>
              <a:sym typeface="+mn-ea"/>
            </a:endParaRPr>
          </a:p>
        </p:txBody>
      </p:sp>
      <p:sp>
        <p:nvSpPr>
          <p:cNvPr id="102" name="下箭头 101"/>
          <p:cNvSpPr/>
          <p:nvPr/>
        </p:nvSpPr>
        <p:spPr>
          <a:xfrm rot="16200000">
            <a:off x="7867650" y="3364548"/>
            <a:ext cx="401955" cy="590550"/>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1" name="组合 160"/>
          <p:cNvGrpSpPr/>
          <p:nvPr/>
        </p:nvGrpSpPr>
        <p:grpSpPr>
          <a:xfrm>
            <a:off x="8928036" y="4648835"/>
            <a:ext cx="2317814" cy="737235"/>
            <a:chOff x="14060" y="6931"/>
            <a:chExt cx="3650" cy="1161"/>
          </a:xfrm>
        </p:grpSpPr>
        <p:sp>
          <p:nvSpPr>
            <p:cNvPr id="145" name="矩形 144"/>
            <p:cNvSpPr/>
            <p:nvPr/>
          </p:nvSpPr>
          <p:spPr>
            <a:xfrm>
              <a:off x="15208" y="7444"/>
              <a:ext cx="545" cy="63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1" name="组合 140"/>
            <p:cNvGrpSpPr/>
            <p:nvPr/>
          </p:nvGrpSpPr>
          <p:grpSpPr>
            <a:xfrm>
              <a:off x="15943" y="7384"/>
              <a:ext cx="1281" cy="708"/>
              <a:chOff x="15426" y="8352"/>
              <a:chExt cx="1281" cy="708"/>
            </a:xfrm>
          </p:grpSpPr>
          <p:grpSp>
            <p:nvGrpSpPr>
              <p:cNvPr id="124" name="组合 123"/>
              <p:cNvGrpSpPr/>
              <p:nvPr/>
            </p:nvGrpSpPr>
            <p:grpSpPr>
              <a:xfrm rot="16200000">
                <a:off x="15581" y="8588"/>
                <a:ext cx="708" cy="236"/>
                <a:chOff x="10003" y="8434"/>
                <a:chExt cx="708" cy="236"/>
              </a:xfrm>
            </p:grpSpPr>
            <p:sp>
              <p:nvSpPr>
                <p:cNvPr id="125" name="矩形 124"/>
                <p:cNvSpPr/>
                <p:nvPr>
                  <p:custDataLst>
                    <p:tags r:id="rId16"/>
                  </p:custDataLst>
                </p:nvPr>
              </p:nvSpPr>
              <p:spPr>
                <a:xfrm rot="16200000">
                  <a:off x="10003"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6" name="矩形 125"/>
                <p:cNvSpPr/>
                <p:nvPr>
                  <p:custDataLst>
                    <p:tags r:id="rId17"/>
                  </p:custDataLst>
                </p:nvPr>
              </p:nvSpPr>
              <p:spPr>
                <a:xfrm rot="16200000">
                  <a:off x="10239"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7" name="矩形 126"/>
                <p:cNvSpPr/>
                <p:nvPr>
                  <p:custDataLst>
                    <p:tags r:id="rId18"/>
                  </p:custDataLst>
                </p:nvPr>
              </p:nvSpPr>
              <p:spPr>
                <a:xfrm rot="16200000">
                  <a:off x="10475"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28" name="组合 127"/>
              <p:cNvGrpSpPr/>
              <p:nvPr/>
            </p:nvGrpSpPr>
            <p:grpSpPr>
              <a:xfrm rot="16200000">
                <a:off x="16235" y="8588"/>
                <a:ext cx="708" cy="236"/>
                <a:chOff x="10003" y="8434"/>
                <a:chExt cx="708" cy="236"/>
              </a:xfrm>
            </p:grpSpPr>
            <p:sp>
              <p:nvSpPr>
                <p:cNvPr id="129" name="矩形 128"/>
                <p:cNvSpPr/>
                <p:nvPr>
                  <p:custDataLst>
                    <p:tags r:id="rId19"/>
                  </p:custDataLst>
                </p:nvPr>
              </p:nvSpPr>
              <p:spPr>
                <a:xfrm rot="16200000">
                  <a:off x="10003"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0" name="矩形 129"/>
                <p:cNvSpPr/>
                <p:nvPr>
                  <p:custDataLst>
                    <p:tags r:id="rId20"/>
                  </p:custDataLst>
                </p:nvPr>
              </p:nvSpPr>
              <p:spPr>
                <a:xfrm rot="16200000">
                  <a:off x="10239"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1" name="矩形 130"/>
                <p:cNvSpPr/>
                <p:nvPr>
                  <p:custDataLst>
                    <p:tags r:id="rId21"/>
                  </p:custDataLst>
                </p:nvPr>
              </p:nvSpPr>
              <p:spPr>
                <a:xfrm rot="16200000">
                  <a:off x="10475"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32" name="组合 131"/>
              <p:cNvGrpSpPr/>
              <p:nvPr/>
            </p:nvGrpSpPr>
            <p:grpSpPr>
              <a:xfrm rot="16200000">
                <a:off x="15190" y="8588"/>
                <a:ext cx="708" cy="236"/>
                <a:chOff x="10003" y="8434"/>
                <a:chExt cx="708" cy="236"/>
              </a:xfrm>
            </p:grpSpPr>
            <p:sp>
              <p:nvSpPr>
                <p:cNvPr id="133" name="矩形 132"/>
                <p:cNvSpPr/>
                <p:nvPr>
                  <p:custDataLst>
                    <p:tags r:id="rId22"/>
                  </p:custDataLst>
                </p:nvPr>
              </p:nvSpPr>
              <p:spPr>
                <a:xfrm rot="16200000">
                  <a:off x="10003"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4" name="矩形 133"/>
                <p:cNvSpPr/>
                <p:nvPr>
                  <p:custDataLst>
                    <p:tags r:id="rId23"/>
                  </p:custDataLst>
                </p:nvPr>
              </p:nvSpPr>
              <p:spPr>
                <a:xfrm rot="16200000">
                  <a:off x="10239"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5" name="矩形 134"/>
                <p:cNvSpPr/>
                <p:nvPr>
                  <p:custDataLst>
                    <p:tags r:id="rId24"/>
                  </p:custDataLst>
                </p:nvPr>
              </p:nvSpPr>
              <p:spPr>
                <a:xfrm rot="16200000">
                  <a:off x="10475"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39" name="组合 138"/>
              <p:cNvGrpSpPr/>
              <p:nvPr/>
            </p:nvGrpSpPr>
            <p:grpSpPr>
              <a:xfrm>
                <a:off x="16150" y="8690"/>
                <a:ext cx="225" cy="32"/>
                <a:chOff x="13272" y="7284"/>
                <a:chExt cx="225" cy="32"/>
              </a:xfrm>
            </p:grpSpPr>
            <p:sp>
              <p:nvSpPr>
                <p:cNvPr id="136" name="椭圆 135"/>
                <p:cNvSpPr/>
                <p:nvPr>
                  <p:custDataLst>
                    <p:tags r:id="rId25"/>
                  </p:custDataLst>
                </p:nvPr>
              </p:nvSpPr>
              <p:spPr>
                <a:xfrm>
                  <a:off x="13272" y="7284"/>
                  <a:ext cx="32" cy="32"/>
                </a:xfrm>
                <a:prstGeom prst="ellipse">
                  <a:avLst/>
                </a:prstGeom>
                <a:solidFill>
                  <a:schemeClr val="tx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7" name="椭圆 136"/>
                <p:cNvSpPr/>
                <p:nvPr>
                  <p:custDataLst>
                    <p:tags r:id="rId26"/>
                  </p:custDataLst>
                </p:nvPr>
              </p:nvSpPr>
              <p:spPr>
                <a:xfrm>
                  <a:off x="13370" y="7284"/>
                  <a:ext cx="31" cy="32"/>
                </a:xfrm>
                <a:prstGeom prst="ellipse">
                  <a:avLst/>
                </a:prstGeom>
                <a:solidFill>
                  <a:schemeClr val="tx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8" name="椭圆 137"/>
                <p:cNvSpPr/>
                <p:nvPr>
                  <p:custDataLst>
                    <p:tags r:id="rId27"/>
                  </p:custDataLst>
                </p:nvPr>
              </p:nvSpPr>
              <p:spPr>
                <a:xfrm>
                  <a:off x="13467" y="7284"/>
                  <a:ext cx="31" cy="32"/>
                </a:xfrm>
                <a:prstGeom prst="ellipse">
                  <a:avLst/>
                </a:prstGeom>
                <a:solidFill>
                  <a:schemeClr val="tx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mc:AlternateContent xmlns:mc="http://schemas.openxmlformats.org/markup-compatibility/2006">
          <mc:Choice xmlns:a14="http://schemas.microsoft.com/office/drawing/2010/main" Requires="a14">
            <p:sp>
              <p:nvSpPr>
                <p:cNvPr id="142" name="文本框 141"/>
                <p:cNvSpPr txBox="1"/>
                <p:nvPr/>
              </p:nvSpPr>
              <p:spPr>
                <a:xfrm>
                  <a:off x="15014" y="7468"/>
                  <a:ext cx="2696" cy="59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𝛬</m:t>
                            </m:r>
                          </m:e>
                          <m:sub>
                            <m:r>
                              <a:rPr lang="en-US" altLang="zh-CN" i="1">
                                <a:latin typeface="Cambria Math" panose="02040503050406030204" charset="0"/>
                                <a:cs typeface="Cambria Math" panose="02040503050406030204" charset="0"/>
                              </a:rPr>
                              <m:t>𝜑</m:t>
                            </m:r>
                          </m:sub>
                        </m:sSub>
                        <m:d>
                          <m:dPr>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                  </m:t>
                            </m:r>
                          </m:e>
                        </m:d>
                      </m:oMath>
                    </m:oMathPara>
                  </a14:m>
                  <a:endParaRPr lang="en-US" altLang="zh-CN" i="1">
                    <a:latin typeface="Cambria Math" panose="02040503050406030204" charset="0"/>
                    <a:cs typeface="Cambria Math" panose="02040503050406030204" charset="0"/>
                  </a:endParaRPr>
                </a:p>
              </p:txBody>
            </p:sp>
          </mc:Choice>
          <mc:Fallback>
            <p:sp>
              <p:nvSpPr>
                <p:cNvPr id="142" name="文本框 141"/>
                <p:cNvSpPr txBox="1">
                  <a:spLocks noRot="1" noChangeAspect="1" noMove="1" noResize="1" noEditPoints="1" noAdjustHandles="1" noChangeArrowheads="1" noChangeShapeType="1" noTextEdit="1"/>
                </p:cNvSpPr>
                <p:nvPr/>
              </p:nvSpPr>
              <p:spPr>
                <a:xfrm>
                  <a:off x="15014" y="7468"/>
                  <a:ext cx="2696" cy="590"/>
                </a:xfrm>
                <a:prstGeom prst="rect">
                  <a:avLst/>
                </a:prstGeom>
                <a:blipFill rotWithShape="1">
                  <a:blip r:embed="rId2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3" name="文本框 142"/>
                <p:cNvSpPr txBox="1"/>
                <p:nvPr/>
              </p:nvSpPr>
              <p:spPr>
                <a:xfrm>
                  <a:off x="16185" y="6931"/>
                  <a:ext cx="825" cy="483"/>
                </a:xfrm>
                <a:prstGeom prst="rect">
                  <a:avLst/>
                </a:prstGeom>
                <a:noFill/>
              </p:spPr>
              <p:txBody>
                <a:bodyPr wrap="square" rtlCol="0">
                  <a:spAutoFit/>
                </a:bodyPr>
                <a:lstStyle/>
                <a:p>
                  <a14:m>
                    <m:oMathPara xmlns:m="http://schemas.openxmlformats.org/officeDocument/2006/math">
                      <m:oMathParaPr>
                        <m:jc m:val="center"/>
                      </m:oMathParaPr>
                      <m:oMath xmlns:m="http://schemas.openxmlformats.org/officeDocument/2006/math">
                        <m:sSub>
                          <m:sSubPr>
                            <m:ctrlPr>
                              <a:rPr lang="en-US" altLang="zh-CN" sz="1400" i="1">
                                <a:latin typeface="Cambria Math" panose="02040503050406030204" charset="0"/>
                                <a:cs typeface="Cambria Math" panose="02040503050406030204" charset="0"/>
                              </a:rPr>
                            </m:ctrlPr>
                          </m:sSubPr>
                          <m:e>
                            <m:r>
                              <a:rPr lang="en-US" altLang="zh-CN" sz="1400" b="1">
                                <a:latin typeface="Cambria Math" panose="02040503050406030204" charset="0"/>
                                <a:cs typeface="Cambria Math" panose="02040503050406030204" charset="0"/>
                              </a:rPr>
                              <m:t>𝐨𝐧</m:t>
                            </m:r>
                          </m:e>
                          <m:sub>
                            <m:r>
                              <a:rPr lang="en-US" altLang="zh-CN" sz="1400" i="1">
                                <a:latin typeface="Cambria Math" panose="02040503050406030204" charset="0"/>
                                <a:cs typeface="Cambria Math" panose="02040503050406030204" charset="0"/>
                              </a:rPr>
                              <m:t>𝑡</m:t>
                            </m:r>
                          </m:sub>
                        </m:sSub>
                      </m:oMath>
                    </m:oMathPara>
                  </a14:m>
                  <a:endParaRPr lang="en-US" altLang="zh-CN" sz="1400" i="1">
                    <a:latin typeface="Cambria Math" panose="02040503050406030204" charset="0"/>
                    <a:cs typeface="Cambria Math" panose="02040503050406030204" charset="0"/>
                  </a:endParaRPr>
                </a:p>
              </p:txBody>
            </p:sp>
          </mc:Choice>
          <mc:Fallback>
            <p:sp>
              <p:nvSpPr>
                <p:cNvPr id="143" name="文本框 142"/>
                <p:cNvSpPr txBox="1">
                  <a:spLocks noRot="1" noChangeAspect="1" noMove="1" noResize="1" noEditPoints="1" noAdjustHandles="1" noChangeArrowheads="1" noChangeShapeType="1" noTextEdit="1"/>
                </p:cNvSpPr>
                <p:nvPr/>
              </p:nvSpPr>
              <p:spPr>
                <a:xfrm>
                  <a:off x="16185" y="6931"/>
                  <a:ext cx="825" cy="483"/>
                </a:xfrm>
                <a:prstGeom prst="rect">
                  <a:avLst/>
                </a:prstGeom>
                <a:blipFill rotWithShape="1">
                  <a:blip r:embed="rId2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4" name="文本框 143"/>
                <p:cNvSpPr txBox="1"/>
                <p:nvPr/>
              </p:nvSpPr>
              <p:spPr>
                <a:xfrm>
                  <a:off x="14060" y="7468"/>
                  <a:ext cx="1178" cy="58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𝑡</m:t>
                            </m:r>
                          </m:sub>
                        </m:sSub>
                        <m:r>
                          <a:rPr lang="en-US" altLang="zh-CN" i="1">
                            <a:latin typeface="Cambria Math" panose="02040503050406030204" charset="0"/>
                            <a:cs typeface="Cambria Math" panose="02040503050406030204" charset="0"/>
                          </a:rPr>
                          <m:t> =</m:t>
                        </m:r>
                      </m:oMath>
                    </m:oMathPara>
                  </a14:m>
                  <a:endParaRPr lang="zh-CN" altLang="en-US"/>
                </a:p>
              </p:txBody>
            </p:sp>
          </mc:Choice>
          <mc:Fallback>
            <p:sp>
              <p:nvSpPr>
                <p:cNvPr id="144" name="文本框 143"/>
                <p:cNvSpPr txBox="1">
                  <a:spLocks noRot="1" noChangeAspect="1" noMove="1" noResize="1" noEditPoints="1" noAdjustHandles="1" noChangeArrowheads="1" noChangeShapeType="1" noTextEdit="1"/>
                </p:cNvSpPr>
                <p:nvPr/>
              </p:nvSpPr>
              <p:spPr>
                <a:xfrm>
                  <a:off x="14060" y="7468"/>
                  <a:ext cx="1178" cy="580"/>
                </a:xfrm>
                <a:prstGeom prst="rect">
                  <a:avLst/>
                </a:prstGeom>
                <a:blipFill rotWithShape="1">
                  <a:blip r:embed="rId30"/>
                </a:blipFill>
              </p:spPr>
              <p:txBody>
                <a:bodyPr/>
                <a:lstStyle/>
                <a:p>
                  <a:r>
                    <a:rPr lang="zh-CN" altLang="en-US">
                      <a:noFill/>
                    </a:rPr>
                    <a:t> </a:t>
                  </a:r>
                </a:p>
              </p:txBody>
            </p:sp>
          </mc:Fallback>
        </mc:AlternateContent>
      </p:grpSp>
      <p:grpSp>
        <p:nvGrpSpPr>
          <p:cNvPr id="160" name="组合 159"/>
          <p:cNvGrpSpPr/>
          <p:nvPr/>
        </p:nvGrpSpPr>
        <p:grpSpPr>
          <a:xfrm>
            <a:off x="9151198" y="4269105"/>
            <a:ext cx="1248109" cy="612140"/>
            <a:chOff x="14406" y="6528"/>
            <a:chExt cx="1651" cy="964"/>
          </a:xfrm>
        </p:grpSpPr>
        <p:cxnSp>
          <p:nvCxnSpPr>
            <p:cNvPr id="105" name="直接箭头连接符 104"/>
            <p:cNvCxnSpPr/>
            <p:nvPr/>
          </p:nvCxnSpPr>
          <p:spPr>
            <a:xfrm>
              <a:off x="14413" y="6528"/>
              <a:ext cx="0" cy="964"/>
            </a:xfrm>
            <a:prstGeom prst="straightConnector1">
              <a:avLst/>
            </a:prstGeom>
            <a:ln w="38100">
              <a:solidFill>
                <a:schemeClr val="tx1">
                  <a:lumMod val="50000"/>
                  <a:lumOff val="50000"/>
                </a:schemeClr>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sp>
          <p:nvSpPr>
            <p:cNvPr id="150" name="文本框 149"/>
            <p:cNvSpPr txBox="1"/>
            <p:nvPr/>
          </p:nvSpPr>
          <p:spPr>
            <a:xfrm>
              <a:off x="14406" y="6657"/>
              <a:ext cx="1651" cy="725"/>
            </a:xfrm>
            <a:prstGeom prst="rect">
              <a:avLst/>
            </a:prstGeom>
            <a:noFill/>
          </p:spPr>
          <p:txBody>
            <a:bodyPr wrap="square" rtlCol="0">
              <a:spAutoFit/>
            </a:bodyPr>
            <a:lstStyle/>
            <a:p>
              <a:pPr indent="0" algn="ctr" fontAlgn="auto">
                <a:lnSpc>
                  <a:spcPts val="1440"/>
                </a:lnSpc>
              </a:pPr>
              <a:r>
                <a:rPr lang="en-US" altLang="zh-CN" sz="1400">
                  <a:sym typeface="+mn-ea"/>
                </a:rPr>
                <a:t>global coordination </a:t>
              </a:r>
              <a:endParaRPr lang="en-US" altLang="zh-CN" sz="1400">
                <a:sym typeface="+mn-ea"/>
              </a:endParaRPr>
            </a:p>
          </p:txBody>
        </p:sp>
      </p:grpSp>
      <p:grpSp>
        <p:nvGrpSpPr>
          <p:cNvPr id="163" name="组合 162"/>
          <p:cNvGrpSpPr/>
          <p:nvPr/>
        </p:nvGrpSpPr>
        <p:grpSpPr>
          <a:xfrm>
            <a:off x="4646295" y="2471420"/>
            <a:ext cx="2701290" cy="2369820"/>
            <a:chOff x="7632" y="3866"/>
            <a:chExt cx="3950" cy="3466"/>
          </a:xfrm>
        </p:grpSpPr>
        <p:cxnSp>
          <p:nvCxnSpPr>
            <p:cNvPr id="54" name="直接连接符 53"/>
            <p:cNvCxnSpPr>
              <a:stCxn id="48" idx="4"/>
              <a:endCxn id="49" idx="0"/>
            </p:cNvCxnSpPr>
            <p:nvPr/>
          </p:nvCxnSpPr>
          <p:spPr>
            <a:xfrm>
              <a:off x="11239" y="4555"/>
              <a:ext cx="0" cy="2090"/>
            </a:xfrm>
            <a:prstGeom prst="line">
              <a:avLst/>
            </a:prstGeom>
            <a:ln w="9525">
              <a:solidFill>
                <a:schemeClr val="tx1">
                  <a:lumMod val="50000"/>
                  <a:lumOff val="50000"/>
                </a:schemeClr>
              </a:solidFill>
              <a:prstDash val="dashDot"/>
              <a:headEnd type="triangle" w="med" len="med"/>
              <a:tailEnd type="triangle" w="med" len="med"/>
            </a:ln>
          </p:spPr>
          <p:style>
            <a:lnRef idx="2">
              <a:schemeClr val="accent1"/>
            </a:lnRef>
            <a:fillRef idx="0">
              <a:srgbClr val="FFFFFF"/>
            </a:fillRef>
            <a:effectRef idx="0">
              <a:srgbClr val="FFFFFF"/>
            </a:effectRef>
            <a:fontRef idx="minor">
              <a:schemeClr val="tx1"/>
            </a:fontRef>
          </p:style>
        </p:cxnSp>
        <p:grpSp>
          <p:nvGrpSpPr>
            <p:cNvPr id="157" name="组合 156"/>
            <p:cNvGrpSpPr/>
            <p:nvPr/>
          </p:nvGrpSpPr>
          <p:grpSpPr>
            <a:xfrm>
              <a:off x="7632" y="3866"/>
              <a:ext cx="3950" cy="3467"/>
              <a:chOff x="7632" y="3866"/>
              <a:chExt cx="3950" cy="3467"/>
            </a:xfrm>
          </p:grpSpPr>
          <p:sp>
            <p:nvSpPr>
              <p:cNvPr id="46" name="椭圆 45"/>
              <p:cNvSpPr/>
              <p:nvPr/>
            </p:nvSpPr>
            <p:spPr>
              <a:xfrm>
                <a:off x="7632" y="6645"/>
                <a:ext cx="689" cy="68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Georgia" panose="02040502050405020303" charset="0"/>
                    <a:cs typeface="Georgia" panose="02040502050405020303" charset="0"/>
                  </a:rPr>
                  <a:t>B</a:t>
                </a:r>
                <a:endParaRPr lang="en-US" altLang="zh-CN">
                  <a:solidFill>
                    <a:schemeClr val="tx1"/>
                  </a:solidFill>
                  <a:latin typeface="Georgia" panose="02040502050405020303" charset="0"/>
                  <a:cs typeface="Georgia" panose="02040502050405020303" charset="0"/>
                </a:endParaRPr>
              </a:p>
            </p:txBody>
          </p:sp>
          <p:sp>
            <p:nvSpPr>
              <p:cNvPr id="47" name="椭圆 46"/>
              <p:cNvSpPr/>
              <p:nvPr/>
            </p:nvSpPr>
            <p:spPr>
              <a:xfrm>
                <a:off x="7632" y="3866"/>
                <a:ext cx="689" cy="68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Georgia" panose="02040502050405020303" charset="0"/>
                    <a:cs typeface="Georgia" panose="02040502050405020303" charset="0"/>
                  </a:rPr>
                  <a:t>A</a:t>
                </a:r>
                <a:endParaRPr lang="en-US" altLang="zh-CN">
                  <a:solidFill>
                    <a:schemeClr val="tx1"/>
                  </a:solidFill>
                  <a:latin typeface="Georgia" panose="02040502050405020303" charset="0"/>
                  <a:cs typeface="Georgia" panose="02040502050405020303" charset="0"/>
                </a:endParaRPr>
              </a:p>
            </p:txBody>
          </p:sp>
          <p:sp>
            <p:nvSpPr>
              <p:cNvPr id="48" name="椭圆 47"/>
              <p:cNvSpPr/>
              <p:nvPr/>
            </p:nvSpPr>
            <p:spPr>
              <a:xfrm>
                <a:off x="10894" y="3866"/>
                <a:ext cx="689" cy="68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Georgia" panose="02040502050405020303" charset="0"/>
                    <a:cs typeface="Georgia" panose="02040502050405020303" charset="0"/>
                  </a:rPr>
                  <a:t>C</a:t>
                </a:r>
                <a:endParaRPr lang="en-US" altLang="zh-CN">
                  <a:solidFill>
                    <a:schemeClr val="tx1"/>
                  </a:solidFill>
                  <a:latin typeface="Georgia" panose="02040502050405020303" charset="0"/>
                  <a:cs typeface="Georgia" panose="02040502050405020303" charset="0"/>
                </a:endParaRPr>
              </a:p>
            </p:txBody>
          </p:sp>
          <p:sp>
            <p:nvSpPr>
              <p:cNvPr id="49" name="椭圆 48"/>
              <p:cNvSpPr/>
              <p:nvPr/>
            </p:nvSpPr>
            <p:spPr>
              <a:xfrm>
                <a:off x="10894" y="6645"/>
                <a:ext cx="689" cy="68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Georgia" panose="02040502050405020303" charset="0"/>
                    <a:cs typeface="Georgia" panose="02040502050405020303" charset="0"/>
                  </a:rPr>
                  <a:t>D</a:t>
                </a:r>
                <a:endParaRPr lang="en-US" altLang="zh-CN">
                  <a:solidFill>
                    <a:schemeClr val="tx1"/>
                  </a:solidFill>
                  <a:latin typeface="Georgia" panose="02040502050405020303" charset="0"/>
                  <a:cs typeface="Georgia" panose="02040502050405020303" charset="0"/>
                </a:endParaRPr>
              </a:p>
            </p:txBody>
          </p:sp>
          <p:cxnSp>
            <p:nvCxnSpPr>
              <p:cNvPr id="51" name="直接连接符 50"/>
              <p:cNvCxnSpPr>
                <a:stCxn id="47" idx="6"/>
                <a:endCxn id="48" idx="2"/>
              </p:cNvCxnSpPr>
              <p:nvPr/>
            </p:nvCxnSpPr>
            <p:spPr>
              <a:xfrm>
                <a:off x="8321" y="4211"/>
                <a:ext cx="2573" cy="0"/>
              </a:xfrm>
              <a:prstGeom prst="line">
                <a:avLst/>
              </a:prstGeom>
              <a:ln w="9525">
                <a:solidFill>
                  <a:schemeClr val="tx1">
                    <a:lumMod val="50000"/>
                    <a:lumOff val="50000"/>
                  </a:schemeClr>
                </a:solidFill>
                <a:prstDash val="dashDot"/>
                <a:headEnd type="triangl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52" name="直接连接符 51"/>
              <p:cNvCxnSpPr>
                <a:stCxn id="47" idx="4"/>
                <a:endCxn id="46" idx="0"/>
              </p:cNvCxnSpPr>
              <p:nvPr/>
            </p:nvCxnSpPr>
            <p:spPr>
              <a:xfrm>
                <a:off x="7977" y="4555"/>
                <a:ext cx="0" cy="2090"/>
              </a:xfrm>
              <a:prstGeom prst="line">
                <a:avLst/>
              </a:prstGeom>
              <a:ln w="9525">
                <a:solidFill>
                  <a:schemeClr val="tx1">
                    <a:lumMod val="50000"/>
                    <a:lumOff val="50000"/>
                  </a:schemeClr>
                </a:solidFill>
                <a:prstDash val="dashDot"/>
                <a:headEnd type="triangl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53" name="直接连接符 52"/>
              <p:cNvCxnSpPr>
                <a:stCxn id="46" idx="6"/>
                <a:endCxn id="49" idx="2"/>
              </p:cNvCxnSpPr>
              <p:nvPr/>
            </p:nvCxnSpPr>
            <p:spPr>
              <a:xfrm>
                <a:off x="8321" y="6990"/>
                <a:ext cx="2573" cy="0"/>
              </a:xfrm>
              <a:prstGeom prst="line">
                <a:avLst/>
              </a:prstGeom>
              <a:ln w="9525">
                <a:solidFill>
                  <a:schemeClr val="tx1">
                    <a:lumMod val="50000"/>
                    <a:lumOff val="50000"/>
                  </a:schemeClr>
                </a:solidFill>
                <a:prstDash val="dashDot"/>
                <a:headEnd type="triangl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55" name="直接连接符 54"/>
              <p:cNvCxnSpPr>
                <a:stCxn id="48" idx="3"/>
                <a:endCxn id="46" idx="7"/>
              </p:cNvCxnSpPr>
              <p:nvPr/>
            </p:nvCxnSpPr>
            <p:spPr>
              <a:xfrm flipH="1">
                <a:off x="8220" y="4454"/>
                <a:ext cx="2775" cy="2292"/>
              </a:xfrm>
              <a:prstGeom prst="line">
                <a:avLst/>
              </a:prstGeom>
              <a:ln w="9525">
                <a:solidFill>
                  <a:schemeClr val="tx1">
                    <a:lumMod val="50000"/>
                    <a:lumOff val="50000"/>
                  </a:schemeClr>
                </a:solidFill>
                <a:prstDash val="dashDot"/>
                <a:headEnd type="triangl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56" name="直接连接符 55"/>
              <p:cNvCxnSpPr>
                <a:stCxn id="47" idx="5"/>
                <a:endCxn id="49" idx="1"/>
              </p:cNvCxnSpPr>
              <p:nvPr/>
            </p:nvCxnSpPr>
            <p:spPr>
              <a:xfrm>
                <a:off x="8220" y="4454"/>
                <a:ext cx="2775" cy="2292"/>
              </a:xfrm>
              <a:prstGeom prst="line">
                <a:avLst/>
              </a:prstGeom>
              <a:ln w="9525">
                <a:solidFill>
                  <a:schemeClr val="tx1">
                    <a:lumMod val="50000"/>
                    <a:lumOff val="50000"/>
                  </a:schemeClr>
                </a:solidFill>
                <a:prstDash val="dashDot"/>
                <a:headEnd type="triangle" w="med" len="med"/>
                <a:tailEnd type="triangle" w="med" len="med"/>
              </a:ln>
            </p:spPr>
            <p:style>
              <a:lnRef idx="2">
                <a:schemeClr val="accent1"/>
              </a:lnRef>
              <a:fillRef idx="0">
                <a:srgbClr val="FFFFFF"/>
              </a:fillRef>
              <a:effectRef idx="0">
                <a:srgbClr val="FFFFFF"/>
              </a:effectRef>
              <a:fontRef idx="minor">
                <a:schemeClr val="tx1"/>
              </a:fontRef>
            </p:style>
          </p:cxnSp>
        </p:grpSp>
      </p:grpSp>
      <p:grpSp>
        <p:nvGrpSpPr>
          <p:cNvPr id="57" name="组合 56"/>
          <p:cNvGrpSpPr/>
          <p:nvPr/>
        </p:nvGrpSpPr>
        <p:grpSpPr>
          <a:xfrm>
            <a:off x="6879590" y="2242820"/>
            <a:ext cx="483870" cy="161290"/>
            <a:chOff x="10003" y="8434"/>
            <a:chExt cx="708" cy="236"/>
          </a:xfrm>
        </p:grpSpPr>
        <p:sp>
          <p:nvSpPr>
            <p:cNvPr id="100" name="矩形 99"/>
            <p:cNvSpPr/>
            <p:nvPr>
              <p:custDataLst>
                <p:tags r:id="rId31"/>
              </p:custDataLst>
            </p:nvPr>
          </p:nvSpPr>
          <p:spPr>
            <a:xfrm rot="16200000">
              <a:off x="10003"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3" name="矩形 102"/>
            <p:cNvSpPr/>
            <p:nvPr>
              <p:custDataLst>
                <p:tags r:id="rId32"/>
              </p:custDataLst>
            </p:nvPr>
          </p:nvSpPr>
          <p:spPr>
            <a:xfrm rot="16200000">
              <a:off x="10239"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4" name="矩形 103"/>
            <p:cNvSpPr/>
            <p:nvPr>
              <p:custDataLst>
                <p:tags r:id="rId33"/>
              </p:custDataLst>
            </p:nvPr>
          </p:nvSpPr>
          <p:spPr>
            <a:xfrm rot="16200000">
              <a:off x="10475"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58" name="组合 57"/>
          <p:cNvGrpSpPr/>
          <p:nvPr/>
        </p:nvGrpSpPr>
        <p:grpSpPr>
          <a:xfrm>
            <a:off x="6879590" y="4912995"/>
            <a:ext cx="483870" cy="161290"/>
            <a:chOff x="10003" y="8434"/>
            <a:chExt cx="708" cy="236"/>
          </a:xfrm>
        </p:grpSpPr>
        <p:sp>
          <p:nvSpPr>
            <p:cNvPr id="59" name="矩形 58"/>
            <p:cNvSpPr/>
            <p:nvPr>
              <p:custDataLst>
                <p:tags r:id="rId34"/>
              </p:custDataLst>
            </p:nvPr>
          </p:nvSpPr>
          <p:spPr>
            <a:xfrm rot="16200000">
              <a:off x="10003"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0" name="矩形 59"/>
            <p:cNvSpPr/>
            <p:nvPr>
              <p:custDataLst>
                <p:tags r:id="rId35"/>
              </p:custDataLst>
            </p:nvPr>
          </p:nvSpPr>
          <p:spPr>
            <a:xfrm rot="16200000">
              <a:off x="10239"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1" name="矩形 60"/>
            <p:cNvSpPr/>
            <p:nvPr>
              <p:custDataLst>
                <p:tags r:id="rId36"/>
              </p:custDataLst>
            </p:nvPr>
          </p:nvSpPr>
          <p:spPr>
            <a:xfrm rot="16200000">
              <a:off x="10475"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62" name="组合 61"/>
          <p:cNvGrpSpPr/>
          <p:nvPr/>
        </p:nvGrpSpPr>
        <p:grpSpPr>
          <a:xfrm>
            <a:off x="4633595" y="4912995"/>
            <a:ext cx="483870" cy="161290"/>
            <a:chOff x="10003" y="8434"/>
            <a:chExt cx="708" cy="236"/>
          </a:xfrm>
        </p:grpSpPr>
        <p:sp>
          <p:nvSpPr>
            <p:cNvPr id="63" name="矩形 62"/>
            <p:cNvSpPr/>
            <p:nvPr>
              <p:custDataLst>
                <p:tags r:id="rId37"/>
              </p:custDataLst>
            </p:nvPr>
          </p:nvSpPr>
          <p:spPr>
            <a:xfrm rot="16200000">
              <a:off x="10003"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4" name="矩形 63"/>
            <p:cNvSpPr/>
            <p:nvPr>
              <p:custDataLst>
                <p:tags r:id="rId38"/>
              </p:custDataLst>
            </p:nvPr>
          </p:nvSpPr>
          <p:spPr>
            <a:xfrm rot="16200000">
              <a:off x="10239"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5" name="矩形 64"/>
            <p:cNvSpPr/>
            <p:nvPr>
              <p:custDataLst>
                <p:tags r:id="rId39"/>
              </p:custDataLst>
            </p:nvPr>
          </p:nvSpPr>
          <p:spPr>
            <a:xfrm rot="16200000">
              <a:off x="10475"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66" name="组合 65"/>
          <p:cNvGrpSpPr/>
          <p:nvPr/>
        </p:nvGrpSpPr>
        <p:grpSpPr>
          <a:xfrm>
            <a:off x="4633595" y="2242820"/>
            <a:ext cx="483870" cy="161290"/>
            <a:chOff x="10003" y="8434"/>
            <a:chExt cx="708" cy="236"/>
          </a:xfrm>
        </p:grpSpPr>
        <p:sp>
          <p:nvSpPr>
            <p:cNvPr id="67" name="矩形 66"/>
            <p:cNvSpPr/>
            <p:nvPr>
              <p:custDataLst>
                <p:tags r:id="rId40"/>
              </p:custDataLst>
            </p:nvPr>
          </p:nvSpPr>
          <p:spPr>
            <a:xfrm rot="16200000">
              <a:off x="10003" y="8434"/>
              <a:ext cx="236" cy="236"/>
            </a:xfrm>
            <a:prstGeom prst="rect">
              <a:avLst/>
            </a:prstGeom>
            <a:solidFill>
              <a:schemeClr val="accent1">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8" name="矩形 67"/>
            <p:cNvSpPr/>
            <p:nvPr>
              <p:custDataLst>
                <p:tags r:id="rId41"/>
              </p:custDataLst>
            </p:nvPr>
          </p:nvSpPr>
          <p:spPr>
            <a:xfrm rot="16200000">
              <a:off x="10239" y="8434"/>
              <a:ext cx="236" cy="236"/>
            </a:xfrm>
            <a:prstGeom prst="rect">
              <a:avLst/>
            </a:prstGeom>
            <a:solidFill>
              <a:schemeClr val="accent1">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9" name="矩形 68"/>
            <p:cNvSpPr/>
            <p:nvPr>
              <p:custDataLst>
                <p:tags r:id="rId42"/>
              </p:custDataLst>
            </p:nvPr>
          </p:nvSpPr>
          <p:spPr>
            <a:xfrm rot="16200000">
              <a:off x="10475" y="8434"/>
              <a:ext cx="236" cy="236"/>
            </a:xfrm>
            <a:prstGeom prst="rect">
              <a:avLst/>
            </a:prstGeom>
            <a:solidFill>
              <a:schemeClr val="accent1">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75" name="组合 74"/>
          <p:cNvGrpSpPr/>
          <p:nvPr/>
        </p:nvGrpSpPr>
        <p:grpSpPr>
          <a:xfrm>
            <a:off x="7280275" y="3253740"/>
            <a:ext cx="161290" cy="645160"/>
            <a:chOff x="14673" y="4928"/>
            <a:chExt cx="236" cy="944"/>
          </a:xfrm>
        </p:grpSpPr>
        <p:sp>
          <p:nvSpPr>
            <p:cNvPr id="71" name="矩形 70"/>
            <p:cNvSpPr/>
            <p:nvPr>
              <p:custDataLst>
                <p:tags r:id="rId43"/>
              </p:custDataLst>
            </p:nvPr>
          </p:nvSpPr>
          <p:spPr>
            <a:xfrm>
              <a:off x="14673" y="4928"/>
              <a:ext cx="236" cy="236"/>
            </a:xfrm>
            <a:prstGeom prst="rect">
              <a:avLst/>
            </a:prstGeom>
            <a:solidFill>
              <a:schemeClr val="accent3">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2" name="矩形 71"/>
            <p:cNvSpPr/>
            <p:nvPr>
              <p:custDataLst>
                <p:tags r:id="rId44"/>
              </p:custDataLst>
            </p:nvPr>
          </p:nvSpPr>
          <p:spPr>
            <a:xfrm>
              <a:off x="14673" y="5164"/>
              <a:ext cx="236" cy="236"/>
            </a:xfrm>
            <a:prstGeom prst="rect">
              <a:avLst/>
            </a:prstGeom>
            <a:solidFill>
              <a:schemeClr val="accent3">
                <a:lumMod val="20000"/>
                <a:lumOff val="8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 name="矩形 72"/>
            <p:cNvSpPr/>
            <p:nvPr>
              <p:custDataLst>
                <p:tags r:id="rId45"/>
              </p:custDataLst>
            </p:nvPr>
          </p:nvSpPr>
          <p:spPr>
            <a:xfrm>
              <a:off x="14673" y="5400"/>
              <a:ext cx="236" cy="236"/>
            </a:xfrm>
            <a:prstGeom prst="rect">
              <a:avLst/>
            </a:prstGeom>
            <a:solidFill>
              <a:schemeClr val="accent3">
                <a:lumMod val="40000"/>
                <a:lumOff val="6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4" name="矩形 73"/>
            <p:cNvSpPr/>
            <p:nvPr>
              <p:custDataLst>
                <p:tags r:id="rId46"/>
              </p:custDataLst>
            </p:nvPr>
          </p:nvSpPr>
          <p:spPr>
            <a:xfrm rot="21600000">
              <a:off x="14673" y="5636"/>
              <a:ext cx="236" cy="236"/>
            </a:xfrm>
            <a:prstGeom prst="rect">
              <a:avLst/>
            </a:prstGeom>
            <a:solidFill>
              <a:schemeClr val="accent3">
                <a:lumMod val="60000"/>
                <a:lumOff val="40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56" name="组合 155"/>
          <p:cNvGrpSpPr/>
          <p:nvPr/>
        </p:nvGrpSpPr>
        <p:grpSpPr>
          <a:xfrm>
            <a:off x="5041265" y="2713355"/>
            <a:ext cx="1896745" cy="1743710"/>
            <a:chOff x="8220" y="4196"/>
            <a:chExt cx="2774" cy="2550"/>
          </a:xfrm>
        </p:grpSpPr>
        <p:cxnSp>
          <p:nvCxnSpPr>
            <p:cNvPr id="151" name="直接箭头连接符 150"/>
            <p:cNvCxnSpPr/>
            <p:nvPr/>
          </p:nvCxnSpPr>
          <p:spPr>
            <a:xfrm flipH="1">
              <a:off x="8332" y="4196"/>
              <a:ext cx="2551" cy="0"/>
            </a:xfrm>
            <a:prstGeom prst="straightConnector1">
              <a:avLst/>
            </a:prstGeom>
            <a:ln w="57150">
              <a:solidFill>
                <a:srgbClr val="C00000"/>
              </a:solidFill>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152" name="直接箭头连接符 151"/>
            <p:cNvCxnSpPr/>
            <p:nvPr/>
          </p:nvCxnSpPr>
          <p:spPr>
            <a:xfrm>
              <a:off x="8220" y="4429"/>
              <a:ext cx="2752" cy="2302"/>
            </a:xfrm>
            <a:prstGeom prst="straightConnector1">
              <a:avLst/>
            </a:prstGeom>
            <a:ln w="57150">
              <a:solidFill>
                <a:srgbClr val="C00000"/>
              </a:solidFill>
              <a:headEnd type="triangle" w="med" len="med"/>
              <a:tailEnd type="none"/>
            </a:ln>
          </p:spPr>
          <p:style>
            <a:lnRef idx="2">
              <a:schemeClr val="accent1"/>
            </a:lnRef>
            <a:fillRef idx="0">
              <a:srgbClr val="FFFFFF"/>
            </a:fillRef>
            <a:effectRef idx="0">
              <a:srgbClr val="FFFFFF"/>
            </a:effectRef>
            <a:fontRef idx="minor">
              <a:schemeClr val="tx1"/>
            </a:fontRef>
          </p:style>
        </p:cxnSp>
        <p:cxnSp>
          <p:nvCxnSpPr>
            <p:cNvPr id="153" name="直接箭头连接符 152"/>
            <p:cNvCxnSpPr>
              <a:endCxn id="46" idx="7"/>
            </p:cNvCxnSpPr>
            <p:nvPr/>
          </p:nvCxnSpPr>
          <p:spPr>
            <a:xfrm flipH="1">
              <a:off x="8220" y="4454"/>
              <a:ext cx="2775" cy="2292"/>
            </a:xfrm>
            <a:prstGeom prst="straightConnector1">
              <a:avLst/>
            </a:prstGeom>
            <a:ln w="57150">
              <a:solidFill>
                <a:srgbClr val="C00000"/>
              </a:solidFill>
              <a:headEnd type="none" w="med" len="med"/>
              <a:tailEnd type="triangle" w="med" len="med"/>
            </a:ln>
          </p:spPr>
          <p:style>
            <a:lnRef idx="2">
              <a:schemeClr val="accent1"/>
            </a:lnRef>
            <a:fillRef idx="0">
              <a:srgbClr val="FFFFFF"/>
            </a:fillRef>
            <a:effectRef idx="0">
              <a:srgbClr val="FFFFFF"/>
            </a:effectRef>
            <a:fontRef idx="minor">
              <a:schemeClr val="tx1"/>
            </a:fontRef>
          </p:style>
        </p:cxnSp>
      </p:grpSp>
      <mc:AlternateContent xmlns:mc="http://schemas.openxmlformats.org/markup-compatibility/2006">
        <mc:Choice xmlns:a14="http://schemas.microsoft.com/office/drawing/2010/main" Requires="a14">
          <p:sp>
            <p:nvSpPr>
              <p:cNvPr id="162" name="文本框 161"/>
              <p:cNvSpPr txBox="1"/>
              <p:nvPr/>
            </p:nvSpPr>
            <p:spPr>
              <a:xfrm>
                <a:off x="5652135" y="4111625"/>
                <a:ext cx="677545" cy="46037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sz="2400" b="1" i="1">
                              <a:solidFill>
                                <a:srgbClr val="C00000"/>
                              </a:solidFill>
                              <a:latin typeface="Cambria Math" panose="02040503050406030204" charset="0"/>
                              <a:cs typeface="Cambria Math" panose="02040503050406030204" charset="0"/>
                            </a:rPr>
                          </m:ctrlPr>
                        </m:sSubPr>
                        <m:e>
                          <m:r>
                            <a:rPr lang="en-US" altLang="zh-CN" sz="2400" b="1" i="1">
                              <a:solidFill>
                                <a:srgbClr val="C00000"/>
                              </a:solidFill>
                              <a:latin typeface="Cambria Math" panose="02040503050406030204" charset="0"/>
                              <a:cs typeface="Cambria Math" panose="02040503050406030204" charset="0"/>
                            </a:rPr>
                            <m:t>𝑮</m:t>
                          </m:r>
                        </m:e>
                        <m:sub>
                          <m:r>
                            <a:rPr lang="en-US" altLang="zh-CN" sz="2400" b="1" i="1">
                              <a:solidFill>
                                <a:srgbClr val="C00000"/>
                              </a:solidFill>
                              <a:latin typeface="Cambria Math" panose="02040503050406030204" charset="0"/>
                              <a:cs typeface="Cambria Math" panose="02040503050406030204" charset="0"/>
                            </a:rPr>
                            <m:t>𝒕</m:t>
                          </m:r>
                        </m:sub>
                      </m:sSub>
                    </m:oMath>
                  </m:oMathPara>
                </a14:m>
                <a:endParaRPr lang="en-US" altLang="zh-CN" sz="2400" b="1" i="1">
                  <a:solidFill>
                    <a:srgbClr val="C00000"/>
                  </a:solidFill>
                  <a:latin typeface="Cambria Math" panose="02040503050406030204" charset="0"/>
                  <a:cs typeface="Cambria Math" panose="02040503050406030204" charset="0"/>
                </a:endParaRPr>
              </a:p>
            </p:txBody>
          </p:sp>
        </mc:Choice>
        <mc:Fallback>
          <p:sp>
            <p:nvSpPr>
              <p:cNvPr id="162" name="文本框 161"/>
              <p:cNvSpPr txBox="1">
                <a:spLocks noRot="1" noChangeAspect="1" noMove="1" noResize="1" noEditPoints="1" noAdjustHandles="1" noChangeArrowheads="1" noChangeShapeType="1" noTextEdit="1"/>
              </p:cNvSpPr>
              <p:nvPr/>
            </p:nvSpPr>
            <p:spPr>
              <a:xfrm>
                <a:off x="5652135" y="4111625"/>
                <a:ext cx="677545" cy="460375"/>
              </a:xfrm>
              <a:prstGeom prst="rect">
                <a:avLst/>
              </a:prstGeom>
              <a:blipFill rotWithShape="1">
                <a:blip r:embed="rId47"/>
                <a:stretch>
                  <a:fillRect/>
                </a:stretch>
              </a:blipFill>
            </p:spPr>
            <p:txBody>
              <a:bodyPr/>
              <a:lstStyle/>
              <a:p>
                <a:r>
                  <a:rPr lang="zh-CN" altLang="en-US">
                    <a:noFill/>
                  </a:rPr>
                  <a:t> </a:t>
                </a:r>
              </a:p>
            </p:txBody>
          </p:sp>
        </mc:Fallback>
      </mc:AlternateContent>
      <p:sp>
        <p:nvSpPr>
          <p:cNvPr id="15" name="文本框 14"/>
          <p:cNvSpPr txBox="1"/>
          <p:nvPr/>
        </p:nvSpPr>
        <p:spPr>
          <a:xfrm>
            <a:off x="1119505" y="218440"/>
            <a:ext cx="5674995" cy="583565"/>
          </a:xfrm>
          <a:prstGeom prst="rect">
            <a:avLst/>
          </a:prstGeom>
          <a:noFill/>
        </p:spPr>
        <p:txBody>
          <a:bodyPr wrap="square" rtlCol="0">
            <a:spAutoFit/>
          </a:bodyPr>
          <a:lstStyle/>
          <a:p>
            <a:r>
              <a:rPr lang="en-US" altLang="zh-CN" sz="3200" b="1" dirty="0">
                <a:latin typeface="+mj-lt"/>
              </a:rPr>
              <a:t>Overview of Our Solution</a:t>
            </a:r>
            <a:endParaRPr lang="en-US" altLang="zh-CN" sz="3200" b="1" dirty="0">
              <a:latin typeface="+mj-lt"/>
            </a:endParaRPr>
          </a:p>
        </p:txBody>
      </p:sp>
      <mc:AlternateContent xmlns:mc="http://schemas.openxmlformats.org/markup-compatibility/2006">
        <mc:Choice xmlns:a14="http://schemas.microsoft.com/office/drawing/2010/main" Requires="a14">
          <p:sp>
            <p:nvSpPr>
              <p:cNvPr id="6" name="文本框 5"/>
              <p:cNvSpPr txBox="1"/>
              <p:nvPr/>
            </p:nvSpPr>
            <p:spPr>
              <a:xfrm>
                <a:off x="5521325" y="2245995"/>
                <a:ext cx="937260" cy="42164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Sup>
                        <m:sSubSupPr>
                          <m:ctrlPr>
                            <a:rPr lang="en-US" altLang="zh-CN" i="1">
                              <a:solidFill>
                                <a:srgbClr val="C00000"/>
                              </a:solidFill>
                              <a:latin typeface="Cambria Math" panose="02040503050406030204" charset="0"/>
                              <a:cs typeface="Cambria Math" panose="02040503050406030204" charset="0"/>
                            </a:rPr>
                          </m:ctrlPr>
                        </m:sSubSupPr>
                        <m:e>
                          <m:r>
                            <a:rPr lang="en-US" altLang="zh-CN" i="1">
                              <a:solidFill>
                                <a:srgbClr val="C00000"/>
                              </a:solidFill>
                              <a:latin typeface="Cambria Math" panose="02040503050406030204" charset="0"/>
                              <a:cs typeface="Cambria Math" panose="02040503050406030204" charset="0"/>
                            </a:rPr>
                            <m:t>𝑧</m:t>
                          </m:r>
                        </m:e>
                        <m:sub>
                          <m:r>
                            <a:rPr lang="en-US" altLang="zh-CN" i="1">
                              <a:solidFill>
                                <a:srgbClr val="C00000"/>
                              </a:solidFill>
                              <a:latin typeface="Cambria Math" panose="02040503050406030204" charset="0"/>
                              <a:cs typeface="Cambria Math" panose="02040503050406030204" charset="0"/>
                            </a:rPr>
                            <m:t>𝑡</m:t>
                          </m:r>
                        </m:sub>
                        <m:sup>
                          <m:r>
                            <a:rPr lang="en-US" altLang="zh-CN" i="1">
                              <a:solidFill>
                                <a:srgbClr val="C00000"/>
                              </a:solidFill>
                              <a:latin typeface="Cambria Math" panose="02040503050406030204" charset="0"/>
                              <a:cs typeface="Cambria Math" panose="02040503050406030204" charset="0"/>
                            </a:rPr>
                            <m:t>𝑖𝑗</m:t>
                          </m:r>
                        </m:sup>
                      </m:sSubSup>
                      <m:r>
                        <a:rPr lang="en-US" altLang="zh-CN" i="1">
                          <a:solidFill>
                            <a:srgbClr val="C00000"/>
                          </a:solidFill>
                          <a:latin typeface="Cambria Math" panose="02040503050406030204" charset="0"/>
                          <a:cs typeface="Cambria Math" panose="02040503050406030204" charset="0"/>
                        </a:rPr>
                        <m:t>≥</m:t>
                      </m:r>
                      <m:r>
                        <a:rPr lang="en-US" altLang="zh-CN" i="1">
                          <a:solidFill>
                            <a:srgbClr val="C00000"/>
                          </a:solidFill>
                          <a:latin typeface="Cambria Math" panose="02040503050406030204" charset="0"/>
                          <a:cs typeface="Cambria Math" panose="02040503050406030204" charset="0"/>
                        </a:rPr>
                        <m:t>0</m:t>
                      </m:r>
                    </m:oMath>
                  </m:oMathPara>
                </a14:m>
                <a:endParaRPr lang="en-US" altLang="zh-CN" i="1">
                  <a:solidFill>
                    <a:srgbClr val="C00000"/>
                  </a:solidFill>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521325" y="2245995"/>
                <a:ext cx="937260" cy="421640"/>
              </a:xfrm>
              <a:prstGeom prst="rect">
                <a:avLst/>
              </a:prstGeom>
              <a:blipFill rotWithShape="1">
                <a:blip r:embed="rId4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5521325" y="4607560"/>
                <a:ext cx="937260" cy="42164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Sup>
                        <m:sSubSupPr>
                          <m:ctrlPr>
                            <a:rPr lang="en-US" altLang="zh-CN" i="1">
                              <a:solidFill>
                                <a:schemeClr val="bg1">
                                  <a:lumMod val="50000"/>
                                </a:schemeClr>
                              </a:solidFill>
                              <a:latin typeface="Cambria Math" panose="02040503050406030204" charset="0"/>
                              <a:cs typeface="Cambria Math" panose="02040503050406030204" charset="0"/>
                            </a:rPr>
                          </m:ctrlPr>
                        </m:sSubSupPr>
                        <m:e>
                          <m:r>
                            <a:rPr lang="en-US" altLang="zh-CN" i="1">
                              <a:solidFill>
                                <a:schemeClr val="bg1">
                                  <a:lumMod val="50000"/>
                                </a:schemeClr>
                              </a:solidFill>
                              <a:latin typeface="Cambria Math" panose="02040503050406030204" charset="0"/>
                              <a:cs typeface="Cambria Math" panose="02040503050406030204" charset="0"/>
                            </a:rPr>
                            <m:t>𝑧</m:t>
                          </m:r>
                        </m:e>
                        <m:sub>
                          <m:r>
                            <a:rPr lang="en-US" altLang="zh-CN" i="1">
                              <a:solidFill>
                                <a:schemeClr val="bg1">
                                  <a:lumMod val="50000"/>
                                </a:schemeClr>
                              </a:solidFill>
                              <a:latin typeface="Cambria Math" panose="02040503050406030204" charset="0"/>
                              <a:cs typeface="Cambria Math" panose="02040503050406030204" charset="0"/>
                            </a:rPr>
                            <m:t>𝑡</m:t>
                          </m:r>
                        </m:sub>
                        <m:sup>
                          <m:r>
                            <a:rPr lang="en-US" altLang="zh-CN" i="1">
                              <a:solidFill>
                                <a:schemeClr val="bg1">
                                  <a:lumMod val="50000"/>
                                </a:schemeClr>
                              </a:solidFill>
                              <a:latin typeface="Cambria Math" panose="02040503050406030204" charset="0"/>
                              <a:cs typeface="Cambria Math" panose="02040503050406030204" charset="0"/>
                            </a:rPr>
                            <m:t>𝑖𝑗</m:t>
                          </m:r>
                        </m:sup>
                      </m:sSubSup>
                      <m:r>
                        <a:rPr lang="en-US" altLang="zh-CN" i="1">
                          <a:solidFill>
                            <a:schemeClr val="bg1">
                              <a:lumMod val="50000"/>
                            </a:schemeClr>
                          </a:solidFill>
                          <a:latin typeface="Cambria Math" panose="02040503050406030204" charset="0"/>
                          <a:cs typeface="Cambria Math" panose="02040503050406030204" charset="0"/>
                        </a:rPr>
                        <m:t>=</m:t>
                      </m:r>
                      <m:r>
                        <a:rPr lang="en-US" altLang="zh-CN" i="1">
                          <a:solidFill>
                            <a:schemeClr val="bg1">
                              <a:lumMod val="50000"/>
                            </a:schemeClr>
                          </a:solidFill>
                          <a:latin typeface="Cambria Math" panose="02040503050406030204" charset="0"/>
                          <a:cs typeface="Cambria Math" panose="02040503050406030204" charset="0"/>
                        </a:rPr>
                        <m:t>0</m:t>
                      </m:r>
                    </m:oMath>
                  </m:oMathPara>
                </a14:m>
                <a:endParaRPr lang="en-US" altLang="zh-CN" i="1">
                  <a:solidFill>
                    <a:schemeClr val="bg1">
                      <a:lumMod val="50000"/>
                    </a:schemeClr>
                  </a:solidFill>
                  <a:latin typeface="Cambria Math" panose="02040503050406030204" charset="0"/>
                  <a:cs typeface="Cambria Math" panose="02040503050406030204" charset="0"/>
                </a:endParaRPr>
              </a:p>
            </p:txBody>
          </p:sp>
        </mc:Choice>
        <mc:Fallback>
          <p:sp>
            <p:nvSpPr>
              <p:cNvPr id="17" name="文本框 16"/>
              <p:cNvSpPr txBox="1">
                <a:spLocks noRot="1" noChangeAspect="1" noMove="1" noResize="1" noEditPoints="1" noAdjustHandles="1" noChangeArrowheads="1" noChangeShapeType="1" noTextEdit="1"/>
              </p:cNvSpPr>
              <p:nvPr/>
            </p:nvSpPr>
            <p:spPr>
              <a:xfrm>
                <a:off x="5521325" y="4607560"/>
                <a:ext cx="937260" cy="421640"/>
              </a:xfrm>
              <a:prstGeom prst="rect">
                <a:avLst/>
              </a:prstGeom>
              <a:blipFill rotWithShape="1">
                <a:blip r:embed="rId49"/>
                <a:stretch>
                  <a:fillRect/>
                </a:stretch>
              </a:blipFill>
            </p:spPr>
            <p:txBody>
              <a:bodyPr/>
              <a:lstStyle/>
              <a:p>
                <a:r>
                  <a:rPr lang="zh-CN" altLang="en-US">
                    <a:noFill/>
                  </a:rPr>
                  <a:t> </a:t>
                </a:r>
              </a:p>
            </p:txBody>
          </p:sp>
        </mc:Fallback>
      </mc:AlternateContent>
      <p:sp>
        <p:nvSpPr>
          <p:cNvPr id="20" name="文本框 19"/>
          <p:cNvSpPr txBox="1"/>
          <p:nvPr/>
        </p:nvSpPr>
        <p:spPr>
          <a:xfrm>
            <a:off x="4119245" y="5636260"/>
            <a:ext cx="3682365" cy="681355"/>
          </a:xfrm>
          <a:prstGeom prst="rect">
            <a:avLst/>
          </a:prstGeom>
          <a:noFill/>
        </p:spPr>
        <p:txBody>
          <a:bodyPr wrap="square" rtlCol="0">
            <a:spAutoFit/>
          </a:bodyPr>
          <a:lstStyle/>
          <a:p>
            <a:pPr marL="285750" indent="-285750" algn="ctr" fontAlgn="auto">
              <a:lnSpc>
                <a:spcPct val="120000"/>
              </a:lnSpc>
              <a:buFont typeface="Wingdings" panose="05000000000000000000" charset="0"/>
              <a:buChar char="ü"/>
            </a:pPr>
            <a:r>
              <a:rPr lang="en-US" altLang="zh-CN" sz="1600" b="1">
                <a:solidFill>
                  <a:schemeClr val="accent6">
                    <a:lumMod val="75000"/>
                  </a:schemeClr>
                </a:solidFill>
                <a:latin typeface="Georgia" panose="02040502050405020303" charset="0"/>
                <a:cs typeface="Georgia" panose="02040502050405020303" charset="0"/>
              </a:rPr>
              <a:t>node</a:t>
            </a:r>
            <a:r>
              <a:rPr lang="en-US" altLang="zh-CN" sz="1600">
                <a:solidFill>
                  <a:schemeClr val="accent6">
                    <a:lumMod val="75000"/>
                  </a:schemeClr>
                </a:solidFill>
                <a:latin typeface="Georgia" panose="02040502050405020303" charset="0"/>
                <a:cs typeface="Georgia" panose="02040502050405020303" charset="0"/>
              </a:rPr>
              <a:t>: the retailer</a:t>
            </a:r>
            <a:endParaRPr lang="en-US" altLang="zh-CN" sz="1600">
              <a:solidFill>
                <a:schemeClr val="accent6">
                  <a:lumMod val="75000"/>
                </a:schemeClr>
              </a:solidFill>
              <a:latin typeface="Georgia" panose="02040502050405020303" charset="0"/>
              <a:cs typeface="Georgia" panose="02040502050405020303" charset="0"/>
            </a:endParaRPr>
          </a:p>
          <a:p>
            <a:pPr marL="285750" indent="-285750" algn="ctr" fontAlgn="auto">
              <a:lnSpc>
                <a:spcPct val="120000"/>
              </a:lnSpc>
              <a:buFont typeface="Wingdings" panose="05000000000000000000" charset="0"/>
              <a:buChar char="ü"/>
            </a:pPr>
            <a:r>
              <a:rPr lang="en-US" altLang="zh-CN" sz="1600" b="1">
                <a:solidFill>
                  <a:schemeClr val="accent6">
                    <a:lumMod val="75000"/>
                  </a:schemeClr>
                </a:solidFill>
                <a:latin typeface="Georgia" panose="02040502050405020303" charset="0"/>
                <a:cs typeface="Georgia" panose="02040502050405020303" charset="0"/>
              </a:rPr>
              <a:t>edge</a:t>
            </a:r>
            <a:r>
              <a:rPr lang="en-US" altLang="zh-CN" sz="1600">
                <a:solidFill>
                  <a:schemeClr val="accent6">
                    <a:lumMod val="75000"/>
                  </a:schemeClr>
                </a:solidFill>
                <a:latin typeface="Georgia" panose="02040502050405020303" charset="0"/>
                <a:cs typeface="Georgia" panose="02040502050405020303" charset="0"/>
              </a:rPr>
              <a:t>: any possible transshipment</a:t>
            </a:r>
            <a:endParaRPr lang="en-US" altLang="zh-CN" sz="1600">
              <a:solidFill>
                <a:schemeClr val="accent6">
                  <a:lumMod val="75000"/>
                </a:schemeClr>
              </a:solidFill>
              <a:latin typeface="Georgia" panose="02040502050405020303" charset="0"/>
              <a:cs typeface="Georgia" panose="02040502050405020303" charset="0"/>
            </a:endParaRPr>
          </a:p>
        </p:txBody>
      </p:sp>
      <p:sp>
        <p:nvSpPr>
          <p:cNvPr id="21" name="文本框 20"/>
          <p:cNvSpPr txBox="1"/>
          <p:nvPr/>
        </p:nvSpPr>
        <p:spPr>
          <a:xfrm>
            <a:off x="4284980" y="1964690"/>
            <a:ext cx="1236345" cy="275590"/>
          </a:xfrm>
          <a:prstGeom prst="rect">
            <a:avLst/>
          </a:prstGeom>
          <a:noFill/>
        </p:spPr>
        <p:txBody>
          <a:bodyPr wrap="square" rtlCol="0">
            <a:spAutoFit/>
          </a:bodyPr>
          <a:lstStyle/>
          <a:p>
            <a:pPr algn="ctr"/>
            <a:r>
              <a:rPr lang="en-US" altLang="zh-CN" sz="1200">
                <a:solidFill>
                  <a:srgbClr val="0070C0"/>
                </a:solidFill>
              </a:rPr>
              <a:t>node feature</a:t>
            </a:r>
            <a:endParaRPr lang="en-US" altLang="zh-CN" sz="1200">
              <a:solidFill>
                <a:srgbClr val="0070C0"/>
              </a:solidFill>
            </a:endParaRPr>
          </a:p>
        </p:txBody>
      </p:sp>
      <p:sp>
        <p:nvSpPr>
          <p:cNvPr id="22" name="文本框 21"/>
          <p:cNvSpPr txBox="1"/>
          <p:nvPr/>
        </p:nvSpPr>
        <p:spPr>
          <a:xfrm>
            <a:off x="6541135" y="3364865"/>
            <a:ext cx="789940" cy="460375"/>
          </a:xfrm>
          <a:prstGeom prst="rect">
            <a:avLst/>
          </a:prstGeom>
          <a:noFill/>
        </p:spPr>
        <p:txBody>
          <a:bodyPr wrap="square" rtlCol="0">
            <a:spAutoFit/>
          </a:bodyPr>
          <a:lstStyle/>
          <a:p>
            <a:pPr algn="ctr"/>
            <a:r>
              <a:rPr lang="en-US" altLang="zh-CN" sz="1200">
                <a:solidFill>
                  <a:schemeClr val="accent3">
                    <a:lumMod val="75000"/>
                  </a:schemeClr>
                </a:solidFill>
              </a:rPr>
              <a:t>edge feature</a:t>
            </a:r>
            <a:endParaRPr lang="en-US" altLang="zh-CN" sz="1200">
              <a:solidFill>
                <a:schemeClr val="accent3">
                  <a:lumMod val="75000"/>
                </a:schemeClr>
              </a:solidFill>
            </a:endParaRPr>
          </a:p>
        </p:txBody>
      </p:sp>
      <p:grpSp>
        <p:nvGrpSpPr>
          <p:cNvPr id="43" name="组合 42"/>
          <p:cNvGrpSpPr/>
          <p:nvPr/>
        </p:nvGrpSpPr>
        <p:grpSpPr>
          <a:xfrm>
            <a:off x="7741285" y="5329555"/>
            <a:ext cx="1927860" cy="846455"/>
            <a:chOff x="12191" y="8393"/>
            <a:chExt cx="3036" cy="1333"/>
          </a:xfrm>
        </p:grpSpPr>
        <p:sp>
          <p:nvSpPr>
            <p:cNvPr id="23" name="文本框 22"/>
            <p:cNvSpPr txBox="1"/>
            <p:nvPr/>
          </p:nvSpPr>
          <p:spPr>
            <a:xfrm>
              <a:off x="12191" y="9082"/>
              <a:ext cx="3037" cy="644"/>
            </a:xfrm>
            <a:prstGeom prst="rect">
              <a:avLst/>
            </a:prstGeom>
            <a:noFill/>
          </p:spPr>
          <p:txBody>
            <a:bodyPr wrap="square" rtlCol="0">
              <a:spAutoFit/>
            </a:bodyPr>
            <a:lstStyle/>
            <a:p>
              <a:pPr indent="0" algn="ctr" fontAlgn="auto">
                <a:lnSpc>
                  <a:spcPts val="1240"/>
                </a:lnSpc>
              </a:pPr>
              <a:r>
                <a:rPr lang="en-US" altLang="zh-CN" sz="1200">
                  <a:solidFill>
                    <a:srgbClr val="7030A0"/>
                  </a:solidFill>
                </a:rPr>
                <a:t>transshipment</a:t>
              </a:r>
              <a:endParaRPr lang="en-US" altLang="zh-CN" sz="1200">
                <a:solidFill>
                  <a:srgbClr val="7030A0"/>
                </a:solidFill>
              </a:endParaRPr>
            </a:p>
            <a:p>
              <a:pPr indent="0" algn="ctr" fontAlgn="auto">
                <a:lnSpc>
                  <a:spcPts val="1240"/>
                </a:lnSpc>
              </a:pPr>
              <a:r>
                <a:rPr lang="en-US" altLang="zh-CN" sz="1200">
                  <a:solidFill>
                    <a:srgbClr val="7030A0"/>
                  </a:solidFill>
                </a:rPr>
                <a:t>network</a:t>
              </a:r>
              <a:endParaRPr lang="en-US" altLang="zh-CN" sz="1200">
                <a:solidFill>
                  <a:srgbClr val="7030A0"/>
                </a:solidFill>
              </a:endParaRPr>
            </a:p>
          </p:txBody>
        </p:sp>
        <p:cxnSp>
          <p:nvCxnSpPr>
            <p:cNvPr id="26" name="曲线连接符 25"/>
            <p:cNvCxnSpPr/>
            <p:nvPr/>
          </p:nvCxnSpPr>
          <p:spPr>
            <a:xfrm rot="5400000">
              <a:off x="13687" y="8403"/>
              <a:ext cx="707" cy="687"/>
            </a:xfrm>
            <a:prstGeom prst="curvedConnector3">
              <a:avLst>
                <a:gd name="adj1" fmla="val 50071"/>
              </a:avLst>
            </a:prstGeom>
            <a:ln w="19050">
              <a:solidFill>
                <a:srgbClr val="7030A0"/>
              </a:solidFill>
              <a:headEnd type="none"/>
              <a:tailEnd type="triangle" w="med" len="med"/>
            </a:ln>
          </p:spPr>
          <p:style>
            <a:lnRef idx="2">
              <a:schemeClr val="accent1"/>
            </a:lnRef>
            <a:fillRef idx="0">
              <a:srgbClr val="FFFFFF"/>
            </a:fillRef>
            <a:effectRef idx="0">
              <a:srgbClr val="FFFFFF"/>
            </a:effectRef>
            <a:fontRef idx="minor">
              <a:schemeClr val="tx1"/>
            </a:fontRef>
          </p:style>
        </p:cxnSp>
      </p:grpSp>
      <p:grpSp>
        <p:nvGrpSpPr>
          <p:cNvPr id="35" name="组合 34"/>
          <p:cNvGrpSpPr/>
          <p:nvPr/>
        </p:nvGrpSpPr>
        <p:grpSpPr>
          <a:xfrm>
            <a:off x="9245600" y="5379720"/>
            <a:ext cx="1163320" cy="796290"/>
            <a:chOff x="14560" y="8472"/>
            <a:chExt cx="1832" cy="1254"/>
          </a:xfrm>
        </p:grpSpPr>
        <p:sp>
          <p:nvSpPr>
            <p:cNvPr id="24" name="文本框 23"/>
            <p:cNvSpPr txBox="1"/>
            <p:nvPr/>
          </p:nvSpPr>
          <p:spPr>
            <a:xfrm>
              <a:off x="14560" y="9082"/>
              <a:ext cx="1833" cy="644"/>
            </a:xfrm>
            <a:prstGeom prst="rect">
              <a:avLst/>
            </a:prstGeom>
            <a:noFill/>
          </p:spPr>
          <p:txBody>
            <a:bodyPr wrap="square" rtlCol="0">
              <a:spAutoFit/>
            </a:bodyPr>
            <a:lstStyle/>
            <a:p>
              <a:pPr indent="0" algn="ctr" fontAlgn="auto">
                <a:lnSpc>
                  <a:spcPts val="1240"/>
                </a:lnSpc>
              </a:pPr>
              <a:r>
                <a:rPr lang="en-US" altLang="zh-CN" sz="1200">
                  <a:solidFill>
                    <a:schemeClr val="accent5">
                      <a:lumMod val="75000"/>
                    </a:schemeClr>
                  </a:solidFill>
                </a:rPr>
                <a:t>Graph</a:t>
              </a:r>
              <a:endParaRPr lang="en-US" altLang="zh-CN" sz="1200">
                <a:solidFill>
                  <a:schemeClr val="accent5">
                    <a:lumMod val="75000"/>
                  </a:schemeClr>
                </a:solidFill>
              </a:endParaRPr>
            </a:p>
            <a:p>
              <a:pPr indent="0" algn="ctr" fontAlgn="auto">
                <a:lnSpc>
                  <a:spcPts val="1240"/>
                </a:lnSpc>
              </a:pPr>
              <a:r>
                <a:rPr lang="en-US" altLang="zh-CN" sz="1200">
                  <a:solidFill>
                    <a:schemeClr val="accent5">
                      <a:lumMod val="75000"/>
                    </a:schemeClr>
                  </a:solidFill>
                </a:rPr>
                <a:t>Generator</a:t>
              </a:r>
              <a:endParaRPr lang="en-US" altLang="zh-CN" sz="1200">
                <a:solidFill>
                  <a:schemeClr val="accent5">
                    <a:lumMod val="75000"/>
                  </a:schemeClr>
                </a:solidFill>
              </a:endParaRPr>
            </a:p>
          </p:txBody>
        </p:sp>
        <p:cxnSp>
          <p:nvCxnSpPr>
            <p:cNvPr id="25" name="曲线连接符 24"/>
            <p:cNvCxnSpPr>
              <a:stCxn id="145" idx="2"/>
              <a:endCxn id="24" idx="0"/>
            </p:cNvCxnSpPr>
            <p:nvPr/>
          </p:nvCxnSpPr>
          <p:spPr>
            <a:xfrm rot="5400000">
              <a:off x="15174" y="8775"/>
              <a:ext cx="611" cy="4"/>
            </a:xfrm>
            <a:prstGeom prst="curvedConnector3">
              <a:avLst>
                <a:gd name="adj1" fmla="val 50000"/>
              </a:avLst>
            </a:prstGeom>
            <a:ln w="19050">
              <a:solidFill>
                <a:schemeClr val="accent5"/>
              </a:solidFill>
              <a:headEnd type="none"/>
              <a:tailEnd type="triangle" w="med" len="med"/>
            </a:ln>
          </p:spPr>
          <p:style>
            <a:lnRef idx="2">
              <a:schemeClr val="accent1"/>
            </a:lnRef>
            <a:fillRef idx="0">
              <a:srgbClr val="FFFFFF"/>
            </a:fillRef>
            <a:effectRef idx="0">
              <a:srgbClr val="FFFFFF"/>
            </a:effectRef>
            <a:fontRef idx="minor">
              <a:schemeClr val="tx1"/>
            </a:fontRef>
          </p:style>
        </p:cxnSp>
      </p:grpSp>
      <p:sp>
        <p:nvSpPr>
          <p:cNvPr id="27" name="文本框 26"/>
          <p:cNvSpPr txBox="1"/>
          <p:nvPr/>
        </p:nvSpPr>
        <p:spPr>
          <a:xfrm>
            <a:off x="8383270" y="6182360"/>
            <a:ext cx="2938780" cy="521970"/>
          </a:xfrm>
          <a:prstGeom prst="rect">
            <a:avLst/>
          </a:prstGeom>
          <a:noFill/>
        </p:spPr>
        <p:txBody>
          <a:bodyPr wrap="square" rtlCol="0">
            <a:spAutoFit/>
          </a:bodyPr>
          <a:lstStyle/>
          <a:p>
            <a:pPr algn="ctr"/>
            <a:r>
              <a:rPr lang="en-US" altLang="zh-CN" sz="1400"/>
              <a:t>add constraints during training</a:t>
            </a:r>
            <a:endParaRPr lang="en-US" altLang="zh-CN" sz="1400"/>
          </a:p>
          <a:p>
            <a:pPr algn="ctr"/>
            <a:r>
              <a:rPr lang="en-US" altLang="zh-CN" sz="1400"/>
              <a:t>to control network structure</a:t>
            </a:r>
            <a:endParaRPr lang="en-US" altLang="zh-CN" sz="1400"/>
          </a:p>
        </p:txBody>
      </p:sp>
      <p:grpSp>
        <p:nvGrpSpPr>
          <p:cNvPr id="36" name="组合 35"/>
          <p:cNvGrpSpPr/>
          <p:nvPr/>
        </p:nvGrpSpPr>
        <p:grpSpPr>
          <a:xfrm>
            <a:off x="10363200" y="5385435"/>
            <a:ext cx="1163320" cy="790575"/>
            <a:chOff x="16320" y="8481"/>
            <a:chExt cx="1832" cy="1245"/>
          </a:xfrm>
        </p:grpSpPr>
        <p:cxnSp>
          <p:nvCxnSpPr>
            <p:cNvPr id="29" name="曲线连接符 28"/>
            <p:cNvCxnSpPr/>
            <p:nvPr/>
          </p:nvCxnSpPr>
          <p:spPr>
            <a:xfrm rot="5400000" flipV="1">
              <a:off x="16601" y="8450"/>
              <a:ext cx="624" cy="686"/>
            </a:xfrm>
            <a:prstGeom prst="curvedConnector3">
              <a:avLst>
                <a:gd name="adj1" fmla="val 49914"/>
              </a:avLst>
            </a:prstGeom>
            <a:ln w="19050">
              <a:solidFill>
                <a:srgbClr val="0070C0"/>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16320" y="9082"/>
              <a:ext cx="1833" cy="644"/>
            </a:xfrm>
            <a:prstGeom prst="rect">
              <a:avLst/>
            </a:prstGeom>
            <a:noFill/>
          </p:spPr>
          <p:txBody>
            <a:bodyPr wrap="square" rtlCol="0">
              <a:spAutoFit/>
            </a:bodyPr>
            <a:lstStyle/>
            <a:p>
              <a:pPr indent="0" algn="ctr" fontAlgn="auto">
                <a:lnSpc>
                  <a:spcPts val="1240"/>
                </a:lnSpc>
              </a:pPr>
              <a:r>
                <a:rPr lang="en-US" altLang="zh-CN" sz="1200">
                  <a:solidFill>
                    <a:srgbClr val="0070C0"/>
                  </a:solidFill>
                </a:rPr>
                <a:t>features of all nodes</a:t>
              </a:r>
              <a:endParaRPr lang="en-US" altLang="zh-CN" sz="1200">
                <a:solidFill>
                  <a:srgbClr val="0070C0"/>
                </a:solidFill>
              </a:endParaRPr>
            </a:p>
          </p:txBody>
        </p:sp>
      </p:grpSp>
    </p:spTree>
    <p:custDataLst>
      <p:tags r:id="rId50"/>
    </p:custDataLst>
  </p:cSld>
  <p:clrMapOvr>
    <a:masterClrMapping/>
  </p:clrMapOvr>
  <mc:AlternateContent xmlns:mc="http://schemas.openxmlformats.org/markup-compatibility/2006">
    <mc:Choice xmlns:p14="http://schemas.microsoft.com/office/powerpoint/2010/main" Requires="p14">
      <p:transition p14:dur="250" advTm="150670">
        <p:wipe dir="d"/>
      </p:transition>
    </mc:Choice>
    <mc:Fallback>
      <p:transition advTm="150670">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3"/>
                                        </p:tgtEl>
                                        <p:attrNameLst>
                                          <p:attrName>style.visibility</p:attrName>
                                        </p:attrNameLst>
                                      </p:cBhvr>
                                      <p:to>
                                        <p:strVal val="visible"/>
                                      </p:to>
                                    </p:set>
                                    <p:animEffect transition="in" filter="wipe(left)">
                                      <p:cBhvr>
                                        <p:cTn id="11" dur="500"/>
                                        <p:tgtEl>
                                          <p:spTgt spid="163"/>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9"/>
                                        </p:tgtEl>
                                        <p:attrNameLst>
                                          <p:attrName>style.visibility</p:attrName>
                                        </p:attrNameLst>
                                      </p:cBhvr>
                                      <p:to>
                                        <p:strVal val="visible"/>
                                      </p:to>
                                    </p:set>
                                    <p:animEffect transition="in" filter="wipe(left)">
                                      <p:cBhvr>
                                        <p:cTn id="14" dur="500"/>
                                        <p:tgtEl>
                                          <p:spTgt spid="99"/>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randombar(horizontal)">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randombar(horizontal)">
                                      <p:cBhvr>
                                        <p:cTn id="24" dur="500"/>
                                        <p:tgtEl>
                                          <p:spTgt spid="57"/>
                                        </p:tgtEl>
                                      </p:cBhvr>
                                    </p:animEffect>
                                  </p:childTnLst>
                                </p:cTn>
                              </p:par>
                              <p:par>
                                <p:cTn id="25" presetID="14" presetClass="entr" presetSubtype="1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randombar(horizontal)">
                                      <p:cBhvr>
                                        <p:cTn id="27" dur="500"/>
                                        <p:tgtEl>
                                          <p:spTgt spid="58"/>
                                        </p:tgtEl>
                                      </p:cBhvr>
                                    </p:animEffect>
                                  </p:childTnLst>
                                </p:cTn>
                              </p:par>
                              <p:par>
                                <p:cTn id="28" presetID="14" presetClass="entr" presetSubtype="10" fill="hold" nodeType="with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randombar(horizontal)">
                                      <p:cBhvr>
                                        <p:cTn id="30" dur="500"/>
                                        <p:tgtEl>
                                          <p:spTgt spid="62"/>
                                        </p:tgtEl>
                                      </p:cBhvr>
                                    </p:animEffect>
                                  </p:childTnLst>
                                </p:cTn>
                              </p:par>
                              <p:par>
                                <p:cTn id="31" presetID="14" presetClass="entr" presetSubtype="10"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randombar(horizontal)">
                                      <p:cBhvr>
                                        <p:cTn id="33" dur="500"/>
                                        <p:tgtEl>
                                          <p:spTgt spid="66"/>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randombar(horizontal)">
                                      <p:cBhvr>
                                        <p:cTn id="37" dur="500"/>
                                        <p:tgtEl>
                                          <p:spTgt spid="75"/>
                                        </p:tgtEl>
                                      </p:cBhvr>
                                    </p:animEffect>
                                  </p:childTnLst>
                                </p:cTn>
                              </p:par>
                            </p:childTnLst>
                          </p:cTn>
                        </p:par>
                        <p:par>
                          <p:cTn id="38" fill="hold">
                            <p:stCondLst>
                              <p:cond delay="1000"/>
                            </p:stCondLst>
                            <p:childTnLst>
                              <p:par>
                                <p:cTn id="39" presetID="14" presetClass="entr" presetSubtype="10"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randombar(horizontal)">
                                      <p:cBhvr>
                                        <p:cTn id="41" dur="500"/>
                                        <p:tgtEl>
                                          <p:spTgt spid="21"/>
                                        </p:tgtEl>
                                      </p:cBhvr>
                                    </p:animEffect>
                                  </p:childTnLst>
                                </p:cTn>
                              </p:par>
                            </p:childTnLst>
                          </p:cTn>
                        </p:par>
                        <p:par>
                          <p:cTn id="42" fill="hold">
                            <p:stCondLst>
                              <p:cond delay="1500"/>
                            </p:stCondLst>
                            <p:childTnLst>
                              <p:par>
                                <p:cTn id="43" presetID="14" presetClass="entr" presetSubtype="10"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randombar(horizontal)">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2"/>
                                        </p:tgtEl>
                                        <p:attrNameLst>
                                          <p:attrName>style.visibility</p:attrName>
                                        </p:attrNameLst>
                                      </p:cBhvr>
                                      <p:to>
                                        <p:strVal val="visible"/>
                                      </p:to>
                                    </p:set>
                                    <p:animEffect transition="in" filter="wipe(left)">
                                      <p:cBhvr>
                                        <p:cTn id="50" dur="500"/>
                                        <p:tgtEl>
                                          <p:spTgt spid="102"/>
                                        </p:tgtEl>
                                      </p:cBhvr>
                                    </p:animEffect>
                                  </p:childTnLst>
                                </p:cTn>
                              </p:par>
                            </p:childTnLst>
                          </p:cTn>
                        </p:par>
                        <p:par>
                          <p:cTn id="51" fill="hold">
                            <p:stCondLst>
                              <p:cond delay="500"/>
                            </p:stCondLst>
                            <p:childTnLst>
                              <p:par>
                                <p:cTn id="52" presetID="14" presetClass="entr" presetSubtype="10" fill="hold" grpId="0" nodeType="afterEffect">
                                  <p:stCondLst>
                                    <p:cond delay="0"/>
                                  </p:stCondLst>
                                  <p:childTnLst>
                                    <p:set>
                                      <p:cBhvr>
                                        <p:cTn id="53" dur="1" fill="hold">
                                          <p:stCondLst>
                                            <p:cond delay="0"/>
                                          </p:stCondLst>
                                        </p:cTn>
                                        <p:tgtEl>
                                          <p:spTgt spid="81"/>
                                        </p:tgtEl>
                                        <p:attrNameLst>
                                          <p:attrName>style.visibility</p:attrName>
                                        </p:attrNameLst>
                                      </p:cBhvr>
                                      <p:to>
                                        <p:strVal val="visible"/>
                                      </p:to>
                                    </p:set>
                                    <p:animEffect transition="in" filter="randombar(horizontal)">
                                      <p:cBhvr>
                                        <p:cTn id="54" dur="500"/>
                                        <p:tgtEl>
                                          <p:spTgt spid="81"/>
                                        </p:tgtEl>
                                      </p:cBhvr>
                                    </p:animEffect>
                                  </p:childTnLst>
                                </p:cTn>
                              </p:par>
                              <p:par>
                                <p:cTn id="55" presetID="14" presetClass="entr" presetSubtype="1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randombar(horizontal)">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86"/>
                                        </p:tgtEl>
                                        <p:attrNameLst>
                                          <p:attrName>style.visibility</p:attrName>
                                        </p:attrNameLst>
                                      </p:cBhvr>
                                      <p:to>
                                        <p:strVal val="visible"/>
                                      </p:to>
                                    </p:set>
                                    <p:animEffect transition="in" filter="randombar(horizontal)">
                                      <p:cBhvr>
                                        <p:cTn id="62" dur="500"/>
                                        <p:tgtEl>
                                          <p:spTgt spid="86"/>
                                        </p:tgtEl>
                                      </p:cBhvr>
                                    </p:animEffect>
                                  </p:childTnLst>
                                </p:cTn>
                              </p:par>
                              <p:par>
                                <p:cTn id="63" presetID="14" presetClass="entr" presetSubtype="10" fill="hold"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randombar(horizontal)">
                                      <p:cBhvr>
                                        <p:cTn id="65" dur="500"/>
                                        <p:tgtEl>
                                          <p:spTgt spid="1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160"/>
                                        </p:tgtEl>
                                        <p:attrNameLst>
                                          <p:attrName>style.visibility</p:attrName>
                                        </p:attrNameLst>
                                      </p:cBhvr>
                                      <p:to>
                                        <p:strVal val="visible"/>
                                      </p:to>
                                    </p:set>
                                    <p:animEffect transition="in" filter="wipe(down)">
                                      <p:cBhvr>
                                        <p:cTn id="70" dur="500"/>
                                        <p:tgtEl>
                                          <p:spTgt spid="160"/>
                                        </p:tgtEl>
                                      </p:cBhvr>
                                    </p:animEffect>
                                  </p:childTnLst>
                                </p:cTn>
                              </p:par>
                            </p:childTnLst>
                          </p:cTn>
                        </p:par>
                      </p:childTnLst>
                    </p:cTn>
                  </p:par>
                  <p:par>
                    <p:cTn id="71" fill="hold">
                      <p:stCondLst>
                        <p:cond delay="indefinite"/>
                      </p:stCondLst>
                      <p:childTnLst>
                        <p:par>
                          <p:cTn id="72" fill="hold">
                            <p:stCondLst>
                              <p:cond delay="0"/>
                            </p:stCondLst>
                            <p:childTnLst>
                              <p:par>
                                <p:cTn id="73" presetID="14" presetClass="entr" presetSubtype="10" fill="hold" nodeType="clickEffect">
                                  <p:stCondLst>
                                    <p:cond delay="0"/>
                                  </p:stCondLst>
                                  <p:childTnLst>
                                    <p:set>
                                      <p:cBhvr>
                                        <p:cTn id="74" dur="1" fill="hold">
                                          <p:stCondLst>
                                            <p:cond delay="0"/>
                                          </p:stCondLst>
                                        </p:cTn>
                                        <p:tgtEl>
                                          <p:spTgt spid="161"/>
                                        </p:tgtEl>
                                        <p:attrNameLst>
                                          <p:attrName>style.visibility</p:attrName>
                                        </p:attrNameLst>
                                      </p:cBhvr>
                                      <p:to>
                                        <p:strVal val="visible"/>
                                      </p:to>
                                    </p:set>
                                    <p:animEffect transition="in" filter="randombar(horizontal)">
                                      <p:cBhvr>
                                        <p:cTn id="75" dur="500"/>
                                        <p:tgtEl>
                                          <p:spTgt spid="161"/>
                                        </p:tgtEl>
                                      </p:cBhvr>
                                    </p:animEffect>
                                  </p:childTnLst>
                                </p:cTn>
                              </p:par>
                            </p:childTnLst>
                          </p:cTn>
                        </p:par>
                        <p:par>
                          <p:cTn id="76" fill="hold">
                            <p:stCondLst>
                              <p:cond delay="500"/>
                            </p:stCondLst>
                            <p:childTnLst>
                              <p:par>
                                <p:cTn id="77" presetID="22" presetClass="entr" presetSubtype="1" fill="hold" nodeType="after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wipe(up)">
                                      <p:cBhvr>
                                        <p:cTn id="79"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wipe(up)">
                                      <p:cBhvr>
                                        <p:cTn id="84" dur="500"/>
                                        <p:tgtEl>
                                          <p:spTgt spid="3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wipe(up)">
                                      <p:cBhvr>
                                        <p:cTn id="89" dur="500"/>
                                        <p:tgtEl>
                                          <p:spTgt spid="43"/>
                                        </p:tgtEl>
                                      </p:cBhvr>
                                    </p:animEffec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nodeType="clickEffect">
                                  <p:stCondLst>
                                    <p:cond delay="0"/>
                                  </p:stCondLst>
                                  <p:childTnLst>
                                    <p:set>
                                      <p:cBhvr>
                                        <p:cTn id="93" dur="1" fill="hold">
                                          <p:stCondLst>
                                            <p:cond delay="0"/>
                                          </p:stCondLst>
                                        </p:cTn>
                                        <p:tgtEl>
                                          <p:spTgt spid="156"/>
                                        </p:tgtEl>
                                        <p:attrNameLst>
                                          <p:attrName>style.visibility</p:attrName>
                                        </p:attrNameLst>
                                      </p:cBhvr>
                                      <p:to>
                                        <p:strVal val="visible"/>
                                      </p:to>
                                    </p:set>
                                    <p:animEffect transition="in" filter="randombar(horizontal)">
                                      <p:cBhvr>
                                        <p:cTn id="94" dur="500"/>
                                        <p:tgtEl>
                                          <p:spTgt spid="156"/>
                                        </p:tgtEl>
                                      </p:cBhvr>
                                    </p:animEffect>
                                  </p:childTnLst>
                                </p:cTn>
                              </p:par>
                              <p:par>
                                <p:cTn id="95" presetID="14" presetClass="entr" presetSubtype="10" fill="hold" grpId="0" nodeType="withEffect">
                                  <p:stCondLst>
                                    <p:cond delay="0"/>
                                  </p:stCondLst>
                                  <p:childTnLst>
                                    <p:set>
                                      <p:cBhvr>
                                        <p:cTn id="96" dur="1" fill="hold">
                                          <p:stCondLst>
                                            <p:cond delay="0"/>
                                          </p:stCondLst>
                                        </p:cTn>
                                        <p:tgtEl>
                                          <p:spTgt spid="162"/>
                                        </p:tgtEl>
                                        <p:attrNameLst>
                                          <p:attrName>style.visibility</p:attrName>
                                        </p:attrNameLst>
                                      </p:cBhvr>
                                      <p:to>
                                        <p:strVal val="visible"/>
                                      </p:to>
                                    </p:set>
                                    <p:animEffect transition="in" filter="randombar(horizontal)">
                                      <p:cBhvr>
                                        <p:cTn id="97" dur="500"/>
                                        <p:tgtEl>
                                          <p:spTgt spid="162"/>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randombar(horizontal)">
                                      <p:cBhvr>
                                        <p:cTn id="102" dur="500"/>
                                        <p:tgtEl>
                                          <p:spTgt spid="6"/>
                                        </p:tgtEl>
                                      </p:cBhvr>
                                    </p:animEffect>
                                  </p:childTnLst>
                                </p:cTn>
                              </p:par>
                            </p:childTnLst>
                          </p:cTn>
                        </p:par>
                        <p:par>
                          <p:cTn id="103" fill="hold">
                            <p:stCondLst>
                              <p:cond delay="500"/>
                            </p:stCondLst>
                            <p:childTnLst>
                              <p:par>
                                <p:cTn id="104" presetID="14" presetClass="entr" presetSubtype="10" fill="hold" grpId="0" nodeType="after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randombar(horizontal)">
                                      <p:cBhvr>
                                        <p:cTn id="106" dur="500"/>
                                        <p:tgtEl>
                                          <p:spTgt spid="17"/>
                                        </p:tgtEl>
                                      </p:cBhvr>
                                    </p:animEffect>
                                  </p:childTnLst>
                                </p:cTn>
                              </p:par>
                            </p:childTnLst>
                          </p:cTn>
                        </p:par>
                      </p:childTnLst>
                    </p:cTn>
                  </p:par>
                  <p:par>
                    <p:cTn id="107" fill="hold">
                      <p:stCondLst>
                        <p:cond delay="indefinite"/>
                      </p:stCondLst>
                      <p:childTnLst>
                        <p:par>
                          <p:cTn id="108" fill="hold">
                            <p:stCondLst>
                              <p:cond delay="0"/>
                            </p:stCondLst>
                            <p:childTnLst>
                              <p:par>
                                <p:cTn id="109" presetID="14" presetClass="entr" presetSubtype="10" fill="hold" grpId="0" nodeType="click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randombar(horizontal)">
                                      <p:cBhvr>
                                        <p:cTn id="11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2" grpId="1" animBg="1"/>
      <p:bldP spid="50" grpId="1"/>
      <p:bldP spid="81" grpId="0"/>
      <p:bldP spid="81" grpId="1"/>
      <p:bldP spid="86" grpId="0"/>
      <p:bldP spid="86" grpId="1"/>
      <p:bldP spid="99" grpId="0"/>
      <p:bldP spid="99" grpId="1"/>
      <p:bldP spid="102" grpId="0" animBg="1"/>
      <p:bldP spid="102" grpId="1" animBg="1"/>
      <p:bldP spid="162" grpId="0"/>
      <p:bldP spid="162" grpId="1"/>
      <p:bldP spid="6" grpId="0"/>
      <p:bldP spid="6" grpId="1"/>
      <p:bldP spid="17" grpId="0"/>
      <p:bldP spid="17" grpId="1"/>
      <p:bldP spid="20" grpId="0"/>
      <p:bldP spid="20" grpId="1"/>
      <p:bldP spid="21" grpId="0"/>
      <p:bldP spid="21" grpId="1"/>
      <p:bldP spid="22" grpId="0"/>
      <p:bldP spid="22" grpId="1"/>
      <p:bldP spid="27" grpId="0"/>
      <p:bldP spid="27"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649720" y="5631180"/>
            <a:ext cx="3115945" cy="1045210"/>
            <a:chOff x="10472" y="8868"/>
            <a:chExt cx="4907" cy="1646"/>
          </a:xfrm>
        </p:grpSpPr>
        <p:sp>
          <p:nvSpPr>
            <p:cNvPr id="5" name="圆角矩形 4"/>
            <p:cNvSpPr/>
            <p:nvPr/>
          </p:nvSpPr>
          <p:spPr>
            <a:xfrm>
              <a:off x="11786" y="8868"/>
              <a:ext cx="2269" cy="519"/>
            </a:xfrm>
            <a:prstGeom prst="roundRect">
              <a:avLst/>
            </a:pr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a:off x="12920" y="9377"/>
              <a:ext cx="6" cy="441"/>
            </a:xfrm>
            <a:prstGeom prst="straightConnector1">
              <a:avLst/>
            </a:prstGeom>
            <a:ln>
              <a:solidFill>
                <a:schemeClr val="accent5">
                  <a:lumMod val="75000"/>
                </a:schemeClr>
              </a:solidFill>
              <a:headEnd type="none"/>
              <a:tailEnd type="triangle" w="med" len="med"/>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8" name="文本框 7"/>
                <p:cNvSpPr txBox="1"/>
                <p:nvPr/>
              </p:nvSpPr>
              <p:spPr>
                <a:xfrm>
                  <a:off x="10472" y="9773"/>
                  <a:ext cx="4907" cy="741"/>
                </a:xfrm>
                <a:prstGeom prst="rect">
                  <a:avLst/>
                </a:prstGeom>
              </p:spPr>
              <p:txBody>
                <a:bodyPr wrap="square">
                  <a:spAutoFit/>
                </a:bodyPr>
                <a:lstStyle/>
                <a:p>
                  <a:pPr indent="0" algn="ctr" defTabSz="266700" fontAlgn="auto">
                    <a:lnSpc>
                      <a:spcPts val="1480"/>
                    </a:lnSpc>
                  </a:pPr>
                  <a:r>
                    <a:rPr lang="en-US" sz="1400">
                      <a:solidFill>
                        <a:schemeClr val="accent5">
                          <a:lumMod val="75000"/>
                        </a:schemeClr>
                      </a:solidFill>
                      <a:latin typeface="Georgia" panose="02040502050405020303" charset="0"/>
                      <a:ea typeface="宋体" panose="02010600030101010101" pitchFamily="2" charset="-122"/>
                      <a:cs typeface="Georgia" panose="02040502050405020303" charset="0"/>
                    </a:rPr>
                    <a:t>how much revenue would be lost without transshipment </a:t>
                  </a:r>
                  <a14:m>
                    <m:oMath xmlns:m="http://schemas.openxmlformats.org/officeDocument/2006/math">
                      <m:sSubSup>
                        <m:sSubSupPr>
                          <m:ctrlPr>
                            <a:rPr lang="en-US" altLang="zh-CN" sz="1400" i="1">
                              <a:solidFill>
                                <a:schemeClr val="accent5">
                                  <a:lumMod val="75000"/>
                                </a:schemeClr>
                              </a:solidFill>
                              <a:latin typeface="Cambria Math" panose="02040503050406030204" charset="0"/>
                              <a:cs typeface="Cambria Math" panose="02040503050406030204" charset="0"/>
                            </a:rPr>
                          </m:ctrlPr>
                        </m:sSubSupPr>
                        <m:e>
                          <m:r>
                            <a:rPr lang="en-US" altLang="zh-CN" sz="1400" i="1">
                              <a:solidFill>
                                <a:schemeClr val="accent5">
                                  <a:lumMod val="75000"/>
                                </a:schemeClr>
                              </a:solidFill>
                              <a:latin typeface="Cambria Math" panose="02040503050406030204" charset="0"/>
                              <a:cs typeface="Cambria Math" panose="02040503050406030204" charset="0"/>
                            </a:rPr>
                            <m:t>𝑧</m:t>
                          </m:r>
                        </m:e>
                        <m:sub>
                          <m:r>
                            <a:rPr lang="en-US" altLang="zh-CN" sz="1400" i="1">
                              <a:solidFill>
                                <a:schemeClr val="accent5">
                                  <a:lumMod val="75000"/>
                                </a:schemeClr>
                              </a:solidFill>
                              <a:latin typeface="Cambria Math" panose="02040503050406030204" charset="0"/>
                              <a:cs typeface="Cambria Math" panose="02040503050406030204" charset="0"/>
                            </a:rPr>
                            <m:t>𝑡</m:t>
                          </m:r>
                        </m:sub>
                        <m:sup>
                          <m:r>
                            <a:rPr lang="en-US" altLang="zh-CN" sz="1400" i="1">
                              <a:solidFill>
                                <a:schemeClr val="accent5">
                                  <a:lumMod val="75000"/>
                                </a:schemeClr>
                              </a:solidFill>
                              <a:latin typeface="Cambria Math" panose="02040503050406030204" charset="0"/>
                              <a:cs typeface="Cambria Math" panose="02040503050406030204" charset="0"/>
                            </a:rPr>
                            <m:t>𝑖</m:t>
                          </m:r>
                          <m:r>
                            <a:rPr lang="en-US" altLang="zh-CN" sz="1400" i="1">
                              <a:solidFill>
                                <a:schemeClr val="accent5">
                                  <a:lumMod val="75000"/>
                                </a:schemeClr>
                              </a:solidFill>
                              <a:latin typeface="Cambria Math" panose="02040503050406030204" charset="0"/>
                              <a:ea typeface="MS Mincho" charset="0"/>
                              <a:cs typeface="Cambria Math" panose="02040503050406030204" charset="0"/>
                            </a:rPr>
                            <m:t>,</m:t>
                          </m:r>
                          <m:r>
                            <a:rPr lang="en-US" altLang="zh-CN" sz="1400" i="1">
                              <a:solidFill>
                                <a:schemeClr val="accent5">
                                  <a:lumMod val="75000"/>
                                </a:schemeClr>
                              </a:solidFill>
                              <a:latin typeface="Cambria Math" panose="02040503050406030204" charset="0"/>
                              <a:cs typeface="Cambria Math" panose="02040503050406030204" charset="0"/>
                            </a:rPr>
                            <m:t>𝑗</m:t>
                          </m:r>
                        </m:sup>
                      </m:sSubSup>
                    </m:oMath>
                  </a14:m>
                  <a:endParaRPr lang="en-US" altLang="zh-CN" sz="1400" i="1">
                    <a:solidFill>
                      <a:schemeClr val="accent5">
                        <a:lumMod val="75000"/>
                      </a:schemeClr>
                    </a:solidFill>
                    <a:latin typeface="Cambria Math" panose="02040503050406030204" charset="0"/>
                    <a:ea typeface="宋体" panose="02010600030101010101" pitchFamily="2" charset="-122"/>
                    <a:cs typeface="Cambria Math" panose="0204050305040603020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10472" y="9773"/>
                  <a:ext cx="4907" cy="741"/>
                </a:xfrm>
                <a:prstGeom prst="rect">
                  <a:avLst/>
                </a:prstGeom>
                <a:blipFill rotWithShape="1">
                  <a:blip r:embed="rId1"/>
                </a:blipFill>
              </p:spPr>
              <p:txBody>
                <a:bodyPr/>
                <a:lstStyle/>
                <a:p>
                  <a:r>
                    <a:rPr lang="zh-CN" altLang="en-US">
                      <a:noFill/>
                    </a:rPr>
                    <a:t> </a:t>
                  </a:r>
                </a:p>
              </p:txBody>
            </p:sp>
          </mc:Fallback>
        </mc:AlternateContent>
      </p:grpSp>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mc:AlternateContent xmlns:mc="http://schemas.openxmlformats.org/markup-compatibility/2006" xmlns:a14="http://schemas.microsoft.com/office/drawing/2010/main">
        <mc:Choice Requires="a14">
          <p:graphicFrame>
            <p:nvGraphicFramePr>
              <p:cNvPr id="4" name="表格 3"/>
              <p:cNvGraphicFramePr/>
              <p:nvPr>
                <p:custDataLst>
                  <p:tags r:id="rId2"/>
                </p:custDataLst>
              </p:nvPr>
            </p:nvGraphicFramePr>
            <p:xfrm>
              <a:off x="835660" y="1899920"/>
              <a:ext cx="10783570" cy="4179570"/>
            </p:xfrm>
            <a:graphic>
              <a:graphicData uri="http://schemas.openxmlformats.org/drawingml/2006/table">
                <a:tbl>
                  <a:tblPr firstRow="1">
                    <a:tableStyleId>{5940675A-B579-460E-94D1-54222C63F5DA}</a:tableStyleId>
                  </a:tblPr>
                  <a:tblGrid>
                    <a:gridCol w="2057400"/>
                    <a:gridCol w="4434840"/>
                    <a:gridCol w="4291330"/>
                  </a:tblGrid>
                  <a:tr h="551815">
                    <a:tc>
                      <a:txBody>
                        <a:bodyPr/>
                        <a:lstStyle/>
                        <a:p>
                          <a:pPr algn="ctr">
                            <a:buNone/>
                          </a:pPr>
                          <a:endParaRPr lang="zh-CN" altLang="en-US" sz="1600" b="1">
                            <a:latin typeface="Georgia" panose="02040502050405020303" charset="0"/>
                            <a:cs typeface="Georgia" panose="02040502050405020303" charset="0"/>
                          </a:endParaRPr>
                        </a:p>
                      </a:txBody>
                      <a:tcPr anchor="ctr"/>
                    </a:tc>
                    <a:tc>
                      <a:txBody>
                        <a:bodyPr/>
                        <a:lstStyle/>
                        <a:p>
                          <a:pPr algn="ctr">
                            <a:buNone/>
                          </a:pPr>
                          <a:r>
                            <a:rPr lang="en-US" altLang="zh-CN" sz="2000" b="1">
                              <a:latin typeface="Georgia" panose="02040502050405020303" charset="0"/>
                              <a:cs typeface="Georgia" panose="02040502050405020303" charset="0"/>
                            </a:rPr>
                            <a:t>Replenishment</a:t>
                          </a:r>
                          <a:endParaRPr lang="en-US" altLang="zh-CN" sz="2000" b="1">
                            <a:latin typeface="Georgia" panose="02040502050405020303" charset="0"/>
                            <a:cs typeface="Georgia" panose="02040502050405020303" charset="0"/>
                          </a:endParaRPr>
                        </a:p>
                      </a:txBody>
                      <a:tcPr anchor="ctr"/>
                    </a:tc>
                    <a:tc>
                      <a:txBody>
                        <a:bodyPr/>
                        <a:lstStyle/>
                        <a:p>
                          <a:pPr algn="ctr">
                            <a:buNone/>
                          </a:pPr>
                          <a:r>
                            <a:rPr lang="en-US" altLang="zh-CN" sz="2000" b="1">
                              <a:latin typeface="Georgia" panose="02040502050405020303" charset="0"/>
                              <a:cs typeface="Georgia" panose="02040502050405020303" charset="0"/>
                            </a:rPr>
                            <a:t>Transshipment</a:t>
                          </a:r>
                          <a:endParaRPr lang="en-US" altLang="zh-CN" sz="2000" b="1">
                            <a:latin typeface="Georgia" panose="02040502050405020303" charset="0"/>
                            <a:cs typeface="Georgia" panose="02040502050405020303" charset="0"/>
                          </a:endParaRPr>
                        </a:p>
                      </a:txBody>
                      <a:tcPr anchor="ctr"/>
                    </a:tc>
                  </a:tr>
                  <a:tr h="488315">
                    <a:tc>
                      <a:txBody>
                        <a:bodyPr/>
                        <a:lstStyle/>
                        <a:p>
                          <a:pPr algn="ctr">
                            <a:buNone/>
                          </a:pPr>
                          <a:r>
                            <a:rPr lang="en-US" altLang="zh-CN" sz="1600" b="1">
                              <a:latin typeface="Georgia" panose="02040502050405020303" charset="0"/>
                              <a:cs typeface="Georgia" panose="02040502050405020303" charset="0"/>
                            </a:rPr>
                            <a:t>Agent</a:t>
                          </a:r>
                          <a:endParaRPr lang="en-US" altLang="zh-CN" sz="1600" b="1">
                            <a:latin typeface="Georgia" panose="02040502050405020303" charset="0"/>
                            <a:cs typeface="Georgia" panose="02040502050405020303" charset="0"/>
                          </a:endParaRPr>
                        </a:p>
                      </a:txBody>
                      <a:tcPr anchor="ctr"/>
                    </a:tc>
                    <a:tc>
                      <a:txBody>
                        <a:bodyPr/>
                        <a:lstStyle/>
                        <a:p>
                          <a:pPr algn="ctr">
                            <a:buNone/>
                          </a:pPr>
                          <a:r>
                            <a:rPr lang="en-US" altLang="zh-CN" sz="1600">
                              <a:latin typeface="Georgia" panose="02040502050405020303" charset="0"/>
                              <a:cs typeface="Georgia" panose="02040502050405020303" charset="0"/>
                            </a:rPr>
                            <a:t>node-wise agent, </a:t>
                          </a:r>
                          <a14:m>
                            <m:oMath xmlns:m="http://schemas.openxmlformats.org/officeDocument/2006/math">
                              <m:r>
                                <a:rPr lang="en-US" altLang="zh-CN" sz="1600" i="1">
                                  <a:solidFill>
                                    <a:srgbClr val="C00000"/>
                                  </a:solidFill>
                                  <a:latin typeface="Cambria Math" panose="02040503050406030204" charset="0"/>
                                  <a:cs typeface="Cambria Math" panose="02040503050406030204" charset="0"/>
                                </a:rPr>
                                <m:t>𝑁</m:t>
                              </m:r>
                            </m:oMath>
                          </a14:m>
                          <a:r>
                            <a:rPr lang="en-US" altLang="zh-CN" sz="1600" i="1">
                              <a:latin typeface="Georgia" panose="02040502050405020303" charset="0"/>
                              <a:cs typeface="Georgia" panose="02040502050405020303" charset="0"/>
                            </a:rPr>
                            <a:t> </a:t>
                          </a:r>
                          <a:r>
                            <a:rPr lang="en-US" altLang="zh-CN" sz="1600">
                              <a:latin typeface="Georgia" panose="02040502050405020303" charset="0"/>
                              <a:cs typeface="Georgia" panose="02040502050405020303" charset="0"/>
                            </a:rPr>
                            <a:t>in total</a:t>
                          </a:r>
                          <a:endParaRPr lang="en-US" altLang="zh-CN" sz="1600">
                            <a:latin typeface="Georgia" panose="02040502050405020303" charset="0"/>
                            <a:cs typeface="Georgia" panose="02040502050405020303" charset="0"/>
                          </a:endParaRPr>
                        </a:p>
                      </a:txBody>
                      <a:tcPr anchor="ctr"/>
                    </a:tc>
                    <a:tc>
                      <a:txBody>
                        <a:bodyPr/>
                        <a:lstStyle/>
                        <a:p>
                          <a:pPr algn="ctr">
                            <a:buNone/>
                          </a:pPr>
                          <a:r>
                            <a:rPr lang="en-US" altLang="zh-CN" sz="1600">
                              <a:latin typeface="Georgia" panose="02040502050405020303" charset="0"/>
                              <a:cs typeface="Georgia" panose="02040502050405020303" charset="0"/>
                            </a:rPr>
                            <a:t>edge-wise agent, </a:t>
                          </a:r>
                          <a14:m>
                            <m:oMath xmlns:m="http://schemas.openxmlformats.org/officeDocument/2006/math">
                              <m:r>
                                <a:rPr lang="en-US" altLang="zh-CN" sz="1600" i="1">
                                  <a:solidFill>
                                    <a:srgbClr val="C00000"/>
                                  </a:solidFill>
                                  <a:latin typeface="Cambria Math" panose="02040503050406030204" charset="0"/>
                                  <a:cs typeface="Cambria Math" panose="02040503050406030204" charset="0"/>
                                </a:rPr>
                                <m:t>𝑁</m:t>
                              </m:r>
                              <m:r>
                                <a:rPr lang="en-US" altLang="zh-CN" sz="1600" i="1">
                                  <a:solidFill>
                                    <a:srgbClr val="C00000"/>
                                  </a:solidFill>
                                  <a:latin typeface="Cambria Math" panose="02040503050406030204" charset="0"/>
                                  <a:ea typeface="MS Mincho" charset="0"/>
                                  <a:cs typeface="Cambria Math" panose="02040503050406030204" charset="0"/>
                                </a:rPr>
                                <m:t>×</m:t>
                              </m:r>
                              <m:r>
                                <a:rPr lang="en-US" altLang="zh-CN" sz="1600" i="1">
                                  <a:solidFill>
                                    <a:srgbClr val="C00000"/>
                                  </a:solidFill>
                                  <a:latin typeface="Cambria Math" panose="02040503050406030204" charset="0"/>
                                  <a:cs typeface="Cambria Math" panose="02040503050406030204" charset="0"/>
                                </a:rPr>
                                <m:t>𝑁</m:t>
                              </m:r>
                            </m:oMath>
                          </a14:m>
                          <a:r>
                            <a:rPr lang="en-US" altLang="zh-CN" sz="1600">
                              <a:latin typeface="Georgia" panose="02040502050405020303" charset="0"/>
                              <a:cs typeface="Georgia" panose="02040502050405020303" charset="0"/>
                            </a:rPr>
                            <a:t> in total</a:t>
                          </a:r>
                          <a:endParaRPr lang="en-US" altLang="zh-CN" sz="1600">
                            <a:latin typeface="Georgia" panose="02040502050405020303" charset="0"/>
                            <a:cs typeface="Georgia" panose="02040502050405020303" charset="0"/>
                          </a:endParaRPr>
                        </a:p>
                      </a:txBody>
                      <a:tcPr anchor="ctr"/>
                    </a:tc>
                  </a:tr>
                  <a:tr h="551180">
                    <a:tc>
                      <a:txBody>
                        <a:bodyPr/>
                        <a:lstStyle/>
                        <a:p>
                          <a:pPr algn="ctr">
                            <a:buNone/>
                          </a:pPr>
                          <a:r>
                            <a:rPr lang="en-US" altLang="zh-CN" sz="1600" b="1">
                              <a:latin typeface="Georgia" panose="02040502050405020303" charset="0"/>
                              <a:cs typeface="Georgia" panose="02040502050405020303" charset="0"/>
                            </a:rPr>
                            <a:t>State </a:t>
                          </a:r>
                          <a14:m>
                            <m:oMath xmlns:m="http://schemas.openxmlformats.org/officeDocument/2006/math">
                              <m:r>
                                <a:rPr lang="en-US" altLang="zh-CN" sz="1600" b="1">
                                  <a:latin typeface="Cambria Math" panose="02040503050406030204" charset="0"/>
                                  <a:ea typeface="MS Mincho" charset="0"/>
                                  <a:cs typeface="Cambria Math" panose="02040503050406030204" charset="0"/>
                                </a:rPr>
                                <m:t>𝓢</m:t>
                              </m:r>
                            </m:oMath>
                          </a14:m>
                          <a:endParaRPr lang="en-US" altLang="zh-CN" sz="1600" b="1">
                            <a:latin typeface="Cambria Math" panose="02040503050406030204" charset="0"/>
                            <a:ea typeface="MS Mincho" charset="0"/>
                            <a:cs typeface="Cambria Math" panose="02040503050406030204" charset="0"/>
                          </a:endParaRPr>
                        </a:p>
                      </a:txBody>
                      <a:tcPr anchor="ctr"/>
                    </a:tc>
                    <a:tc gridSpan="2">
                      <a:txBody>
                        <a:bodyPr/>
                        <a:lstStyle/>
                        <a:p>
                          <a:pPr algn="ctr">
                            <a:buNone/>
                          </a:pPr>
                          <a:r>
                            <a:rPr lang="en-US" altLang="zh-CN" sz="1600">
                              <a:latin typeface="Georgia" panose="02040502050405020303" charset="0"/>
                              <a:cs typeface="Georgia" panose="02040502050405020303" charset="0"/>
                            </a:rPr>
                            <a:t>the spatial distribution of customer demands and current inventories</a:t>
                          </a:r>
                          <a:endParaRPr lang="en-US" altLang="zh-CN" sz="1600">
                            <a:latin typeface="Georgia" panose="02040502050405020303" charset="0"/>
                            <a:cs typeface="Georgia" panose="02040502050405020303" charset="0"/>
                          </a:endParaRPr>
                        </a:p>
                      </a:txBody>
                      <a:tcPr anchor="ctr"/>
                    </a:tc>
                    <a:tc hMerge="1">
                      <a:tcPr anchor="ctr"/>
                    </a:tc>
                  </a:tr>
                  <a:tr h="875665">
                    <a:tc>
                      <a:txBody>
                        <a:bodyPr/>
                        <a:lstStyle/>
                        <a:p>
                          <a:pPr algn="ctr">
                            <a:buNone/>
                          </a:pPr>
                          <a:r>
                            <a:rPr lang="en-US" altLang="zh-CN" sz="1600" b="1">
                              <a:latin typeface="Georgia" panose="02040502050405020303" charset="0"/>
                              <a:cs typeface="Georgia" panose="02040502050405020303" charset="0"/>
                            </a:rPr>
                            <a:t>Observation</a:t>
                          </a:r>
                          <a:endParaRPr lang="en-US" altLang="zh-CN" sz="1600" b="1">
                            <a:latin typeface="Georgia" panose="02040502050405020303" charset="0"/>
                            <a:cs typeface="Georgia" panose="02040502050405020303" charset="0"/>
                          </a:endParaRPr>
                        </a:p>
                        <a:p>
                          <a:pPr algn="ctr">
                            <a:buNone/>
                          </a:pPr>
                          <a:r>
                            <a:rPr lang="en-US" altLang="zh-CN" sz="1600" b="1">
                              <a:latin typeface="Georgia" panose="02040502050405020303" charset="0"/>
                              <a:cs typeface="Georgia" panose="02040502050405020303" charset="0"/>
                            </a:rPr>
                            <a:t> </a:t>
                          </a:r>
                          <a14:m>
                            <m:oMath xmlns:m="http://schemas.openxmlformats.org/officeDocument/2006/math">
                              <m:r>
                                <a:rPr lang="en-US" altLang="zh-CN" sz="1600" b="1">
                                  <a:latin typeface="Cambria Math" panose="02040503050406030204" charset="0"/>
                                  <a:ea typeface="MS Mincho" charset="0"/>
                                  <a:cs typeface="Cambria Math" panose="02040503050406030204" charset="0"/>
                                </a:rPr>
                                <m:t>𝓞</m:t>
                              </m:r>
                              <m:r>
                                <a:rPr lang="en-US" altLang="zh-CN" sz="1600" b="1">
                                  <a:latin typeface="Cambria Math" panose="02040503050406030204" charset="0"/>
                                  <a:ea typeface="MS Mincho" charset="0"/>
                                  <a:cs typeface="Cambria Math" panose="02040503050406030204" charset="0"/>
                                </a:rPr>
                                <m:t>=</m:t>
                              </m:r>
                              <m:sSub>
                                <m:sSubPr>
                                  <m:ctrlPr>
                                    <a:rPr lang="en-US" altLang="zh-CN" sz="1600" b="1" i="1">
                                      <a:latin typeface="Cambria Math" panose="02040503050406030204" charset="0"/>
                                      <a:cs typeface="Cambria Math" panose="02040503050406030204" charset="0"/>
                                    </a:rPr>
                                  </m:ctrlPr>
                                </m:sSubPr>
                                <m:e>
                                  <m:r>
                                    <a:rPr lang="en-US" altLang="zh-CN" sz="1600" b="1">
                                      <a:latin typeface="Cambria Math" panose="02040503050406030204" charset="0"/>
                                      <a:ea typeface="MS Mincho" charset="0"/>
                                      <a:cs typeface="Cambria Math" panose="02040503050406030204" charset="0"/>
                                    </a:rPr>
                                    <m:t>𝓞</m:t>
                                  </m:r>
                                </m:e>
                                <m:sub>
                                  <m:r>
                                    <a:rPr lang="en-US" altLang="zh-CN" sz="1600" b="1">
                                      <a:latin typeface="Cambria Math" panose="02040503050406030204" charset="0"/>
                                      <a:cs typeface="Cambria Math" panose="02040503050406030204" charset="0"/>
                                    </a:rPr>
                                    <m:t>𝐧</m:t>
                                  </m:r>
                                </m:sub>
                              </m:sSub>
                              <m:r>
                                <a:rPr lang="en-US" altLang="zh-CN" sz="1600" b="1">
                                  <a:latin typeface="Cambria Math" panose="02040503050406030204" charset="0"/>
                                  <a:ea typeface="MS Mincho" charset="0"/>
                                  <a:cs typeface="Cambria Math" panose="02040503050406030204" charset="0"/>
                                </a:rPr>
                                <m:t>∪</m:t>
                              </m:r>
                              <m:sSub>
                                <m:sSubPr>
                                  <m:ctrlPr>
                                    <a:rPr lang="en-US" altLang="zh-CN" sz="1600" b="1" i="1">
                                      <a:latin typeface="Cambria Math" panose="02040503050406030204" charset="0"/>
                                      <a:cs typeface="Cambria Math" panose="02040503050406030204" charset="0"/>
                                    </a:rPr>
                                  </m:ctrlPr>
                                </m:sSubPr>
                                <m:e>
                                  <m:r>
                                    <a:rPr lang="en-US" altLang="zh-CN" sz="1600" b="1">
                                      <a:latin typeface="Cambria Math" panose="02040503050406030204" charset="0"/>
                                      <a:ea typeface="MS Mincho" charset="0"/>
                                      <a:cs typeface="Cambria Math" panose="02040503050406030204" charset="0"/>
                                    </a:rPr>
                                    <m:t>𝓞</m:t>
                                  </m:r>
                                </m:e>
                                <m:sub>
                                  <m:r>
                                    <a:rPr lang="en-US" altLang="zh-CN" sz="1600" b="1">
                                      <a:latin typeface="Cambria Math" panose="02040503050406030204" charset="0"/>
                                      <a:cs typeface="Cambria Math" panose="02040503050406030204" charset="0"/>
                                    </a:rPr>
                                    <m:t>𝐞</m:t>
                                  </m:r>
                                </m:sub>
                              </m:sSub>
                            </m:oMath>
                          </a14:m>
                          <a:endParaRPr lang="en-US" altLang="zh-CN" sz="1600" b="1">
                            <a:latin typeface="Cambria Math" panose="02040503050406030204" charset="0"/>
                            <a:cs typeface="Cambria Math" panose="02040503050406030204" charset="0"/>
                          </a:endParaRPr>
                        </a:p>
                      </a:txBody>
                      <a:tcPr anchor="ctr"/>
                    </a:tc>
                    <a:tc>
                      <a:txBody>
                        <a:bodyPr/>
                        <a:lstStyle/>
                        <a:p>
                          <a:pPr algn="ctr">
                            <a:buNone/>
                          </a:pP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𝑜𝑛</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a:latin typeface="Cambria Math" panose="02040503050406030204" charset="0"/>
                                      <a:ea typeface="MS Mincho" charset="0"/>
                                      <a:cs typeface="Cambria Math" panose="02040503050406030204" charset="0"/>
                                    </a:rPr>
                                    <m:t>𝒪</m:t>
                                  </m:r>
                                </m:e>
                                <m:sub>
                                  <m:r>
                                    <a:rPr lang="en-US" altLang="zh-CN" sz="1600" i="1">
                                      <a:latin typeface="Cambria Math" panose="02040503050406030204" charset="0"/>
                                      <a:cs typeface="Cambria Math" panose="02040503050406030204" charset="0"/>
                                    </a:rPr>
                                    <m:t>𝑛</m:t>
                                  </m:r>
                                </m:sub>
                                <m:sup>
                                  <m:r>
                                    <a:rPr lang="en-US" altLang="zh-CN" sz="1600" i="1">
                                      <a:latin typeface="Cambria Math" panose="02040503050406030204" charset="0"/>
                                      <a:cs typeface="Cambria Math" panose="02040503050406030204" charset="0"/>
                                    </a:rPr>
                                    <m:t>𝑖</m:t>
                                  </m:r>
                                </m:sup>
                              </m:sSubSup>
                            </m:oMath>
                          </a14:m>
                          <a:r>
                            <a:rPr lang="en-US" altLang="zh-CN" sz="1600">
                              <a:latin typeface="Georgia" panose="02040502050405020303" charset="0"/>
                              <a:cs typeface="Georgia" panose="02040502050405020303" charset="0"/>
                            </a:rPr>
                            <a:t>, including inventory levels, customer demands, in-transit orders, retailer ID</a:t>
                          </a:r>
                          <a:endParaRPr lang="en-US" altLang="zh-CN" sz="1600">
                            <a:latin typeface="Georgia" panose="02040502050405020303" charset="0"/>
                            <a:cs typeface="Georgia" panose="02040502050405020303" charset="0"/>
                          </a:endParaRPr>
                        </a:p>
                      </a:txBody>
                      <a:tcPr anchor="ctr"/>
                    </a:tc>
                    <a:tc>
                      <a:txBody>
                        <a:bodyPr/>
                        <a:lstStyle/>
                        <a:p>
                          <a:pPr algn="ctr">
                            <a:buNone/>
                          </a:pP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𝑜𝑒</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a:latin typeface="Cambria Math" panose="02040503050406030204" charset="0"/>
                                      <a:ea typeface="MS Mincho" charset="0"/>
                                      <a:cs typeface="Cambria Math" panose="02040503050406030204" charset="0"/>
                                    </a:rPr>
                                    <m:t>𝒪</m:t>
                                  </m:r>
                                </m:e>
                                <m:sub>
                                  <m:r>
                                    <m:rPr>
                                      <m:sty m:val="p"/>
                                    </m:rPr>
                                    <a:rPr lang="en-US" altLang="zh-CN" sz="1600">
                                      <a:latin typeface="Cambria Math" panose="02040503050406030204" charset="0"/>
                                      <a:ea typeface="MS Mincho" charset="0"/>
                                      <a:cs typeface="Cambria Math" panose="02040503050406030204" charset="0"/>
                                    </a:rPr>
                                    <m:t>e</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oMath>
                          </a14:m>
                          <a:r>
                            <a:rPr lang="en-US" altLang="zh-CN" sz="1600">
                              <a:latin typeface="Georgia" panose="02040502050405020303" charset="0"/>
                              <a:cs typeface="Georgia" panose="02040502050405020303" charset="0"/>
                            </a:rPr>
                            <a:t>, including difference between two node vectors, distance, edge ID</a:t>
                          </a:r>
                          <a:endParaRPr lang="en-US" altLang="zh-CN" sz="1600">
                            <a:latin typeface="Georgia" panose="02040502050405020303" charset="0"/>
                            <a:cs typeface="Georgia" panose="02040502050405020303" charset="0"/>
                          </a:endParaRPr>
                        </a:p>
                      </a:txBody>
                      <a:tcPr anchor="ctr"/>
                    </a:tc>
                  </a:tr>
                  <a:tr h="830580">
                    <a:tc>
                      <a:txBody>
                        <a:bodyPr/>
                        <a:lstStyle/>
                        <a:p>
                          <a:pPr algn="ctr">
                            <a:buNone/>
                          </a:pPr>
                          <a:r>
                            <a:rPr lang="en-US" altLang="zh-CN" sz="1600" b="1">
                              <a:latin typeface="Georgia" panose="02040502050405020303" charset="0"/>
                              <a:cs typeface="Georgia" panose="02040502050405020303" charset="0"/>
                            </a:rPr>
                            <a:t>Action</a:t>
                          </a:r>
                          <a:endParaRPr lang="en-US" altLang="zh-CN" sz="1600" b="1">
                            <a:latin typeface="Georgia" panose="02040502050405020303" charset="0"/>
                            <a:cs typeface="Georgia" panose="02040502050405020303" charset="0"/>
                          </a:endParaRPr>
                        </a:p>
                        <a:p>
                          <a:pPr algn="ctr">
                            <a:buNone/>
                          </a:pPr>
                          <a14:m>
                            <m:oMathPara xmlns:m="http://schemas.openxmlformats.org/officeDocument/2006/math">
                              <m:oMathParaPr>
                                <m:jc m:val="centerGroup"/>
                              </m:oMathParaPr>
                              <m:oMath xmlns:m="http://schemas.openxmlformats.org/officeDocument/2006/math">
                                <m:r>
                                  <a:rPr lang="en-US" altLang="zh-CN" sz="1600" b="1">
                                    <a:latin typeface="Cambria Math" panose="02040503050406030204" charset="0"/>
                                    <a:ea typeface="MS Mincho" charset="0"/>
                                    <a:cs typeface="Cambria Math" panose="02040503050406030204" charset="0"/>
                                  </a:rPr>
                                  <m:t>𝓐</m:t>
                                </m:r>
                                <m:r>
                                  <a:rPr lang="en-US" altLang="zh-CN" sz="1600" b="1">
                                    <a:latin typeface="Cambria Math" panose="02040503050406030204" charset="0"/>
                                    <a:ea typeface="MS Mincho" charset="0"/>
                                    <a:cs typeface="Cambria Math" panose="02040503050406030204" charset="0"/>
                                  </a:rPr>
                                  <m:t>=</m:t>
                                </m:r>
                                <m:sSub>
                                  <m:sSubPr>
                                    <m:ctrlPr>
                                      <a:rPr lang="en-US" altLang="zh-CN" sz="1600" b="1" i="1">
                                        <a:latin typeface="Cambria Math" panose="02040503050406030204" charset="0"/>
                                        <a:cs typeface="Cambria Math" panose="02040503050406030204" charset="0"/>
                                      </a:rPr>
                                    </m:ctrlPr>
                                  </m:sSubPr>
                                  <m:e>
                                    <m:r>
                                      <a:rPr lang="en-US" altLang="zh-CN" sz="1600" b="1">
                                        <a:latin typeface="Cambria Math" panose="02040503050406030204" charset="0"/>
                                        <a:ea typeface="MS Mincho" charset="0"/>
                                        <a:cs typeface="Cambria Math" panose="02040503050406030204" charset="0"/>
                                      </a:rPr>
                                      <m:t>𝓐</m:t>
                                    </m:r>
                                  </m:e>
                                  <m:sub>
                                    <m:r>
                                      <a:rPr lang="en-US" altLang="zh-CN" sz="1600" b="1">
                                        <a:latin typeface="Cambria Math" panose="02040503050406030204" charset="0"/>
                                        <a:cs typeface="Cambria Math" panose="02040503050406030204" charset="0"/>
                                      </a:rPr>
                                      <m:t>𝐧</m:t>
                                    </m:r>
                                  </m:sub>
                                </m:sSub>
                                <m:r>
                                  <a:rPr lang="en-US" altLang="zh-CN" sz="1600" b="1">
                                    <a:latin typeface="Cambria Math" panose="02040503050406030204" charset="0"/>
                                    <a:ea typeface="MS Mincho" charset="0"/>
                                    <a:cs typeface="Cambria Math" panose="02040503050406030204" charset="0"/>
                                  </a:rPr>
                                  <m:t>∪</m:t>
                                </m:r>
                                <m:sSub>
                                  <m:sSubPr>
                                    <m:ctrlPr>
                                      <a:rPr lang="en-US" altLang="zh-CN" sz="1600" b="1" i="1">
                                        <a:latin typeface="Cambria Math" panose="02040503050406030204" charset="0"/>
                                        <a:cs typeface="Cambria Math" panose="02040503050406030204" charset="0"/>
                                      </a:rPr>
                                    </m:ctrlPr>
                                  </m:sSubPr>
                                  <m:e>
                                    <m:r>
                                      <a:rPr lang="en-US" altLang="zh-CN" sz="1600" b="1">
                                        <a:latin typeface="Cambria Math" panose="02040503050406030204" charset="0"/>
                                        <a:ea typeface="MS Mincho" charset="0"/>
                                        <a:cs typeface="Cambria Math" panose="02040503050406030204" charset="0"/>
                                      </a:rPr>
                                      <m:t>𝓐</m:t>
                                    </m:r>
                                  </m:e>
                                  <m:sub>
                                    <m:r>
                                      <a:rPr lang="en-US" altLang="zh-CN" sz="1600" b="1">
                                        <a:latin typeface="Cambria Math" panose="02040503050406030204" charset="0"/>
                                        <a:cs typeface="Cambria Math" panose="02040503050406030204" charset="0"/>
                                      </a:rPr>
                                      <m:t>𝐞</m:t>
                                    </m:r>
                                  </m:sub>
                                </m:sSub>
                              </m:oMath>
                            </m:oMathPara>
                          </a14:m>
                          <a:endParaRPr lang="en-US" altLang="zh-CN" sz="1600" b="1">
                            <a:latin typeface="Cambria Math" panose="02040503050406030204" charset="0"/>
                            <a:cs typeface="Cambria Math" panose="02040503050406030204" charset="0"/>
                          </a:endParaRPr>
                        </a:p>
                      </a:txBody>
                      <a:tcPr anchor="ctr"/>
                    </a:tc>
                    <a:tc>
                      <a:txBody>
                        <a:bodyPr/>
                        <a:lstStyle/>
                        <a:p>
                          <a:pPr algn="ctr">
                            <a:buNone/>
                          </a:pP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𝑎𝑛</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a:latin typeface="Cambria Math" panose="02040503050406030204" charset="0"/>
                                      <a:ea typeface="MS Mincho" charset="0"/>
                                      <a:cs typeface="Cambria Math" panose="02040503050406030204" charset="0"/>
                                    </a:rPr>
                                    <m:t>𝒜</m:t>
                                  </m:r>
                                </m:e>
                                <m:sub>
                                  <m:r>
                                    <a:rPr lang="en-US" altLang="zh-CN" sz="1600" i="1">
                                      <a:latin typeface="Cambria Math" panose="02040503050406030204" charset="0"/>
                                      <a:cs typeface="Cambria Math" panose="02040503050406030204" charset="0"/>
                                    </a:rPr>
                                    <m:t>𝑛</m:t>
                                  </m:r>
                                </m:sub>
                                <m:sup>
                                  <m:r>
                                    <a:rPr lang="en-US" altLang="zh-CN" sz="1600" i="1">
                                      <a:latin typeface="Cambria Math" panose="02040503050406030204" charset="0"/>
                                      <a:cs typeface="Cambria Math" panose="02040503050406030204" charset="0"/>
                                    </a:rPr>
                                    <m:t>𝑖</m:t>
                                  </m:r>
                                </m:sup>
                              </m:sSubSup>
                              <m:r>
                                <a:rPr lang="en-US" altLang="zh-CN" sz="1600" i="1">
                                  <a:latin typeface="Cambria Math" panose="02040503050406030204" charset="0"/>
                                  <a:cs typeface="Cambria Math" panose="02040503050406030204" charset="0"/>
                                </a:rPr>
                                <m:t>=</m:t>
                              </m:r>
                              <m:d>
                                <m:dPr>
                                  <m:begChr m:val="{"/>
                                  <m:endChr m:val="}"/>
                                  <m:ctrlPr>
                                    <a:rPr lang="en-US" altLang="zh-CN" sz="1600" i="1">
                                      <a:latin typeface="Cambria Math" panose="02040503050406030204" charset="0"/>
                                      <a:cs typeface="Cambria Math" panose="02040503050406030204" charset="0"/>
                                    </a:rPr>
                                  </m:ctrlPr>
                                </m:dPr>
                                <m:e>
                                  <m:r>
                                    <a:rPr lang="en-US" altLang="zh-CN" sz="1600" i="1">
                                      <a:latin typeface="Cambria Math" panose="02040503050406030204" charset="0"/>
                                      <a:cs typeface="Cambria Math" panose="02040503050406030204" charset="0"/>
                                    </a:rPr>
                                    <m:t>0</m:t>
                                  </m:r>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𝑞</m:t>
                                      </m:r>
                                    </m:e>
                                    <m:sub>
                                      <m:r>
                                        <m:rPr>
                                          <m:sty m:val="p"/>
                                        </m:rPr>
                                        <a:rPr lang="en-US" altLang="zh-CN" sz="1600">
                                          <a:latin typeface="Cambria Math" panose="02040503050406030204" charset="0"/>
                                          <a:cs typeface="Cambria Math" panose="02040503050406030204" charset="0"/>
                                        </a:rPr>
                                        <m:t>max</m:t>
                                      </m:r>
                                    </m:sub>
                                  </m:sSub>
                                </m:e>
                              </m:d>
                            </m:oMath>
                          </a14:m>
                          <a:r>
                            <a:rPr lang="en-US" altLang="zh-CN" sz="1600">
                              <a:latin typeface="Georgia" panose="02040502050405020303" charset="0"/>
                              <a:cs typeface="Georgia" panose="02040502050405020303" charset="0"/>
                            </a:rPr>
                            <a:t>, corresponds to the replenishment quantity </a:t>
                          </a: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𝑞</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sup>
                              </m:sSubSup>
                            </m:oMath>
                          </a14:m>
                          <a:endParaRPr lang="en-US" altLang="zh-CN" sz="1600" i="1">
                            <a:latin typeface="Cambria Math" panose="02040503050406030204" charset="0"/>
                            <a:cs typeface="Cambria Math" panose="02040503050406030204" charset="0"/>
                          </a:endParaRPr>
                        </a:p>
                      </a:txBody>
                      <a:tcPr anchor="ctr"/>
                    </a:tc>
                    <a:tc>
                      <a:txBody>
                        <a:bodyPr/>
                        <a:lstStyle/>
                        <a:p>
                          <a:pPr algn="ctr">
                            <a:buNone/>
                          </a:pP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𝑎𝑒</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a:latin typeface="Cambria Math" panose="02040503050406030204" charset="0"/>
                                      <a:ea typeface="MS Mincho" charset="0"/>
                                      <a:cs typeface="Cambria Math" panose="02040503050406030204" charset="0"/>
                                    </a:rPr>
                                    <m:t>𝒜</m:t>
                                  </m:r>
                                </m:e>
                                <m:sub>
                                  <m:r>
                                    <a:rPr lang="en-US" altLang="zh-CN" sz="1600" i="1">
                                      <a:latin typeface="Cambria Math" panose="02040503050406030204" charset="0"/>
                                      <a:cs typeface="Cambria Math" panose="02040503050406030204" charset="0"/>
                                    </a:rPr>
                                    <m:t>𝑒</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r>
                                <a:rPr lang="en-US" altLang="zh-CN" sz="1600" i="1">
                                  <a:latin typeface="Cambria Math" panose="02040503050406030204" charset="0"/>
                                  <a:cs typeface="Cambria Math" panose="02040503050406030204" charset="0"/>
                                </a:rPr>
                                <m:t>=</m:t>
                              </m:r>
                              <m:d>
                                <m:dPr>
                                  <m:begChr m:val="{"/>
                                  <m:endChr m:val="}"/>
                                  <m:ctrlPr>
                                    <a:rPr lang="en-US" altLang="zh-CN" sz="1600" i="1">
                                      <a:latin typeface="Cambria Math" panose="02040503050406030204" charset="0"/>
                                      <a:cs typeface="Cambria Math" panose="02040503050406030204" charset="0"/>
                                    </a:rPr>
                                  </m:ctrlPr>
                                </m:dPr>
                                <m:e>
                                  <m:r>
                                    <a:rPr lang="en-US" altLang="zh-CN" sz="1600" i="1">
                                      <a:latin typeface="Cambria Math" panose="02040503050406030204" charset="0"/>
                                      <a:cs typeface="Cambria Math" panose="02040503050406030204" charset="0"/>
                                    </a:rPr>
                                    <m:t>0</m:t>
                                  </m:r>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𝑧</m:t>
                                      </m:r>
                                    </m:e>
                                    <m:sub>
                                      <m:r>
                                        <m:rPr>
                                          <m:sty m:val="p"/>
                                        </m:rPr>
                                        <a:rPr lang="en-US" altLang="zh-CN" sz="1600">
                                          <a:latin typeface="Cambria Math" panose="02040503050406030204" charset="0"/>
                                          <a:cs typeface="Cambria Math" panose="02040503050406030204" charset="0"/>
                                        </a:rPr>
                                        <m:t>max</m:t>
                                      </m:r>
                                    </m:sub>
                                  </m:sSub>
                                </m:e>
                              </m:d>
                            </m:oMath>
                          </a14:m>
                          <a:r>
                            <a:rPr lang="en-US" altLang="zh-CN" sz="1600">
                              <a:latin typeface="Georgia" panose="02040502050405020303" charset="0"/>
                              <a:cs typeface="Georgia" panose="02040502050405020303" charset="0"/>
                              <a:sym typeface="+mn-ea"/>
                            </a:rPr>
                            <a:t>, corresponds to the transshipment quantity </a:t>
                          </a: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𝑧</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oMath>
                          </a14:m>
                          <a:endParaRPr lang="en-US" altLang="zh-CN" sz="1600" i="1">
                            <a:latin typeface="Cambria Math" panose="02040503050406030204" charset="0"/>
                            <a:cs typeface="Cambria Math" panose="02040503050406030204" charset="0"/>
                          </a:endParaRPr>
                        </a:p>
                      </a:txBody>
                      <a:tcPr anchor="ctr"/>
                    </a:tc>
                  </a:tr>
                  <a:tr h="882015">
                    <a:tc>
                      <a:txBody>
                        <a:bodyPr/>
                        <a:lstStyle/>
                        <a:p>
                          <a:pPr algn="ctr">
                            <a:buNone/>
                          </a:pPr>
                          <a:r>
                            <a:rPr lang="en-US" altLang="zh-CN" sz="1600" b="1">
                              <a:latin typeface="Georgia" panose="02040502050405020303" charset="0"/>
                              <a:cs typeface="Georgia" panose="02040502050405020303" charset="0"/>
                            </a:rPr>
                            <a:t>Reward </a:t>
                          </a:r>
                          <a:endParaRPr lang="en-US" altLang="zh-CN" sz="1600" b="1">
                            <a:latin typeface="Georgia" panose="02040502050405020303" charset="0"/>
                            <a:cs typeface="Georgia" panose="02040502050405020303" charset="0"/>
                          </a:endParaRPr>
                        </a:p>
                        <a:p>
                          <a:pPr algn="ctr">
                            <a:buNone/>
                          </a:pPr>
                          <a14:m>
                            <m:oMathPara xmlns:m="http://schemas.openxmlformats.org/officeDocument/2006/math">
                              <m:oMathParaPr>
                                <m:jc m:val="centerGroup"/>
                              </m:oMathParaPr>
                              <m:oMath xmlns:m="http://schemas.openxmlformats.org/officeDocument/2006/math">
                                <m:r>
                                  <a:rPr lang="en-US" altLang="zh-CN" sz="1600" b="1">
                                    <a:latin typeface="Cambria Math" panose="02040503050406030204" charset="0"/>
                                    <a:ea typeface="MS Mincho" charset="0"/>
                                    <a:cs typeface="Cambria Math" panose="02040503050406030204" charset="0"/>
                                  </a:rPr>
                                  <m:t>𝓡</m:t>
                                </m:r>
                                <m:r>
                                  <a:rPr lang="en-US" altLang="zh-CN" sz="1600" b="1">
                                    <a:latin typeface="Cambria Math" panose="02040503050406030204" charset="0"/>
                                    <a:ea typeface="MS Mincho" charset="0"/>
                                    <a:cs typeface="Cambria Math" panose="02040503050406030204" charset="0"/>
                                  </a:rPr>
                                  <m:t>=</m:t>
                                </m:r>
                                <m:sSub>
                                  <m:sSubPr>
                                    <m:ctrlPr>
                                      <a:rPr lang="en-US" altLang="zh-CN" sz="1600" b="1" i="1">
                                        <a:latin typeface="Cambria Math" panose="02040503050406030204" charset="0"/>
                                        <a:cs typeface="Cambria Math" panose="02040503050406030204" charset="0"/>
                                      </a:rPr>
                                    </m:ctrlPr>
                                  </m:sSubPr>
                                  <m:e>
                                    <m:r>
                                      <a:rPr lang="en-US" altLang="zh-CN" sz="1600" b="1">
                                        <a:latin typeface="Cambria Math" panose="02040503050406030204" charset="0"/>
                                        <a:ea typeface="MS Mincho" charset="0"/>
                                        <a:cs typeface="Cambria Math" panose="02040503050406030204" charset="0"/>
                                      </a:rPr>
                                      <m:t>𝓡</m:t>
                                    </m:r>
                                  </m:e>
                                  <m:sub>
                                    <m:r>
                                      <a:rPr lang="en-US" altLang="zh-CN" sz="1600" b="1">
                                        <a:latin typeface="Cambria Math" panose="02040503050406030204" charset="0"/>
                                        <a:cs typeface="Cambria Math" panose="02040503050406030204" charset="0"/>
                                      </a:rPr>
                                      <m:t>𝐧</m:t>
                                    </m:r>
                                  </m:sub>
                                </m:sSub>
                                <m:r>
                                  <a:rPr lang="en-US" altLang="zh-CN" sz="1600" b="1">
                                    <a:latin typeface="Cambria Math" panose="02040503050406030204" charset="0"/>
                                    <a:ea typeface="MS Mincho" charset="0"/>
                                    <a:cs typeface="Cambria Math" panose="02040503050406030204" charset="0"/>
                                  </a:rPr>
                                  <m:t>∪</m:t>
                                </m:r>
                                <m:sSub>
                                  <m:sSubPr>
                                    <m:ctrlPr>
                                      <a:rPr lang="en-US" altLang="zh-CN" sz="1600" b="1" i="1">
                                        <a:latin typeface="Cambria Math" panose="02040503050406030204" charset="0"/>
                                        <a:cs typeface="Cambria Math" panose="02040503050406030204" charset="0"/>
                                      </a:rPr>
                                    </m:ctrlPr>
                                  </m:sSubPr>
                                  <m:e>
                                    <m:r>
                                      <a:rPr lang="en-US" altLang="zh-CN" sz="1600" b="1">
                                        <a:latin typeface="Cambria Math" panose="02040503050406030204" charset="0"/>
                                        <a:ea typeface="MS Mincho" charset="0"/>
                                        <a:cs typeface="Cambria Math" panose="02040503050406030204" charset="0"/>
                                      </a:rPr>
                                      <m:t>𝓡</m:t>
                                    </m:r>
                                  </m:e>
                                  <m:sub>
                                    <m:r>
                                      <a:rPr lang="en-US" altLang="zh-CN" sz="1600" b="1">
                                        <a:latin typeface="Cambria Math" panose="02040503050406030204" charset="0"/>
                                        <a:cs typeface="Cambria Math" panose="02040503050406030204" charset="0"/>
                                      </a:rPr>
                                      <m:t>𝐞</m:t>
                                    </m:r>
                                  </m:sub>
                                </m:sSub>
                              </m:oMath>
                            </m:oMathPara>
                          </a14:m>
                          <a:endParaRPr lang="en-US" altLang="zh-CN" sz="1600" b="1">
                            <a:latin typeface="Cambria Math" panose="02040503050406030204" charset="0"/>
                            <a:cs typeface="Cambria Math" panose="02040503050406030204" charset="0"/>
                          </a:endParaRPr>
                        </a:p>
                      </a:txBody>
                      <a:tcPr anchor="ctr"/>
                    </a:tc>
                    <a:tc>
                      <a:txBody>
                        <a:bodyPr/>
                        <a:lstStyle/>
                        <a:p>
                          <a:pPr algn="ctr">
                            <a:buNone/>
                          </a:pP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𝑟𝑛</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b="0">
                                      <a:latin typeface="Cambria Math" panose="02040503050406030204" charset="0"/>
                                      <a:ea typeface="MS Mincho" charset="0"/>
                                      <a:cs typeface="Cambria Math" panose="02040503050406030204" charset="0"/>
                                    </a:rPr>
                                    <m:t>ℛ</m:t>
                                  </m:r>
                                </m:e>
                                <m:sub>
                                  <m:r>
                                    <a:rPr lang="en-US" altLang="zh-CN" sz="1600" i="1">
                                      <a:latin typeface="Cambria Math" panose="02040503050406030204" charset="0"/>
                                      <a:cs typeface="Cambria Math" panose="02040503050406030204" charset="0"/>
                                    </a:rPr>
                                    <m:t>𝑛</m:t>
                                  </m:r>
                                </m:sub>
                                <m:sup>
                                  <m:r>
                                    <a:rPr lang="en-US" altLang="zh-CN" sz="1600" i="1">
                                      <a:latin typeface="Cambria Math" panose="02040503050406030204" charset="0"/>
                                      <a:cs typeface="Cambria Math" panose="02040503050406030204" charset="0"/>
                                    </a:rPr>
                                    <m:t>𝑖</m:t>
                                  </m:r>
                                </m:sup>
                              </m:sSubSup>
                            </m:oMath>
                          </a14:m>
                          <a:r>
                            <a:rPr lang="en-US" altLang="zh-CN" sz="1600">
                              <a:latin typeface="Georgia" panose="02040502050405020303" charset="0"/>
                              <a:cs typeface="Georgia" panose="02040502050405020303" charset="0"/>
                            </a:rPr>
                            <a:t>, defined the </a:t>
                          </a:r>
                          <a:r>
                            <a:rPr lang="en-US" altLang="zh-CN" sz="1600">
                              <a:solidFill>
                                <a:srgbClr val="C00000"/>
                              </a:solidFill>
                              <a:latin typeface="Georgia" panose="02040502050405020303" charset="0"/>
                              <a:cs typeface="Georgia" panose="02040502050405020303" charset="0"/>
                            </a:rPr>
                            <a:t>revenue </a:t>
                          </a:r>
                          <a14:m>
                            <m:oMath xmlns:m="http://schemas.openxmlformats.org/officeDocument/2006/math">
                              <m:sSubSup>
                                <m:sSubSupPr>
                                  <m:ctrlPr>
                                    <a:rPr lang="en-US" altLang="zh-CN" sz="1600" i="1">
                                      <a:solidFill>
                                        <a:srgbClr val="C00000"/>
                                      </a:solidFill>
                                      <a:latin typeface="Cambria Math" panose="02040503050406030204" charset="0"/>
                                      <a:cs typeface="Cambria Math" panose="02040503050406030204" charset="0"/>
                                    </a:rPr>
                                  </m:ctrlPr>
                                </m:sSubSupPr>
                                <m:e>
                                  <m:r>
                                    <a:rPr lang="en-US" altLang="zh-CN" sz="1600" i="1">
                                      <a:solidFill>
                                        <a:srgbClr val="C00000"/>
                                      </a:solidFill>
                                      <a:latin typeface="Cambria Math" panose="02040503050406030204" charset="0"/>
                                      <a:cs typeface="Cambria Math" panose="02040503050406030204" charset="0"/>
                                    </a:rPr>
                                    <m:t>𝑅𝑉</m:t>
                                  </m:r>
                                </m:e>
                                <m:sub>
                                  <m:r>
                                    <a:rPr lang="en-US" altLang="zh-CN" sz="1600" i="1">
                                      <a:solidFill>
                                        <a:srgbClr val="C00000"/>
                                      </a:solidFill>
                                      <a:latin typeface="Cambria Math" panose="02040503050406030204" charset="0"/>
                                      <a:cs typeface="Cambria Math" panose="02040503050406030204" charset="0"/>
                                    </a:rPr>
                                    <m:t>𝑡</m:t>
                                  </m:r>
                                </m:sub>
                                <m:sup>
                                  <m:r>
                                    <a:rPr lang="en-US" altLang="zh-CN" sz="1600" i="1">
                                      <a:solidFill>
                                        <a:srgbClr val="C00000"/>
                                      </a:solidFill>
                                      <a:latin typeface="Cambria Math" panose="02040503050406030204" charset="0"/>
                                      <a:cs typeface="Cambria Math" panose="02040503050406030204" charset="0"/>
                                    </a:rPr>
                                    <m:t>𝑖</m:t>
                                  </m:r>
                                </m:sup>
                              </m:sSubSup>
                            </m:oMath>
                          </a14:m>
                          <a:r>
                            <a:rPr lang="en-US" altLang="zh-CN" sz="1600">
                              <a:latin typeface="Georgia" panose="02040502050405020303" charset="0"/>
                              <a:cs typeface="Georgia" panose="02040502050405020303" charset="0"/>
                            </a:rPr>
                            <a:t> to evaluate the replenishment action </a:t>
                          </a: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𝑎𝑛</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sup>
                              </m:sSubSup>
                            </m:oMath>
                          </a14:m>
                          <a:endParaRPr lang="en-US" altLang="zh-CN" sz="1600" i="1">
                            <a:latin typeface="Cambria Math" panose="02040503050406030204" charset="0"/>
                            <a:cs typeface="Cambria Math" panose="02040503050406030204" charset="0"/>
                          </a:endParaRPr>
                        </a:p>
                      </a:txBody>
                      <a:tcPr anchor="ctr"/>
                    </a:tc>
                    <a:tc>
                      <a:txBody>
                        <a:bodyPr/>
                        <a:lstStyle/>
                        <a:p>
                          <a:pPr algn="ctr">
                            <a:buNone/>
                          </a:pP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𝑟𝑒</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b="0">
                                      <a:latin typeface="Cambria Math" panose="02040503050406030204" charset="0"/>
                                      <a:ea typeface="MS Mincho" charset="0"/>
                                      <a:cs typeface="Cambria Math" panose="02040503050406030204" charset="0"/>
                                    </a:rPr>
                                    <m:t>ℛ</m:t>
                                  </m:r>
                                </m:e>
                                <m:sub>
                                  <m:r>
                                    <a:rPr lang="en-US" altLang="zh-CN" sz="1600" i="1">
                                      <a:latin typeface="Cambria Math" panose="02040503050406030204" charset="0"/>
                                      <a:cs typeface="Cambria Math" panose="02040503050406030204" charset="0"/>
                                    </a:rPr>
                                    <m:t>𝑒</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oMath>
                          </a14:m>
                          <a:r>
                            <a:rPr lang="en-US" altLang="zh-CN" sz="1600">
                              <a:latin typeface="Georgia" panose="02040502050405020303" charset="0"/>
                              <a:cs typeface="Georgia" panose="02040502050405020303" charset="0"/>
                              <a:sym typeface="+mn-ea"/>
                            </a:rPr>
                            <a:t>, define the </a:t>
                          </a:r>
                          <a:r>
                            <a:rPr lang="en-US" altLang="zh-CN" sz="1600">
                              <a:solidFill>
                                <a:srgbClr val="C00000"/>
                              </a:solidFill>
                              <a:latin typeface="Georgia" panose="02040502050405020303" charset="0"/>
                              <a:cs typeface="Georgia" panose="02040502050405020303" charset="0"/>
                              <a:sym typeface="+mn-ea"/>
                            </a:rPr>
                            <a:t>counterfactual revenue </a:t>
                          </a:r>
                          <a14:m>
                            <m:oMath xmlns:m="http://schemas.openxmlformats.org/officeDocument/2006/math">
                              <m:sSubSup>
                                <m:sSubSupPr>
                                  <m:ctrlPr>
                                    <a:rPr lang="en-US" altLang="zh-CN" sz="1600" i="1">
                                      <a:solidFill>
                                        <a:srgbClr val="C00000"/>
                                      </a:solidFill>
                                      <a:latin typeface="Cambria Math" panose="02040503050406030204" charset="0"/>
                                      <a:cs typeface="Cambria Math" panose="02040503050406030204" charset="0"/>
                                    </a:rPr>
                                  </m:ctrlPr>
                                </m:sSubSupPr>
                                <m:e>
                                  <m:r>
                                    <a:rPr lang="en-US" altLang="zh-CN" sz="1600" i="1">
                                      <a:solidFill>
                                        <a:srgbClr val="C00000"/>
                                      </a:solidFill>
                                      <a:latin typeface="Cambria Math" panose="02040503050406030204" charset="0"/>
                                      <a:cs typeface="Cambria Math" panose="02040503050406030204" charset="0"/>
                                    </a:rPr>
                                    <m:t>𝑅𝑉</m:t>
                                  </m:r>
                                </m:e>
                                <m:sub>
                                  <m:r>
                                    <a:rPr lang="en-US" altLang="zh-CN" sz="1600" i="1">
                                      <a:solidFill>
                                        <a:srgbClr val="C00000"/>
                                      </a:solidFill>
                                      <a:latin typeface="Cambria Math" panose="02040503050406030204" charset="0"/>
                                      <a:cs typeface="Cambria Math" panose="02040503050406030204" charset="0"/>
                                    </a:rPr>
                                    <m:t>𝑡</m:t>
                                  </m:r>
                                </m:sub>
                                <m:sup>
                                  <m:r>
                                    <a:rPr lang="en-US" altLang="zh-CN" sz="1600" i="1">
                                      <a:solidFill>
                                        <a:srgbClr val="C00000"/>
                                      </a:solidFill>
                                      <a:latin typeface="Cambria Math" panose="02040503050406030204" charset="0"/>
                                      <a:cs typeface="Cambria Math" panose="02040503050406030204" charset="0"/>
                                    </a:rPr>
                                    <m:t>𝑎𝑙𝑙</m:t>
                                  </m:r>
                                </m:sup>
                              </m:sSubSup>
                              <m:r>
                                <a:rPr lang="en-US" altLang="zh-CN" sz="1600" i="1">
                                  <a:solidFill>
                                    <a:srgbClr val="C00000"/>
                                  </a:solidFill>
                                  <a:latin typeface="Cambria Math" panose="02040503050406030204" charset="0"/>
                                  <a:cs typeface="Cambria Math" panose="02040503050406030204" charset="0"/>
                                </a:rPr>
                                <m:t>−</m:t>
                              </m:r>
                              <m:sSubSup>
                                <m:sSubSupPr>
                                  <m:ctrlPr>
                                    <a:rPr lang="en-US" altLang="zh-CN" sz="1600" i="1">
                                      <a:solidFill>
                                        <a:srgbClr val="C00000"/>
                                      </a:solidFill>
                                      <a:latin typeface="Cambria Math" panose="02040503050406030204" charset="0"/>
                                      <a:cs typeface="Cambria Math" panose="02040503050406030204" charset="0"/>
                                    </a:rPr>
                                  </m:ctrlPr>
                                </m:sSubSupPr>
                                <m:e>
                                  <m:r>
                                    <a:rPr lang="en-US" altLang="zh-CN" sz="1600" i="1">
                                      <a:solidFill>
                                        <a:srgbClr val="C00000"/>
                                      </a:solidFill>
                                      <a:latin typeface="Cambria Math" panose="02040503050406030204" charset="0"/>
                                      <a:cs typeface="Cambria Math" panose="02040503050406030204" charset="0"/>
                                    </a:rPr>
                                    <m:t>𝑅𝑉</m:t>
                                  </m:r>
                                </m:e>
                                <m:sub>
                                  <m:r>
                                    <a:rPr lang="en-US" altLang="zh-CN" sz="1600" i="1">
                                      <a:solidFill>
                                        <a:srgbClr val="C00000"/>
                                      </a:solidFill>
                                      <a:latin typeface="Cambria Math" panose="02040503050406030204" charset="0"/>
                                      <a:cs typeface="Cambria Math" panose="02040503050406030204" charset="0"/>
                                    </a:rPr>
                                    <m:t>𝑡</m:t>
                                  </m:r>
                                </m:sub>
                                <m:sup>
                                  <m:r>
                                    <a:rPr lang="en-US" altLang="zh-CN" sz="1600" i="1">
                                      <a:solidFill>
                                        <a:srgbClr val="C00000"/>
                                      </a:solidFill>
                                      <a:latin typeface="Cambria Math" panose="02040503050406030204" charset="0"/>
                                      <a:cs typeface="Cambria Math" panose="02040503050406030204" charset="0"/>
                                    </a:rPr>
                                    <m:t>−(</m:t>
                                  </m:r>
                                  <m:r>
                                    <a:rPr lang="en-US" altLang="zh-CN" sz="1600" i="1">
                                      <a:solidFill>
                                        <a:srgbClr val="C00000"/>
                                      </a:solidFill>
                                      <a:latin typeface="Cambria Math" panose="02040503050406030204" charset="0"/>
                                      <a:cs typeface="Cambria Math" panose="02040503050406030204" charset="0"/>
                                    </a:rPr>
                                    <m:t>𝑖</m:t>
                                  </m:r>
                                  <m:r>
                                    <a:rPr lang="en-US" altLang="zh-CN" sz="1600" i="1">
                                      <a:solidFill>
                                        <a:srgbClr val="C00000"/>
                                      </a:solidFill>
                                      <a:latin typeface="Cambria Math" panose="02040503050406030204" charset="0"/>
                                      <a:cs typeface="Cambria Math" panose="02040503050406030204" charset="0"/>
                                    </a:rPr>
                                    <m:t>,</m:t>
                                  </m:r>
                                  <m:r>
                                    <a:rPr lang="en-US" altLang="zh-CN" sz="1600" i="1">
                                      <a:solidFill>
                                        <a:srgbClr val="C00000"/>
                                      </a:solidFill>
                                      <a:latin typeface="Cambria Math" panose="02040503050406030204" charset="0"/>
                                      <a:cs typeface="Cambria Math" panose="02040503050406030204" charset="0"/>
                                    </a:rPr>
                                    <m:t>𝑗</m:t>
                                  </m:r>
                                  <m:r>
                                    <a:rPr lang="en-US" altLang="zh-CN" sz="1600" i="1">
                                      <a:solidFill>
                                        <a:srgbClr val="C00000"/>
                                      </a:solidFill>
                                      <a:latin typeface="Cambria Math" panose="02040503050406030204" charset="0"/>
                                      <a:cs typeface="Cambria Math" panose="02040503050406030204" charset="0"/>
                                    </a:rPr>
                                    <m:t>)</m:t>
                                  </m:r>
                                </m:sup>
                              </m:sSubSup>
                            </m:oMath>
                          </a14:m>
                          <a:r>
                            <a:rPr lang="en-US" altLang="zh-CN" sz="1600">
                              <a:latin typeface="Georgia" panose="02040502050405020303" charset="0"/>
                              <a:cs typeface="Georgia" panose="02040502050405020303" charset="0"/>
                              <a:sym typeface="+mn-ea"/>
                            </a:rPr>
                            <a:t> to evaluate edge action </a:t>
                          </a:r>
                          <a14:m>
                            <m:oMath xmlns:m="http://schemas.openxmlformats.org/officeDocument/2006/math">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𝑎𝑒</m:t>
                                  </m:r>
                                </m:e>
                                <m:sub>
                                  <m:r>
                                    <a:rPr lang="en-US" altLang="zh-CN" sz="1600" i="1">
                                      <a:latin typeface="Cambria Math" panose="02040503050406030204" charset="0"/>
                                      <a:cs typeface="Cambria Math" panose="02040503050406030204" charset="0"/>
                                    </a:rPr>
                                    <m:t>𝑡</m:t>
                                  </m:r>
                                </m:sub>
                                <m:sup>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𝑗</m:t>
                                  </m:r>
                                </m:sup>
                              </m:sSubSup>
                            </m:oMath>
                          </a14:m>
                          <a:endParaRPr lang="en-US" altLang="zh-CN" sz="1600" i="1">
                            <a:latin typeface="Cambria Math" panose="02040503050406030204" charset="0"/>
                            <a:cs typeface="Cambria Math" panose="02040503050406030204" charset="0"/>
                          </a:endParaRPr>
                        </a:p>
                      </a:txBody>
                      <a:tcPr anchor="ctr"/>
                    </a:tc>
                  </a:tr>
                </a:tbl>
              </a:graphicData>
            </a:graphic>
          </p:graphicFrame>
        </mc:Choice>
        <mc:Fallback xmlns="">
          <p:graphicFrame>
            <p:nvGraphicFramePr>
              <p:cNvPr id="4" name="表格 3"/>
              <p:cNvGraphicFramePr/>
              <p:nvPr>
                <p:custDataLst>
                  <p:tags r:id="rId3"/>
                </p:custDataLst>
              </p:nvPr>
            </p:nvGraphicFramePr>
            <p:xfrm>
              <a:off x="835660" y="1899920"/>
              <a:ext cx="10783570" cy="4179570"/>
            </p:xfrm>
            <a:graphic>
              <a:graphicData uri="http://schemas.openxmlformats.org/drawingml/2006/table">
                <a:tbl>
                  <a:tblPr firstRow="1">
                    <a:tableStyleId>{5940675A-B579-460E-94D1-54222C63F5DA}</a:tableStyleId>
                  </a:tblPr>
                  <a:tblGrid>
                    <a:gridCol w="2057400"/>
                    <a:gridCol w="4434840"/>
                    <a:gridCol w="4291330"/>
                  </a:tblGrid>
                  <a:tr h="551815">
                    <a:tc>
                      <a:txBody>
                        <a:bodyPr/>
                        <a:lstStyle/>
                        <a:p>
                          <a:pPr algn="ctr">
                            <a:buNone/>
                          </a:pPr>
                          <a:endParaRPr lang="zh-CN" altLang="en-US" sz="1600" b="1">
                            <a:latin typeface="Georgia" panose="02040502050405020303" charset="0"/>
                            <a:cs typeface="Georgia" panose="02040502050405020303" charset="0"/>
                          </a:endParaRPr>
                        </a:p>
                      </a:txBody>
                      <a:tcPr anchor="ctr"/>
                    </a:tc>
                    <a:tc>
                      <a:txBody>
                        <a:bodyPr/>
                        <a:lstStyle/>
                        <a:p>
                          <a:pPr algn="ctr">
                            <a:buNone/>
                          </a:pPr>
                          <a:r>
                            <a:rPr lang="en-US" altLang="zh-CN" sz="2000" b="1">
                              <a:latin typeface="Georgia" panose="02040502050405020303" charset="0"/>
                              <a:cs typeface="Georgia" panose="02040502050405020303" charset="0"/>
                            </a:rPr>
                            <a:t>Replenishment</a:t>
                          </a:r>
                          <a:endParaRPr lang="en-US" altLang="zh-CN" sz="2000" b="1">
                            <a:latin typeface="Georgia" panose="02040502050405020303" charset="0"/>
                            <a:cs typeface="Georgia" panose="02040502050405020303" charset="0"/>
                          </a:endParaRPr>
                        </a:p>
                      </a:txBody>
                      <a:tcPr anchor="ctr"/>
                    </a:tc>
                    <a:tc>
                      <a:txBody>
                        <a:bodyPr/>
                        <a:lstStyle/>
                        <a:p>
                          <a:pPr algn="ctr">
                            <a:buNone/>
                          </a:pPr>
                          <a:r>
                            <a:rPr lang="en-US" altLang="zh-CN" sz="2000" b="1">
                              <a:latin typeface="Georgia" panose="02040502050405020303" charset="0"/>
                              <a:cs typeface="Georgia" panose="02040502050405020303" charset="0"/>
                            </a:rPr>
                            <a:t>Transshipment</a:t>
                          </a:r>
                          <a:endParaRPr lang="en-US" altLang="zh-CN" sz="2000" b="1">
                            <a:latin typeface="Georgia" panose="02040502050405020303" charset="0"/>
                            <a:cs typeface="Georgia" panose="02040502050405020303" charset="0"/>
                          </a:endParaRPr>
                        </a:p>
                      </a:txBody>
                      <a:tcPr anchor="ctr"/>
                    </a:tc>
                  </a:tr>
                  <a:tr h="488315">
                    <a:tc>
                      <a:txBody>
                        <a:bodyPr/>
                        <a:lstStyle/>
                        <a:p>
                          <a:pPr algn="ctr">
                            <a:buNone/>
                          </a:pPr>
                          <a:r>
                            <a:rPr lang="en-US" altLang="zh-CN" sz="1600" b="1">
                              <a:latin typeface="Georgia" panose="02040502050405020303" charset="0"/>
                              <a:cs typeface="Georgia" panose="02040502050405020303" charset="0"/>
                            </a:rPr>
                            <a:t>Agent</a:t>
                          </a:r>
                          <a:endParaRPr lang="en-US" altLang="zh-CN" sz="1600" b="1">
                            <a:latin typeface="Georgia" panose="02040502050405020303" charset="0"/>
                            <a:cs typeface="Georgia" panose="02040502050405020303" charset="0"/>
                          </a:endParaRPr>
                        </a:p>
                      </a:txBody>
                      <a:tcPr anchor="ctr"/>
                    </a:tc>
                    <a:tc>
                      <a:txBody>
                        <a:bodyPr/>
                        <a:lstStyle/>
                        <a:p>
                          <a:endParaRPr lang="zh-CN"/>
                        </a:p>
                      </a:txBody>
                      <a:tcPr anchor="ctr">
                        <a:blipFill>
                          <a:blip r:embed="rId4"/>
                        </a:blipFill>
                      </a:tcPr>
                    </a:tc>
                    <a:tc>
                      <a:txBody>
                        <a:bodyPr/>
                        <a:lstStyle/>
                        <a:p>
                          <a:endParaRPr lang="zh-CN"/>
                        </a:p>
                      </a:txBody>
                      <a:tcPr anchor="ctr">
                        <a:blipFill>
                          <a:blip r:embed="rId4"/>
                        </a:blipFill>
                      </a:tcPr>
                    </a:tc>
                  </a:tr>
                  <a:tr h="551180">
                    <a:tc>
                      <a:txBody>
                        <a:bodyPr/>
                        <a:lstStyle/>
                        <a:p>
                          <a:endParaRPr lang="zh-CN"/>
                        </a:p>
                      </a:txBody>
                      <a:tcPr anchor="ctr">
                        <a:blipFill>
                          <a:blip r:embed="rId4"/>
                        </a:blipFill>
                      </a:tcPr>
                    </a:tc>
                    <a:tc gridSpan="2">
                      <a:txBody>
                        <a:bodyPr/>
                        <a:lstStyle/>
                        <a:p>
                          <a:pPr algn="ctr">
                            <a:buNone/>
                          </a:pPr>
                          <a:r>
                            <a:rPr lang="en-US" altLang="zh-CN" sz="1600">
                              <a:latin typeface="Georgia" panose="02040502050405020303" charset="0"/>
                              <a:cs typeface="Georgia" panose="02040502050405020303" charset="0"/>
                            </a:rPr>
                            <a:t>the spatial distribution of customer demands and current inventories</a:t>
                          </a:r>
                          <a:endParaRPr lang="en-US" altLang="zh-CN" sz="1600">
                            <a:latin typeface="Georgia" panose="02040502050405020303" charset="0"/>
                            <a:cs typeface="Georgia" panose="02040502050405020303" charset="0"/>
                          </a:endParaRPr>
                        </a:p>
                      </a:txBody>
                      <a:tcPr anchor="ctr"/>
                    </a:tc>
                    <a:tc hMerge="1">
                      <a:tcPr anchor="ctr"/>
                    </a:tc>
                  </a:tr>
                  <a:tr h="875665">
                    <a:tc>
                      <a:txBody>
                        <a:bodyPr/>
                        <a:lstStyle/>
                        <a:p>
                          <a:endParaRPr lang="zh-CN"/>
                        </a:p>
                      </a:txBody>
                      <a:tcPr anchor="ctr">
                        <a:blipFill>
                          <a:blip r:embed="rId4"/>
                        </a:blipFill>
                      </a:tcPr>
                    </a:tc>
                    <a:tc>
                      <a:txBody>
                        <a:bodyPr/>
                        <a:lstStyle/>
                        <a:p>
                          <a:endParaRPr lang="zh-CN"/>
                        </a:p>
                      </a:txBody>
                      <a:tcPr anchor="ctr">
                        <a:blipFill>
                          <a:blip r:embed="rId4"/>
                        </a:blipFill>
                      </a:tcPr>
                    </a:tc>
                    <a:tc>
                      <a:txBody>
                        <a:bodyPr/>
                        <a:lstStyle/>
                        <a:p>
                          <a:endParaRPr lang="zh-CN"/>
                        </a:p>
                      </a:txBody>
                      <a:tcPr anchor="ctr">
                        <a:blipFill>
                          <a:blip r:embed="rId4"/>
                        </a:blipFill>
                      </a:tcPr>
                    </a:tc>
                  </a:tr>
                  <a:tr h="830580">
                    <a:tc>
                      <a:txBody>
                        <a:bodyPr/>
                        <a:lstStyle/>
                        <a:p>
                          <a:endParaRPr lang="zh-CN"/>
                        </a:p>
                      </a:txBody>
                      <a:tcPr anchor="ctr">
                        <a:blipFill>
                          <a:blip r:embed="rId4"/>
                        </a:blipFill>
                      </a:tcPr>
                    </a:tc>
                    <a:tc>
                      <a:txBody>
                        <a:bodyPr/>
                        <a:lstStyle/>
                        <a:p>
                          <a:endParaRPr lang="zh-CN"/>
                        </a:p>
                      </a:txBody>
                      <a:tcPr anchor="ctr">
                        <a:blipFill>
                          <a:blip r:embed="rId4"/>
                        </a:blipFill>
                      </a:tcPr>
                    </a:tc>
                    <a:tc>
                      <a:txBody>
                        <a:bodyPr/>
                        <a:lstStyle/>
                        <a:p>
                          <a:endParaRPr lang="zh-CN"/>
                        </a:p>
                      </a:txBody>
                      <a:tcPr anchor="ctr">
                        <a:blipFill>
                          <a:blip r:embed="rId4"/>
                        </a:blipFill>
                      </a:tcPr>
                    </a:tc>
                  </a:tr>
                  <a:tr h="882015">
                    <a:tc>
                      <a:txBody>
                        <a:bodyPr/>
                        <a:lstStyle/>
                        <a:p>
                          <a:endParaRPr lang="zh-CN"/>
                        </a:p>
                      </a:txBody>
                      <a:tcPr anchor="ctr">
                        <a:blipFill>
                          <a:blip r:embed="rId4"/>
                        </a:blipFill>
                      </a:tcPr>
                    </a:tc>
                    <a:tc>
                      <a:txBody>
                        <a:bodyPr/>
                        <a:lstStyle/>
                        <a:p>
                          <a:endParaRPr lang="zh-CN"/>
                        </a:p>
                      </a:txBody>
                      <a:tcPr anchor="ctr">
                        <a:blipFill>
                          <a:blip r:embed="rId4"/>
                        </a:blipFill>
                      </a:tcPr>
                    </a:tc>
                    <a:tc>
                      <a:txBody>
                        <a:bodyPr/>
                        <a:lstStyle/>
                        <a:p>
                          <a:endParaRPr lang="zh-CN"/>
                        </a:p>
                      </a:txBody>
                      <a:tcPr anchor="ctr">
                        <a:blipFill>
                          <a:blip r:embed="rId4"/>
                        </a:blipFill>
                      </a:tcPr>
                    </a:tc>
                  </a:tr>
                </a:tbl>
              </a:graphicData>
            </a:graphic>
          </p:graphicFrame>
        </mc:Fallback>
      </mc:AlternateContent>
      <p:sp>
        <p:nvSpPr>
          <p:cNvPr id="6" name="文本框 5"/>
          <p:cNvSpPr txBox="1"/>
          <p:nvPr/>
        </p:nvSpPr>
        <p:spPr>
          <a:xfrm>
            <a:off x="1169035" y="226060"/>
            <a:ext cx="5603875" cy="583565"/>
          </a:xfrm>
          <a:prstGeom prst="rect">
            <a:avLst/>
          </a:prstGeom>
          <a:noFill/>
        </p:spPr>
        <p:txBody>
          <a:bodyPr wrap="square" rtlCol="0">
            <a:spAutoFit/>
          </a:bodyPr>
          <a:lstStyle/>
          <a:p>
            <a:r>
              <a:rPr lang="en-US" altLang="zh-CN" sz="3200" b="1" dirty="0">
                <a:latin typeface="+mj-lt"/>
              </a:rPr>
              <a:t>MARL Formulation</a:t>
            </a:r>
            <a:endParaRPr lang="zh-CN" altLang="en-US" sz="3200" b="1" dirty="0">
              <a:latin typeface="+mj-lt"/>
            </a:endParaRPr>
          </a:p>
        </p:txBody>
      </p:sp>
      <p:sp>
        <p:nvSpPr>
          <p:cNvPr id="3" name="文本框 2"/>
          <p:cNvSpPr txBox="1"/>
          <p:nvPr/>
        </p:nvSpPr>
        <p:spPr>
          <a:xfrm>
            <a:off x="586105" y="906145"/>
            <a:ext cx="11061700" cy="860425"/>
          </a:xfrm>
          <a:prstGeom prst="rect">
            <a:avLst/>
          </a:prstGeom>
        </p:spPr>
        <p:txBody>
          <a:bodyPr wrap="square">
            <a:spAutoFit/>
          </a:bodyPr>
          <a:lstStyle/>
          <a:p>
            <a:pPr marL="285750" indent="-285750" algn="just">
              <a:lnSpc>
                <a:spcPct val="125000"/>
              </a:lnSpc>
              <a:spcBef>
                <a:spcPts val="0"/>
              </a:spcBef>
              <a:spcAft>
                <a:spcPts val="0"/>
              </a:spcAft>
              <a:buFont typeface="Arial" panose="020B0604020202020204" pitchFamily="34" charset="0"/>
              <a:buChar char="•"/>
            </a:pPr>
            <a:r>
              <a:rPr lang="en-US" altLang="zh-CN" sz="2000">
                <a:solidFill>
                  <a:srgbClr val="000000"/>
                </a:solidFill>
                <a:latin typeface="Georgia" panose="02040502050405020303" charset="0"/>
                <a:ea typeface="CMR10"/>
                <a:cs typeface="Georgia" panose="02040502050405020303" charset="0"/>
              </a:rPr>
              <a:t>Solve with MARL and formulate the corresponding problem as a </a:t>
            </a:r>
            <a:r>
              <a:rPr lang="en-US" altLang="zh-CN" sz="2000">
                <a:solidFill>
                  <a:srgbClr val="C00000"/>
                </a:solidFill>
                <a:latin typeface="Georgia" panose="02040502050405020303" charset="0"/>
                <a:ea typeface="CMR10"/>
                <a:cs typeface="Georgia" panose="02040502050405020303" charset="0"/>
              </a:rPr>
              <a:t>Partially-Observable</a:t>
            </a:r>
            <a:r>
              <a:rPr lang="en-US" altLang="zh-CN" sz="2000">
                <a:solidFill>
                  <a:srgbClr val="000000"/>
                </a:solidFill>
                <a:latin typeface="Georgia" panose="02040502050405020303" charset="0"/>
                <a:ea typeface="CMR10"/>
                <a:cs typeface="Georgia" panose="02040502050405020303" charset="0"/>
              </a:rPr>
              <a:t> Markov Decision Process (POMDP), consisting of the following components:</a:t>
            </a:r>
            <a:endParaRPr lang="en-US" altLang="zh-CN" sz="2000">
              <a:solidFill>
                <a:srgbClr val="000000"/>
              </a:solidFill>
              <a:latin typeface="Georgia" panose="02040502050405020303" charset="0"/>
              <a:ea typeface="CMR10"/>
              <a:cs typeface="Georgia" panose="02040502050405020303"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250" advTm="116315">
        <p:wipe dir="d"/>
      </p:transition>
    </mc:Choice>
    <mc:Fallback>
      <p:transition advTm="116315">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32840" y="229235"/>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sp>
        <p:nvSpPr>
          <p:cNvPr id="4" name="文本框 3"/>
          <p:cNvSpPr txBox="1"/>
          <p:nvPr/>
        </p:nvSpPr>
        <p:spPr>
          <a:xfrm>
            <a:off x="582295" y="1072515"/>
            <a:ext cx="8653780" cy="429895"/>
          </a:xfrm>
          <a:prstGeom prst="rect">
            <a:avLst/>
          </a:prstGeom>
        </p:spPr>
        <p:txBody>
          <a:bodyPr wrap="square">
            <a:spAutoFit/>
          </a:bodyPr>
          <a:lstStyle/>
          <a:p>
            <a:pPr marL="342900" indent="-342900">
              <a:buFont typeface="Wingdings" panose="05000000000000000000" charset="0"/>
              <a:buChar char="n"/>
            </a:pPr>
            <a:r>
              <a:rPr lang="en-US" altLang="zh-CN" sz="2200">
                <a:solidFill>
                  <a:srgbClr val="000000"/>
                </a:solidFill>
                <a:latin typeface="Georgia" panose="02040502050405020303" charset="0"/>
                <a:ea typeface="CMR10"/>
                <a:cs typeface="Georgia" panose="02040502050405020303" charset="0"/>
              </a:rPr>
              <a:t>The architecture of proposed framework: </a:t>
            </a:r>
            <a:r>
              <a:rPr lang="en-US" altLang="zh-CN" sz="2200" b="1">
                <a:solidFill>
                  <a:srgbClr val="000000"/>
                </a:solidFill>
                <a:latin typeface="Georgia" panose="02040502050405020303" charset="0"/>
                <a:ea typeface="CMR10"/>
                <a:cs typeface="Georgia" panose="02040502050405020303" charset="0"/>
              </a:rPr>
              <a:t>TransG</a:t>
            </a:r>
            <a:endParaRPr lang="en-US" altLang="zh-CN" sz="2200" b="1">
              <a:solidFill>
                <a:srgbClr val="000000"/>
              </a:solidFill>
              <a:latin typeface="Georgia" panose="02040502050405020303" charset="0"/>
              <a:ea typeface="CMR10"/>
              <a:cs typeface="Georgia" panose="02040502050405020303" charset="0"/>
            </a:endParaRPr>
          </a:p>
        </p:txBody>
      </p:sp>
      <p:pic>
        <p:nvPicPr>
          <p:cNvPr id="7" name="图片 6"/>
          <p:cNvPicPr>
            <a:picLocks noChangeAspect="1"/>
          </p:cNvPicPr>
          <p:nvPr/>
        </p:nvPicPr>
        <p:blipFill>
          <a:blip r:embed="rId1"/>
          <a:stretch>
            <a:fillRect/>
          </a:stretch>
        </p:blipFill>
        <p:spPr>
          <a:xfrm>
            <a:off x="789940" y="1700530"/>
            <a:ext cx="6181090" cy="4717415"/>
          </a:xfrm>
          <a:prstGeom prst="rect">
            <a:avLst/>
          </a:prstGeom>
        </p:spPr>
      </p:pic>
      <p:sp>
        <p:nvSpPr>
          <p:cNvPr id="8" name="文本框 7"/>
          <p:cNvSpPr txBox="1"/>
          <p:nvPr/>
        </p:nvSpPr>
        <p:spPr>
          <a:xfrm>
            <a:off x="7502208" y="3641725"/>
            <a:ext cx="3258820" cy="337185"/>
          </a:xfrm>
          <a:prstGeom prst="rect">
            <a:avLst/>
          </a:prstGeom>
        </p:spPr>
        <p:txBody>
          <a:bodyPr wrap="square">
            <a:spAutoFit/>
          </a:bodyPr>
          <a:lstStyle/>
          <a:p>
            <a:r>
              <a:rPr lang="en-US" altLang="zh-CN" sz="1600" b="1" u="sng">
                <a:solidFill>
                  <a:srgbClr val="000000"/>
                </a:solidFill>
                <a:latin typeface="Georgia" panose="02040502050405020303" charset="0"/>
                <a:ea typeface="CMBX12"/>
                <a:cs typeface="Georgia" panose="02040502050405020303" charset="0"/>
              </a:rPr>
              <a:t>Centralized Graph Generator</a:t>
            </a:r>
            <a:endParaRPr lang="en-US" altLang="zh-CN" sz="1600" b="1" u="sng">
              <a:solidFill>
                <a:srgbClr val="000000"/>
              </a:solidFill>
              <a:latin typeface="Georgia" panose="02040502050405020303" charset="0"/>
              <a:ea typeface="CMBX12"/>
              <a:cs typeface="Georgia" panose="02040502050405020303" charset="0"/>
            </a:endParaRPr>
          </a:p>
        </p:txBody>
      </p:sp>
      <p:sp>
        <p:nvSpPr>
          <p:cNvPr id="9" name="矩形 8"/>
          <p:cNvSpPr/>
          <p:nvPr/>
        </p:nvSpPr>
        <p:spPr>
          <a:xfrm>
            <a:off x="2409825" y="3528695"/>
            <a:ext cx="8763000" cy="1035685"/>
          </a:xfrm>
          <a:prstGeom prst="rect">
            <a:avLst/>
          </a:prstGeom>
          <a:noFill/>
          <a:ln w="28575">
            <a:solidFill>
              <a:schemeClr val="accent5"/>
            </a:solidFill>
          </a:ln>
          <a:effectLst>
            <a:outerShdw blurRad="50800" dist="38100" dir="5400000" algn="t"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409825" y="1892300"/>
            <a:ext cx="8763000" cy="1590675"/>
          </a:xfrm>
          <a:prstGeom prst="rect">
            <a:avLst/>
          </a:prstGeom>
          <a:noFill/>
          <a:ln w="28575">
            <a:solidFill>
              <a:srgbClr val="0070C0"/>
            </a:solidFill>
          </a:ln>
          <a:effectLst>
            <a:outerShdw blurRad="50800" dist="38100" dir="5400000" algn="t"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6951980" y="3950335"/>
                <a:ext cx="4172585" cy="521970"/>
              </a:xfrm>
              <a:prstGeom prst="rect">
                <a:avLst/>
              </a:prstGeom>
            </p:spPr>
            <p:txBody>
              <a:bodyPr wrap="square">
                <a:spAutoFit/>
              </a:bodyPr>
              <a:lstStyle/>
              <a:p>
                <a:pPr marL="285750" indent="-212090" algn="ctr" fontAlgn="auto">
                  <a:buFont typeface="Wingdings" panose="05000000000000000000" charset="0"/>
                  <a:buChar char="ü"/>
                </a:pPr>
                <a:r>
                  <a:rPr lang="en-US" altLang="zh-CN" sz="1400">
                    <a:solidFill>
                      <a:srgbClr val="000000"/>
                    </a:solidFill>
                    <a:latin typeface="Georgia" panose="02040502050405020303" charset="0"/>
                    <a:ea typeface="CMBX12"/>
                    <a:cs typeface="Georgia" panose="02040502050405020303" charset="0"/>
                  </a:rPr>
                  <a:t>Generate transshipment network </a:t>
                </a:r>
                <a14:m>
                  <m:oMath xmlns:m="http://schemas.openxmlformats.org/officeDocument/2006/math">
                    <m:sSub>
                      <m:sSubPr>
                        <m:ctrlPr>
                          <a:rPr lang="en-US" altLang="zh-CN" sz="1400" b="1" i="1">
                            <a:solidFill>
                              <a:schemeClr val="tx1"/>
                            </a:solidFill>
                            <a:latin typeface="Cambria Math" panose="02040503050406030204" charset="0"/>
                            <a:cs typeface="Cambria Math" panose="02040503050406030204" charset="0"/>
                          </a:rPr>
                        </m:ctrlPr>
                      </m:sSubPr>
                      <m:e>
                        <m:r>
                          <a:rPr lang="en-US" altLang="zh-CN" sz="1400" b="1" i="1">
                            <a:solidFill>
                              <a:schemeClr val="tx1"/>
                            </a:solidFill>
                            <a:latin typeface="Cambria Math" panose="02040503050406030204" charset="0"/>
                            <a:cs typeface="Cambria Math" panose="02040503050406030204" charset="0"/>
                          </a:rPr>
                          <m:t>𝑮</m:t>
                        </m:r>
                      </m:e>
                      <m:sub>
                        <m:r>
                          <a:rPr lang="en-US" altLang="zh-CN" sz="1400" b="1" i="1">
                            <a:solidFill>
                              <a:schemeClr val="tx1"/>
                            </a:solidFill>
                            <a:latin typeface="Cambria Math" panose="02040503050406030204" charset="0"/>
                            <a:cs typeface="Cambria Math" panose="02040503050406030204" charset="0"/>
                          </a:rPr>
                          <m:t>𝒕</m:t>
                        </m:r>
                      </m:sub>
                    </m:sSub>
                  </m:oMath>
                </a14:m>
                <a:endParaRPr lang="en-US" altLang="zh-CN" sz="1400">
                  <a:solidFill>
                    <a:srgbClr val="000000"/>
                  </a:solidFill>
                  <a:latin typeface="Georgia" panose="02040502050405020303" charset="0"/>
                  <a:ea typeface="CMBX12"/>
                  <a:cs typeface="Georgia" panose="02040502050405020303" charset="0"/>
                </a:endParaRPr>
              </a:p>
              <a:p>
                <a:pPr marL="285750" indent="-212090" algn="ctr" fontAlgn="auto">
                  <a:buFont typeface="Wingdings" panose="05000000000000000000" charset="0"/>
                  <a:buChar char="ü"/>
                </a:pPr>
                <a:r>
                  <a:rPr lang="en-US" altLang="zh-CN" sz="1400">
                    <a:solidFill>
                      <a:srgbClr val="000000"/>
                    </a:solidFill>
                    <a:latin typeface="Georgia" panose="02040502050405020303" charset="0"/>
                    <a:ea typeface="CMBX12"/>
                    <a:cs typeface="Georgia" panose="02040502050405020303" charset="0"/>
                  </a:rPr>
                  <a:t>Graph-theoretic loss functions for constraint</a:t>
                </a:r>
                <a:endParaRPr lang="en-US" altLang="zh-CN" sz="1400">
                  <a:solidFill>
                    <a:srgbClr val="000000"/>
                  </a:solidFill>
                  <a:latin typeface="Georgia" panose="02040502050405020303" charset="0"/>
                  <a:ea typeface="CMBX12"/>
                  <a:cs typeface="Georgia" panose="02040502050405020303"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6951980" y="3950335"/>
                <a:ext cx="4172585" cy="521970"/>
              </a:xfrm>
              <a:prstGeom prst="rect">
                <a:avLst/>
              </a:prstGeom>
              <a:blipFill rotWithShape="1">
                <a:blip r:embed="rId2"/>
                <a:stretch>
                  <a:fillRect/>
                </a:stretch>
              </a:blipFill>
            </p:spPr>
            <p:txBody>
              <a:bodyPr/>
              <a:lstStyle/>
              <a:p>
                <a:r>
                  <a:rPr lang="zh-CN" altLang="en-US">
                    <a:noFill/>
                  </a:rPr>
                  <a:t> </a:t>
                </a:r>
              </a:p>
            </p:txBody>
          </p:sp>
        </mc:Fallback>
      </mc:AlternateContent>
      <p:sp>
        <p:nvSpPr>
          <p:cNvPr id="12" name="文本框 11"/>
          <p:cNvSpPr txBox="1"/>
          <p:nvPr/>
        </p:nvSpPr>
        <p:spPr>
          <a:xfrm>
            <a:off x="7407275" y="2153285"/>
            <a:ext cx="3448685" cy="337185"/>
          </a:xfrm>
          <a:prstGeom prst="rect">
            <a:avLst/>
          </a:prstGeom>
        </p:spPr>
        <p:txBody>
          <a:bodyPr wrap="square">
            <a:spAutoFit/>
          </a:bodyPr>
          <a:lstStyle/>
          <a:p>
            <a:r>
              <a:rPr lang="en-US" altLang="zh-CN" sz="1600" b="1" u="sng">
                <a:solidFill>
                  <a:srgbClr val="000000"/>
                </a:solidFill>
                <a:latin typeface="Georgia" panose="02040502050405020303" charset="0"/>
                <a:ea typeface="CMBX12"/>
                <a:cs typeface="Georgia" panose="02040502050405020303" charset="0"/>
              </a:rPr>
              <a:t>Coordinated Policy Generation</a:t>
            </a:r>
            <a:endParaRPr lang="en-US" altLang="zh-CN" sz="1600" b="1" u="sng">
              <a:solidFill>
                <a:srgbClr val="000000"/>
              </a:solidFill>
              <a:latin typeface="Georgia" panose="02040502050405020303" charset="0"/>
              <a:ea typeface="CMBX12"/>
              <a:cs typeface="Georgia" panose="02040502050405020303" charset="0"/>
            </a:endParaRPr>
          </a:p>
        </p:txBody>
      </p:sp>
      <mc:AlternateContent xmlns:mc="http://schemas.openxmlformats.org/markup-compatibility/2006">
        <mc:Choice xmlns:a14="http://schemas.microsoft.com/office/drawing/2010/main" Requires="a14">
          <p:sp>
            <p:nvSpPr>
              <p:cNvPr id="13" name="文本框 12"/>
              <p:cNvSpPr txBox="1"/>
              <p:nvPr/>
            </p:nvSpPr>
            <p:spPr>
              <a:xfrm>
                <a:off x="7267575" y="2541905"/>
                <a:ext cx="3541395" cy="788670"/>
              </a:xfrm>
              <a:prstGeom prst="rect">
                <a:avLst/>
              </a:prstGeom>
            </p:spPr>
            <p:txBody>
              <a:bodyPr wrap="square">
                <a:spAutoFit/>
              </a:bodyPr>
              <a:lstStyle/>
              <a:p>
                <a:pPr marL="285750" indent="-212090" algn="ctr" fontAlgn="auto">
                  <a:spcBef>
                    <a:spcPts val="400"/>
                  </a:spcBef>
                  <a:buFont typeface="Wingdings" panose="05000000000000000000" charset="0"/>
                  <a:buChar char="ü"/>
                </a:pPr>
                <a:r>
                  <a:rPr lang="en-US" altLang="zh-CN" sz="1400">
                    <a:solidFill>
                      <a:srgbClr val="000000"/>
                    </a:solidFill>
                    <a:latin typeface="Georgia" panose="02040502050405020303" charset="0"/>
                    <a:ea typeface="CMBX12"/>
                    <a:cs typeface="Georgia" panose="02040502050405020303" charset="0"/>
                    <a:sym typeface="+mn-ea"/>
                  </a:rPr>
                  <a:t>Receive transshipment network </a:t>
                </a:r>
                <a14:m>
                  <m:oMath xmlns:m="http://schemas.openxmlformats.org/officeDocument/2006/math">
                    <m:sSub>
                      <m:sSubPr>
                        <m:ctrlPr>
                          <a:rPr lang="en-US" altLang="zh-CN" sz="1400" b="1" i="1">
                            <a:solidFill>
                              <a:schemeClr val="tx1"/>
                            </a:solidFill>
                            <a:latin typeface="Cambria Math" panose="02040503050406030204" charset="0"/>
                            <a:cs typeface="Cambria Math" panose="02040503050406030204" charset="0"/>
                          </a:rPr>
                        </m:ctrlPr>
                      </m:sSubPr>
                      <m:e>
                        <m:r>
                          <a:rPr lang="en-US" altLang="zh-CN" sz="1400" b="1" i="1">
                            <a:solidFill>
                              <a:schemeClr val="tx1"/>
                            </a:solidFill>
                            <a:latin typeface="Cambria Math" panose="02040503050406030204" charset="0"/>
                            <a:cs typeface="Cambria Math" panose="02040503050406030204" charset="0"/>
                          </a:rPr>
                          <m:t>𝑮</m:t>
                        </m:r>
                      </m:e>
                      <m:sub>
                        <m:r>
                          <a:rPr lang="en-US" altLang="zh-CN" sz="1400" b="1" i="1">
                            <a:solidFill>
                              <a:schemeClr val="tx1"/>
                            </a:solidFill>
                            <a:latin typeface="Cambria Math" panose="02040503050406030204" charset="0"/>
                            <a:cs typeface="Cambria Math" panose="02040503050406030204" charset="0"/>
                          </a:rPr>
                          <m:t>𝒕</m:t>
                        </m:r>
                      </m:sub>
                    </m:sSub>
                  </m:oMath>
                </a14:m>
                <a:r>
                  <a:rPr lang="en-US" altLang="zh-CN" sz="1400">
                    <a:solidFill>
                      <a:srgbClr val="000000"/>
                    </a:solidFill>
                    <a:latin typeface="Georgia" panose="02040502050405020303" charset="0"/>
                    <a:ea typeface="CMBX12"/>
                    <a:cs typeface="Georgia" panose="02040502050405020303" charset="0"/>
                    <a:sym typeface="+mn-ea"/>
                  </a:rPr>
                  <a:t> </a:t>
                </a:r>
                <a:endParaRPr lang="en-US" altLang="zh-CN" sz="1400">
                  <a:solidFill>
                    <a:srgbClr val="000000"/>
                  </a:solidFill>
                  <a:latin typeface="Georgia" panose="02040502050405020303" charset="0"/>
                  <a:ea typeface="CMBX12"/>
                  <a:cs typeface="Georgia" panose="02040502050405020303" charset="0"/>
                  <a:sym typeface="+mn-ea"/>
                </a:endParaRPr>
              </a:p>
              <a:p>
                <a:pPr marL="285750" indent="-212090" algn="ctr" fontAlgn="auto">
                  <a:spcBef>
                    <a:spcPts val="400"/>
                  </a:spcBef>
                  <a:buFont typeface="Wingdings" panose="05000000000000000000" charset="0"/>
                  <a:buChar char="ü"/>
                </a:pPr>
                <a:r>
                  <a:rPr lang="en-US" altLang="zh-CN" sz="1400">
                    <a:solidFill>
                      <a:srgbClr val="000000"/>
                    </a:solidFill>
                    <a:latin typeface="Georgia" panose="02040502050405020303" charset="0"/>
                    <a:ea typeface="CMBX12"/>
                    <a:cs typeface="Georgia" panose="02040502050405020303" charset="0"/>
                    <a:sym typeface="+mn-ea"/>
                  </a:rPr>
                  <a:t>Intention-awareness mechanism to enhance agent observation</a:t>
                </a:r>
                <a:endParaRPr lang="en-US" altLang="zh-CN" sz="1400">
                  <a:solidFill>
                    <a:srgbClr val="000000"/>
                  </a:solidFill>
                  <a:latin typeface="Georgia" panose="02040502050405020303" charset="0"/>
                  <a:ea typeface="CMBX12"/>
                  <a:cs typeface="Georgia" panose="02040502050405020303"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7267575" y="2541905"/>
                <a:ext cx="3541395" cy="788670"/>
              </a:xfrm>
              <a:prstGeom prst="rect">
                <a:avLst/>
              </a:prstGeom>
              <a:blipFill rotWithShape="1">
                <a:blip r:embed="rId3"/>
                <a:stretch>
                  <a:fillRect/>
                </a:stretch>
              </a:blipFill>
            </p:spPr>
            <p:txBody>
              <a:bodyPr/>
              <a:lstStyle/>
              <a:p>
                <a:r>
                  <a:rPr lang="zh-CN" altLang="en-US">
                    <a:noFill/>
                  </a:rPr>
                  <a:t> </a:t>
                </a:r>
              </a:p>
            </p:txBody>
          </p:sp>
        </mc:Fallback>
      </mc:AlternateContent>
      <p:sp>
        <p:nvSpPr>
          <p:cNvPr id="14" name="矩形 13"/>
          <p:cNvSpPr/>
          <p:nvPr/>
        </p:nvSpPr>
        <p:spPr>
          <a:xfrm>
            <a:off x="2409825" y="4610100"/>
            <a:ext cx="8763000" cy="1644650"/>
          </a:xfrm>
          <a:prstGeom prst="rect">
            <a:avLst/>
          </a:prstGeom>
          <a:noFill/>
          <a:ln w="28575">
            <a:solidFill>
              <a:schemeClr val="accent6">
                <a:lumMod val="75000"/>
              </a:schemeClr>
            </a:solidFill>
          </a:ln>
          <a:effectLst>
            <a:outerShdw blurRad="50800" dist="38100" dir="5400000" algn="t"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75000"/>
                </a:schemeClr>
              </a:solidFill>
            </a:endParaRPr>
          </a:p>
        </p:txBody>
      </p:sp>
      <p:sp>
        <p:nvSpPr>
          <p:cNvPr id="15" name="文本框 14"/>
          <p:cNvSpPr txBox="1"/>
          <p:nvPr/>
        </p:nvSpPr>
        <p:spPr>
          <a:xfrm>
            <a:off x="7407275" y="4888230"/>
            <a:ext cx="3448685" cy="337185"/>
          </a:xfrm>
          <a:prstGeom prst="rect">
            <a:avLst/>
          </a:prstGeom>
        </p:spPr>
        <p:txBody>
          <a:bodyPr wrap="square">
            <a:spAutoFit/>
          </a:bodyPr>
          <a:lstStyle/>
          <a:p>
            <a:pPr algn="ctr"/>
            <a:r>
              <a:rPr lang="en-US" altLang="zh-CN" sz="1600" b="1" u="sng">
                <a:solidFill>
                  <a:srgbClr val="000000"/>
                </a:solidFill>
                <a:latin typeface="Georgia" panose="02040502050405020303" charset="0"/>
                <a:ea typeface="CMBX12"/>
                <a:cs typeface="Georgia" panose="02040502050405020303" charset="0"/>
              </a:rPr>
              <a:t>Critic for Actor Training</a:t>
            </a:r>
            <a:endParaRPr lang="en-US" altLang="zh-CN" sz="1600" b="1" u="sng">
              <a:solidFill>
                <a:srgbClr val="000000"/>
              </a:solidFill>
              <a:latin typeface="Georgia" panose="02040502050405020303" charset="0"/>
              <a:ea typeface="CMBX12"/>
              <a:cs typeface="Georgia" panose="02040502050405020303" charset="0"/>
            </a:endParaRPr>
          </a:p>
        </p:txBody>
      </p:sp>
      <p:sp>
        <p:nvSpPr>
          <p:cNvPr id="17" name="文本框 16"/>
          <p:cNvSpPr txBox="1"/>
          <p:nvPr/>
        </p:nvSpPr>
        <p:spPr>
          <a:xfrm>
            <a:off x="7277100" y="5252720"/>
            <a:ext cx="3561715" cy="788670"/>
          </a:xfrm>
          <a:prstGeom prst="rect">
            <a:avLst/>
          </a:prstGeom>
        </p:spPr>
        <p:txBody>
          <a:bodyPr wrap="square">
            <a:spAutoFit/>
          </a:bodyPr>
          <a:lstStyle/>
          <a:p>
            <a:pPr marL="285750" indent="-212090" algn="ctr" fontAlgn="auto">
              <a:spcBef>
                <a:spcPts val="400"/>
              </a:spcBef>
              <a:buFont typeface="Wingdings" panose="05000000000000000000" charset="0"/>
              <a:buChar char="ü"/>
            </a:pPr>
            <a:r>
              <a:rPr lang="en-US" altLang="zh-CN" sz="1400">
                <a:solidFill>
                  <a:srgbClr val="000000"/>
                </a:solidFill>
                <a:latin typeface="Georgia" panose="02040502050405020303" charset="0"/>
                <a:ea typeface="CMBX12"/>
                <a:cs typeface="Georgia" panose="02040502050405020303" charset="0"/>
                <a:sym typeface="+mn-ea"/>
              </a:rPr>
              <a:t>Guide policy training</a:t>
            </a:r>
            <a:endParaRPr lang="en-US" altLang="zh-CN" sz="1400">
              <a:solidFill>
                <a:srgbClr val="000000"/>
              </a:solidFill>
              <a:latin typeface="Georgia" panose="02040502050405020303" charset="0"/>
              <a:ea typeface="CMBX12"/>
              <a:cs typeface="Georgia" panose="02040502050405020303" charset="0"/>
            </a:endParaRPr>
          </a:p>
          <a:p>
            <a:pPr marL="285750" indent="-212090" algn="ctr" fontAlgn="auto">
              <a:spcBef>
                <a:spcPts val="400"/>
              </a:spcBef>
              <a:buFont typeface="Wingdings" panose="05000000000000000000" charset="0"/>
              <a:buChar char="ü"/>
            </a:pPr>
            <a:r>
              <a:rPr lang="en-US" altLang="zh-CN" sz="1400">
                <a:solidFill>
                  <a:srgbClr val="000000"/>
                </a:solidFill>
                <a:latin typeface="Georgia" panose="02040502050405020303" charset="0"/>
                <a:ea typeface="CMBX12"/>
                <a:cs typeface="Georgia" panose="02040502050405020303" charset="0"/>
                <a:sym typeface="+mn-ea"/>
              </a:rPr>
              <a:t>MAPPO Algorithm with </a:t>
            </a:r>
            <a:r>
              <a:rPr lang="en-US" altLang="zh-CN" sz="1400">
                <a:solidFill>
                  <a:srgbClr val="000000"/>
                </a:solidFill>
                <a:latin typeface="Georgia" panose="02040502050405020303" charset="0"/>
                <a:ea typeface="CMBX12"/>
                <a:cs typeface="Georgia" panose="02040502050405020303" charset="0"/>
              </a:rPr>
              <a:t>agent-specific global observation </a:t>
            </a:r>
            <a:endParaRPr lang="en-US" altLang="zh-CN" sz="1400">
              <a:solidFill>
                <a:srgbClr val="000000"/>
              </a:solidFill>
              <a:latin typeface="Georgia" panose="02040502050405020303" charset="0"/>
              <a:ea typeface="CMBX12"/>
              <a:cs typeface="Georgia" panose="02040502050405020303" charset="0"/>
            </a:endParaRPr>
          </a:p>
        </p:txBody>
      </p:sp>
      <p:sp>
        <p:nvSpPr>
          <p:cNvPr id="3" name="矩形 2"/>
          <p:cNvSpPr/>
          <p:nvPr/>
        </p:nvSpPr>
        <p:spPr>
          <a:xfrm>
            <a:off x="4829810" y="3689350"/>
            <a:ext cx="897890" cy="808355"/>
          </a:xfrm>
          <a:prstGeom prst="rect">
            <a:avLst/>
          </a:prstGeom>
          <a:noFill/>
          <a:ln w="28575">
            <a:solidFill>
              <a:srgbClr val="C00000"/>
            </a:solidFill>
            <a:prstDash val="sysDot"/>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865245" y="3152140"/>
            <a:ext cx="265430" cy="236220"/>
          </a:xfrm>
          <a:prstGeom prst="rect">
            <a:avLst/>
          </a:prstGeom>
          <a:noFill/>
          <a:ln w="28575">
            <a:solidFill>
              <a:srgbClr val="C00000"/>
            </a:solidFill>
            <a:prstDash val="sysDot"/>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09670" y="2541905"/>
            <a:ext cx="751205" cy="352425"/>
          </a:xfrm>
          <a:prstGeom prst="rect">
            <a:avLst/>
          </a:prstGeom>
          <a:noFill/>
          <a:ln w="28575">
            <a:solidFill>
              <a:srgbClr val="C00000"/>
            </a:solidFill>
            <a:prstDash val="sysDot"/>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250" advTm="63777">
        <p:wipe dir="d"/>
      </p:transition>
    </mc:Choice>
    <mc:Fallback>
      <p:transition advTm="63777">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childTnLst>
                          </p:cTn>
                        </p:par>
                        <p:par>
                          <p:cTn id="14" fill="hold">
                            <p:stCondLst>
                              <p:cond delay="500"/>
                            </p:stCondLst>
                            <p:childTnLst>
                              <p:par>
                                <p:cTn id="15" presetID="21" presetClass="entr" presetSubtype="1" fill="hold" grpId="0" nodeType="afterEffect">
                                  <p:stCondLst>
                                    <p:cond delay="0"/>
                                  </p:stCondLst>
                                  <p:childTnLst>
                                    <p:set>
                                      <p:cBhvr>
                                        <p:cTn id="16" dur="1000" fill="hold">
                                          <p:stCondLst>
                                            <p:cond delay="0"/>
                                          </p:stCondLst>
                                        </p:cTn>
                                        <p:tgtEl>
                                          <p:spTgt spid="3"/>
                                        </p:tgtEl>
                                        <p:attrNameLst>
                                          <p:attrName>style.visibility</p:attrName>
                                        </p:attrNameLst>
                                      </p:cBhvr>
                                      <p:to>
                                        <p:strVal val="visible"/>
                                      </p:to>
                                    </p:set>
                                    <p:animEffect transition="in" filter="wheel(1)">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randombar(horizontal)">
                                      <p:cBhvr>
                                        <p:cTn id="22" dur="500"/>
                                        <p:tgtEl>
                                          <p:spTgt spid="12"/>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randombar(horizontal)">
                                      <p:cBhvr>
                                        <p:cTn id="25" dur="500"/>
                                        <p:tgtEl>
                                          <p:spTgt spid="13"/>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randombar(horizontal)">
                                      <p:cBhvr>
                                        <p:cTn id="28" dur="500"/>
                                        <p:tgtEl>
                                          <p:spTgt spid="10"/>
                                        </p:tgtEl>
                                      </p:cBhvr>
                                    </p:animEffect>
                                  </p:childTnLst>
                                </p:cTn>
                              </p:par>
                            </p:childTnLst>
                          </p:cTn>
                        </p:par>
                        <p:par>
                          <p:cTn id="29" fill="hold">
                            <p:stCondLst>
                              <p:cond delay="500"/>
                            </p:stCondLst>
                            <p:childTnLst>
                              <p:par>
                                <p:cTn id="30" presetID="21" presetClass="entr" presetSubtype="1" fill="hold" grpId="0" nodeType="afterEffect">
                                  <p:stCondLst>
                                    <p:cond delay="0"/>
                                  </p:stCondLst>
                                  <p:childTnLst>
                                    <p:set>
                                      <p:cBhvr>
                                        <p:cTn id="31" dur="1000" fill="hold">
                                          <p:stCondLst>
                                            <p:cond delay="0"/>
                                          </p:stCondLst>
                                        </p:cTn>
                                        <p:tgtEl>
                                          <p:spTgt spid="5"/>
                                        </p:tgtEl>
                                        <p:attrNameLst>
                                          <p:attrName>style.visibility</p:attrName>
                                        </p:attrNameLst>
                                      </p:cBhvr>
                                      <p:to>
                                        <p:strVal val="visible"/>
                                      </p:to>
                                    </p:set>
                                    <p:animEffect transition="in" filter="wheel(1)">
                                      <p:cBhvr>
                                        <p:cTn id="32" dur="1000"/>
                                        <p:tgtEl>
                                          <p:spTgt spid="5"/>
                                        </p:tgtEl>
                                      </p:cBhvr>
                                    </p:animEffect>
                                  </p:childTnLst>
                                </p:cTn>
                              </p:par>
                            </p:childTnLst>
                          </p:cTn>
                        </p:par>
                        <p:par>
                          <p:cTn id="33" fill="hold">
                            <p:stCondLst>
                              <p:cond delay="1500"/>
                            </p:stCondLst>
                            <p:childTnLst>
                              <p:par>
                                <p:cTn id="34" presetID="21" presetClass="entr" presetSubtype="1" fill="hold" grpId="0" nodeType="afterEffect">
                                  <p:stCondLst>
                                    <p:cond delay="0"/>
                                  </p:stCondLst>
                                  <p:childTnLst>
                                    <p:set>
                                      <p:cBhvr>
                                        <p:cTn id="35" dur="1000" fill="hold">
                                          <p:stCondLst>
                                            <p:cond delay="0"/>
                                          </p:stCondLst>
                                        </p:cTn>
                                        <p:tgtEl>
                                          <p:spTgt spid="16"/>
                                        </p:tgtEl>
                                        <p:attrNameLst>
                                          <p:attrName>style.visibility</p:attrName>
                                        </p:attrNameLst>
                                      </p:cBhvr>
                                      <p:to>
                                        <p:strVal val="visible"/>
                                      </p:to>
                                    </p:set>
                                    <p:animEffect transition="in" filter="wheel(1)">
                                      <p:cBhvr>
                                        <p:cTn id="36" dur="10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randombar(horizontal)">
                                      <p:cBhvr>
                                        <p:cTn id="41" dur="500"/>
                                        <p:tgtEl>
                                          <p:spTgt spid="15"/>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randombar(horizontal)">
                                      <p:cBhvr>
                                        <p:cTn id="44" dur="500"/>
                                        <p:tgtEl>
                                          <p:spTgt spid="17"/>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randombar(horizontal)">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bldLvl="0" animBg="1"/>
      <p:bldP spid="9" grpId="1" animBg="1"/>
      <p:bldP spid="10" grpId="0" bldLvl="0" animBg="1"/>
      <p:bldP spid="10" grpId="1" animBg="1"/>
      <p:bldP spid="11" grpId="0"/>
      <p:bldP spid="11" grpId="1"/>
      <p:bldP spid="12" grpId="0"/>
      <p:bldP spid="12" grpId="1"/>
      <p:bldP spid="13" grpId="0"/>
      <p:bldP spid="13" grpId="1"/>
      <p:bldP spid="14" grpId="0" bldLvl="0" animBg="1"/>
      <p:bldP spid="14" grpId="1" animBg="1"/>
      <p:bldP spid="15" grpId="0"/>
      <p:bldP spid="15" grpId="1"/>
      <p:bldP spid="17" grpId="0"/>
      <p:bldP spid="17" grpId="1"/>
      <p:bldP spid="3" grpId="0" animBg="1"/>
      <p:bldP spid="3" grpId="1" animBg="1"/>
      <p:bldP spid="5" grpId="0" bldLvl="0" animBg="1"/>
      <p:bldP spid="5" grpId="1" animBg="1"/>
      <p:bldP spid="16" grpId="0" bldLvl="0" animBg="1"/>
      <p:bldP spid="1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30225" y="1616710"/>
            <a:ext cx="6181090" cy="471741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72210" y="236220"/>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sp>
        <p:nvSpPr>
          <p:cNvPr id="4" name="文本框 3"/>
          <p:cNvSpPr txBox="1"/>
          <p:nvPr/>
        </p:nvSpPr>
        <p:spPr>
          <a:xfrm>
            <a:off x="542290" y="1007110"/>
            <a:ext cx="8130540" cy="429895"/>
          </a:xfrm>
          <a:prstGeom prst="rect">
            <a:avLst/>
          </a:prstGeom>
        </p:spPr>
        <p:txBody>
          <a:bodyPr wrap="square">
            <a:spAutoFit/>
          </a:bodyPr>
          <a:lstStyle/>
          <a:p>
            <a:pPr marL="342900" indent="-342900">
              <a:buFont typeface="Wingdings" panose="05000000000000000000" charset="0"/>
              <a:buChar char="n"/>
            </a:pPr>
            <a:r>
              <a:rPr lang="en-US" altLang="zh-CN" sz="2200">
                <a:solidFill>
                  <a:srgbClr val="000000"/>
                </a:solidFill>
                <a:latin typeface="Georgia" panose="02040502050405020303" charset="0"/>
                <a:ea typeface="CMBX12"/>
                <a:cs typeface="Georgia" panose="02040502050405020303" charset="0"/>
                <a:sym typeface="+mn-ea"/>
              </a:rPr>
              <a:t>Centralized Graph Generator: Encoder-Decoder Structure</a:t>
            </a:r>
            <a:endParaRPr lang="en-US" altLang="zh-CN" sz="2200">
              <a:solidFill>
                <a:srgbClr val="000000"/>
              </a:solidFill>
              <a:latin typeface="Georgia" panose="02040502050405020303" charset="0"/>
              <a:ea typeface="CMBX12"/>
              <a:cs typeface="Georgia" panose="02040502050405020303" charset="0"/>
              <a:sym typeface="+mn-ea"/>
            </a:endParaRPr>
          </a:p>
        </p:txBody>
      </p:sp>
      <p:sp>
        <p:nvSpPr>
          <p:cNvPr id="9" name="矩形 8"/>
          <p:cNvSpPr/>
          <p:nvPr/>
        </p:nvSpPr>
        <p:spPr>
          <a:xfrm>
            <a:off x="2172970" y="3444875"/>
            <a:ext cx="3590925" cy="1035685"/>
          </a:xfrm>
          <a:prstGeom prst="rect">
            <a:avLst/>
          </a:prstGeom>
          <a:noFill/>
          <a:ln w="28575">
            <a:solidFill>
              <a:srgbClr val="C00000"/>
            </a:solidFill>
          </a:ln>
          <a:effectLst>
            <a:outerShdw blurRad="50800" dist="38100" dir="5400000" algn="t"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7039610" y="1478915"/>
            <a:ext cx="3637915" cy="368300"/>
          </a:xfrm>
          <a:prstGeom prst="rect">
            <a:avLst/>
          </a:prstGeom>
          <a:noFill/>
        </p:spPr>
        <p:txBody>
          <a:bodyPr wrap="square" rtlCol="0">
            <a:spAutoFit/>
          </a:bodyPr>
          <a:lstStyle/>
          <a:p>
            <a:pPr indent="0">
              <a:buFont typeface="Wingdings" panose="05000000000000000000" charset="0"/>
              <a:buNone/>
            </a:pPr>
            <a:r>
              <a:rPr lang="en-US" altLang="zh-CN" b="1">
                <a:latin typeface="Georgia" panose="02040502050405020303" charset="0"/>
                <a:cs typeface="Georgia" panose="02040502050405020303" charset="0"/>
              </a:rPr>
              <a:t>Encoder</a:t>
            </a:r>
            <a:endParaRPr lang="en-US" altLang="zh-CN" b="1">
              <a:latin typeface="Georgia" panose="02040502050405020303" charset="0"/>
              <a:cs typeface="Georgia" panose="02040502050405020303" charset="0"/>
            </a:endParaRPr>
          </a:p>
        </p:txBody>
      </p:sp>
      <p:sp>
        <p:nvSpPr>
          <p:cNvPr id="8" name="文本框 7"/>
          <p:cNvSpPr txBox="1"/>
          <p:nvPr/>
        </p:nvSpPr>
        <p:spPr>
          <a:xfrm>
            <a:off x="6925310" y="1868170"/>
            <a:ext cx="4393565"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Extract feature with historical node actions:</a:t>
            </a:r>
            <a:endParaRPr lang="en-US" altLang="zh-CN" sz="1600">
              <a:solidFill>
                <a:srgbClr val="000000"/>
              </a:solidFill>
              <a:latin typeface="Georgia" panose="02040502050405020303" charset="0"/>
              <a:ea typeface="CMBX12"/>
              <a:cs typeface="Georgia" panose="02040502050405020303" charset="0"/>
              <a:sym typeface="+mn-ea"/>
            </a:endParaRPr>
          </a:p>
        </p:txBody>
      </p:sp>
      <p:grpSp>
        <p:nvGrpSpPr>
          <p:cNvPr id="22" name="组合 21"/>
          <p:cNvGrpSpPr/>
          <p:nvPr/>
        </p:nvGrpSpPr>
        <p:grpSpPr>
          <a:xfrm>
            <a:off x="7686040" y="2226310"/>
            <a:ext cx="3395980" cy="386715"/>
            <a:chOff x="12104" y="3683"/>
            <a:chExt cx="5348" cy="609"/>
          </a:xfrm>
        </p:grpSpPr>
        <p:sp>
          <p:nvSpPr>
            <p:cNvPr id="19" name="矩形 18"/>
            <p:cNvSpPr/>
            <p:nvPr/>
          </p:nvSpPr>
          <p:spPr>
            <a:xfrm>
              <a:off x="13760" y="3760"/>
              <a:ext cx="474" cy="53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12104" y="3683"/>
              <a:ext cx="5349" cy="609"/>
            </a:xfrm>
            <a:prstGeom prst="rect">
              <a:avLst/>
            </a:prstGeom>
          </p:spPr>
        </p:pic>
      </p:grpSp>
      <p:sp>
        <p:nvSpPr>
          <p:cNvPr id="13" name="文本框 12"/>
          <p:cNvSpPr txBox="1"/>
          <p:nvPr/>
        </p:nvSpPr>
        <p:spPr>
          <a:xfrm>
            <a:off x="6925310" y="2633980"/>
            <a:ext cx="4855845"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Encode with transformer-style attention layers:</a:t>
            </a:r>
            <a:endParaRPr lang="zh-CN" altLang="en-US" sz="1600">
              <a:solidFill>
                <a:srgbClr val="000000"/>
              </a:solidFill>
              <a:latin typeface="Georgia" panose="02040502050405020303" charset="0"/>
              <a:ea typeface="宋体" panose="02010600030101010101" pitchFamily="2" charset="-122"/>
              <a:cs typeface="Georgia" panose="02040502050405020303" charset="0"/>
              <a:sym typeface="+mn-ea"/>
            </a:endParaRPr>
          </a:p>
        </p:txBody>
      </p:sp>
      <p:pic>
        <p:nvPicPr>
          <p:cNvPr id="14" name="图片 13"/>
          <p:cNvPicPr>
            <a:picLocks noChangeAspect="1"/>
          </p:cNvPicPr>
          <p:nvPr/>
        </p:nvPicPr>
        <p:blipFill>
          <a:blip r:embed="rId3"/>
          <a:stretch>
            <a:fillRect/>
          </a:stretch>
        </p:blipFill>
        <p:spPr>
          <a:xfrm>
            <a:off x="7414260" y="2992120"/>
            <a:ext cx="4032250" cy="1944370"/>
          </a:xfrm>
          <a:prstGeom prst="rect">
            <a:avLst/>
          </a:prstGeom>
        </p:spPr>
      </p:pic>
      <p:sp>
        <p:nvSpPr>
          <p:cNvPr id="16" name="文本框 15"/>
          <p:cNvSpPr txBox="1"/>
          <p:nvPr/>
        </p:nvSpPr>
        <p:spPr>
          <a:xfrm>
            <a:off x="7039610" y="4843145"/>
            <a:ext cx="3637915" cy="368300"/>
          </a:xfrm>
          <a:prstGeom prst="rect">
            <a:avLst/>
          </a:prstGeom>
          <a:noFill/>
        </p:spPr>
        <p:txBody>
          <a:bodyPr wrap="square" rtlCol="0">
            <a:spAutoFit/>
          </a:bodyPr>
          <a:lstStyle/>
          <a:p>
            <a:pPr indent="0">
              <a:buFont typeface="Wingdings" panose="05000000000000000000" charset="0"/>
              <a:buNone/>
            </a:pPr>
            <a:r>
              <a:rPr lang="en-US" altLang="zh-CN" b="1">
                <a:latin typeface="Georgia" panose="02040502050405020303" charset="0"/>
                <a:cs typeface="Georgia" panose="02040502050405020303" charset="0"/>
              </a:rPr>
              <a:t>Decoder</a:t>
            </a:r>
            <a:endParaRPr lang="en-US" altLang="zh-CN" b="1">
              <a:latin typeface="Georgia" panose="02040502050405020303" charset="0"/>
              <a:cs typeface="Georgia" panose="02040502050405020303" charset="0"/>
            </a:endParaRPr>
          </a:p>
        </p:txBody>
      </p:sp>
      <p:sp>
        <p:nvSpPr>
          <p:cNvPr id="17" name="文本框 16"/>
          <p:cNvSpPr txBox="1"/>
          <p:nvPr/>
        </p:nvSpPr>
        <p:spPr>
          <a:xfrm>
            <a:off x="6955790" y="5232400"/>
            <a:ext cx="5121910"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Construct pairwise relationship between node pairs:</a:t>
            </a:r>
            <a:endParaRPr lang="zh-CN" altLang="en-US" sz="1600">
              <a:solidFill>
                <a:srgbClr val="000000"/>
              </a:solidFill>
              <a:latin typeface="Georgia" panose="02040502050405020303" charset="0"/>
              <a:ea typeface="宋体" panose="02010600030101010101" pitchFamily="2" charset="-122"/>
              <a:cs typeface="Georgia" panose="02040502050405020303" charset="0"/>
              <a:sym typeface="+mn-ea"/>
            </a:endParaRPr>
          </a:p>
        </p:txBody>
      </p:sp>
      <p:grpSp>
        <p:nvGrpSpPr>
          <p:cNvPr id="23" name="组合 22"/>
          <p:cNvGrpSpPr/>
          <p:nvPr/>
        </p:nvGrpSpPr>
        <p:grpSpPr>
          <a:xfrm>
            <a:off x="7143115" y="5590540"/>
            <a:ext cx="4705350" cy="377190"/>
            <a:chOff x="11249" y="8916"/>
            <a:chExt cx="7410" cy="594"/>
          </a:xfrm>
        </p:grpSpPr>
        <p:sp>
          <p:nvSpPr>
            <p:cNvPr id="20" name="矩形 19"/>
            <p:cNvSpPr/>
            <p:nvPr/>
          </p:nvSpPr>
          <p:spPr>
            <a:xfrm>
              <a:off x="16210" y="8951"/>
              <a:ext cx="461" cy="53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7364" y="8951"/>
              <a:ext cx="461" cy="53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11249" y="8916"/>
              <a:ext cx="7410" cy="595"/>
            </a:xfrm>
            <a:prstGeom prst="rect">
              <a:avLst/>
            </a:prstGeom>
          </p:spPr>
        </p:pic>
      </p:grpSp>
      <p:sp>
        <p:nvSpPr>
          <p:cNvPr id="24" name="文本框 23"/>
          <p:cNvSpPr txBox="1"/>
          <p:nvPr/>
        </p:nvSpPr>
        <p:spPr>
          <a:xfrm>
            <a:off x="9433560" y="5975985"/>
            <a:ext cx="694690" cy="245110"/>
          </a:xfrm>
          <a:prstGeom prst="rect">
            <a:avLst/>
          </a:prstGeom>
          <a:noFill/>
        </p:spPr>
        <p:txBody>
          <a:bodyPr wrap="square" rtlCol="0">
            <a:spAutoFit/>
          </a:bodyPr>
          <a:lstStyle/>
          <a:p>
            <a:pPr algn="ctr"/>
            <a:r>
              <a:rPr lang="en-US" altLang="zh-CN" sz="1000"/>
              <a:t>sample</a:t>
            </a:r>
            <a:endParaRPr lang="en-US" altLang="zh-CN" sz="1000"/>
          </a:p>
        </p:txBody>
      </p:sp>
      <p:pic>
        <p:nvPicPr>
          <p:cNvPr id="7" name="图片 6"/>
          <p:cNvPicPr>
            <a:picLocks noChangeAspect="1"/>
          </p:cNvPicPr>
          <p:nvPr/>
        </p:nvPicPr>
        <p:blipFill>
          <a:blip r:embed="rId5"/>
          <a:stretch>
            <a:fillRect/>
          </a:stretch>
        </p:blipFill>
        <p:spPr>
          <a:xfrm>
            <a:off x="8004175" y="6018530"/>
            <a:ext cx="1389380" cy="290830"/>
          </a:xfrm>
          <a:prstGeom prst="rect">
            <a:avLst/>
          </a:prstGeom>
        </p:spPr>
      </p:pic>
      <p:cxnSp>
        <p:nvCxnSpPr>
          <p:cNvPr id="11" name="肘形连接符 10"/>
          <p:cNvCxnSpPr/>
          <p:nvPr/>
        </p:nvCxnSpPr>
        <p:spPr>
          <a:xfrm>
            <a:off x="7275195" y="5949950"/>
            <a:ext cx="652780" cy="213995"/>
          </a:xfrm>
          <a:prstGeom prst="bentConnector3">
            <a:avLst>
              <a:gd name="adj1" fmla="val 875"/>
            </a:avLst>
          </a:prstGeom>
          <a:ln w="19050">
            <a:solidFill>
              <a:schemeClr val="accent5"/>
            </a:solidFill>
            <a:headEnd type="none"/>
            <a:tailEnd type="stealth" w="med" len="med"/>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a:off x="9462770" y="6163945"/>
            <a:ext cx="661670" cy="0"/>
          </a:xfrm>
          <a:prstGeom prst="straightConnector1">
            <a:avLst/>
          </a:prstGeom>
          <a:ln w="19050">
            <a:solidFill>
              <a:schemeClr val="accent5"/>
            </a:solidFill>
            <a:tailEnd type="stealth"/>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62" name="文本框 161"/>
              <p:cNvSpPr txBox="1"/>
              <p:nvPr/>
            </p:nvSpPr>
            <p:spPr>
              <a:xfrm>
                <a:off x="10179685" y="5979795"/>
                <a:ext cx="520065"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b="1" i="1">
                              <a:solidFill>
                                <a:schemeClr val="tx1"/>
                              </a:solidFill>
                              <a:latin typeface="Cambria Math" panose="02040503050406030204" charset="0"/>
                              <a:cs typeface="Cambria Math" panose="02040503050406030204" charset="0"/>
                            </a:rPr>
                          </m:ctrlPr>
                        </m:sSubPr>
                        <m:e>
                          <m:r>
                            <a:rPr lang="en-US" altLang="zh-CN" b="1" i="1">
                              <a:solidFill>
                                <a:schemeClr val="tx1"/>
                              </a:solidFill>
                              <a:latin typeface="Cambria Math" panose="02040503050406030204" charset="0"/>
                              <a:cs typeface="Cambria Math" panose="02040503050406030204" charset="0"/>
                            </a:rPr>
                            <m:t>𝑮</m:t>
                          </m:r>
                        </m:e>
                        <m:sub>
                          <m:r>
                            <a:rPr lang="en-US" altLang="zh-CN" b="1" i="1">
                              <a:solidFill>
                                <a:schemeClr val="tx1"/>
                              </a:solidFill>
                              <a:latin typeface="Cambria Math" panose="02040503050406030204" charset="0"/>
                              <a:cs typeface="Cambria Math" panose="02040503050406030204" charset="0"/>
                            </a:rPr>
                            <m:t>𝒕</m:t>
                          </m:r>
                        </m:sub>
                      </m:sSub>
                    </m:oMath>
                  </m:oMathPara>
                </a14:m>
                <a:endParaRPr lang="en-US" altLang="zh-CN" b="1" i="1">
                  <a:solidFill>
                    <a:schemeClr val="tx1"/>
                  </a:solidFill>
                  <a:latin typeface="Cambria Math" panose="02040503050406030204" charset="0"/>
                  <a:cs typeface="Cambria Math" panose="02040503050406030204" charset="0"/>
                </a:endParaRPr>
              </a:p>
            </p:txBody>
          </p:sp>
        </mc:Choice>
        <mc:Fallback>
          <p:sp>
            <p:nvSpPr>
              <p:cNvPr id="162" name="文本框 161"/>
              <p:cNvSpPr txBox="1">
                <a:spLocks noRot="1" noChangeAspect="1" noMove="1" noResize="1" noEditPoints="1" noAdjustHandles="1" noChangeArrowheads="1" noChangeShapeType="1" noTextEdit="1"/>
              </p:cNvSpPr>
              <p:nvPr/>
            </p:nvSpPr>
            <p:spPr>
              <a:xfrm>
                <a:off x="10179685" y="5979795"/>
                <a:ext cx="520065" cy="368300"/>
              </a:xfrm>
              <a:prstGeom prst="rect">
                <a:avLst/>
              </a:prstGeom>
              <a:blipFill rotWithShape="1">
                <a:blip r:embed="rId6"/>
                <a:stretch>
                  <a:fillRect/>
                </a:stretch>
              </a:blipFill>
            </p:spPr>
            <p:txBody>
              <a:bodyPr/>
              <a:lstStyle/>
              <a:p>
                <a:r>
                  <a:rPr lang="zh-CN" altLang="en-US">
                    <a:noFill/>
                  </a:rPr>
                  <a:t> </a:t>
                </a:r>
              </a:p>
            </p:txBody>
          </p:sp>
        </mc:Fallback>
      </mc:AlternateContent>
      <p:sp>
        <p:nvSpPr>
          <p:cNvPr id="3" name="文本框 2"/>
          <p:cNvSpPr txBox="1"/>
          <p:nvPr/>
        </p:nvSpPr>
        <p:spPr>
          <a:xfrm>
            <a:off x="7881620" y="6376035"/>
            <a:ext cx="1511935" cy="275590"/>
          </a:xfrm>
          <a:prstGeom prst="rect">
            <a:avLst/>
          </a:prstGeom>
          <a:noFill/>
        </p:spPr>
        <p:txBody>
          <a:bodyPr wrap="square" rtlCol="0">
            <a:spAutoFit/>
          </a:bodyPr>
          <a:lstStyle/>
          <a:p>
            <a:pPr algn="ctr"/>
            <a:r>
              <a:rPr lang="en-US" altLang="zh-CN" sz="1200">
                <a:solidFill>
                  <a:schemeClr val="accent5">
                    <a:lumMod val="75000"/>
                  </a:schemeClr>
                </a:solidFill>
              </a:rPr>
              <a:t>adjacency matrix</a:t>
            </a:r>
            <a:endParaRPr lang="en-US" altLang="zh-CN" sz="1200">
              <a:solidFill>
                <a:schemeClr val="accent5">
                  <a:lumMod val="75000"/>
                </a:schemeClr>
              </a:solidFill>
            </a:endParaRPr>
          </a:p>
        </p:txBody>
      </p:sp>
      <p:grpSp>
        <p:nvGrpSpPr>
          <p:cNvPr id="28" name="组合 27"/>
          <p:cNvGrpSpPr/>
          <p:nvPr/>
        </p:nvGrpSpPr>
        <p:grpSpPr>
          <a:xfrm>
            <a:off x="4482465" y="5779770"/>
            <a:ext cx="2898140" cy="908050"/>
            <a:chOff x="7059" y="9102"/>
            <a:chExt cx="4564" cy="1430"/>
          </a:xfrm>
        </p:grpSpPr>
        <p:sp>
          <p:nvSpPr>
            <p:cNvPr id="25" name="文本框 24"/>
            <p:cNvSpPr txBox="1"/>
            <p:nvPr/>
          </p:nvSpPr>
          <p:spPr>
            <a:xfrm>
              <a:off x="7059" y="9808"/>
              <a:ext cx="4564" cy="725"/>
            </a:xfrm>
            <a:prstGeom prst="rect">
              <a:avLst/>
            </a:prstGeom>
          </p:spPr>
          <p:txBody>
            <a:bodyPr wrap="square">
              <a:spAutoFit/>
            </a:bodyPr>
            <a:lstStyle/>
            <a:p>
              <a:pPr algn="ctr" defTabSz="266700"/>
              <a:r>
                <a:rPr lang="en-US" sz="1200">
                  <a:solidFill>
                    <a:srgbClr val="7030A0"/>
                  </a:solidFill>
                  <a:latin typeface="Georgia" panose="02040502050405020303" charset="0"/>
                  <a:ea typeface="宋体" panose="02010600030101010101" pitchFamily="2" charset="-122"/>
                  <a:cs typeface="Georgia" panose="02040502050405020303" charset="0"/>
                </a:rPr>
                <a:t>the probability that a directed edge exists between node </a:t>
              </a:r>
              <a:r>
                <a:rPr lang="en-US" sz="1200" i="1">
                  <a:solidFill>
                    <a:srgbClr val="7030A0"/>
                  </a:solidFill>
                  <a:latin typeface="Georgia" panose="02040502050405020303" charset="0"/>
                  <a:ea typeface="宋体" panose="02010600030101010101" pitchFamily="2" charset="-122"/>
                  <a:cs typeface="Georgia" panose="02040502050405020303" charset="0"/>
                </a:rPr>
                <a:t>i</a:t>
              </a:r>
              <a:r>
                <a:rPr lang="en-US" sz="1200">
                  <a:solidFill>
                    <a:srgbClr val="7030A0"/>
                  </a:solidFill>
                  <a:latin typeface="Georgia" panose="02040502050405020303" charset="0"/>
                  <a:ea typeface="宋体" panose="02010600030101010101" pitchFamily="2" charset="-122"/>
                  <a:cs typeface="Georgia" panose="02040502050405020303" charset="0"/>
                </a:rPr>
                <a:t> and </a:t>
              </a:r>
              <a:r>
                <a:rPr lang="en-US" sz="1200" i="1">
                  <a:solidFill>
                    <a:srgbClr val="7030A0"/>
                  </a:solidFill>
                  <a:latin typeface="Georgia" panose="02040502050405020303" charset="0"/>
                  <a:ea typeface="宋体" panose="02010600030101010101" pitchFamily="2" charset="-122"/>
                  <a:cs typeface="Georgia" panose="02040502050405020303" charset="0"/>
                </a:rPr>
                <a:t>j</a:t>
              </a:r>
              <a:endParaRPr lang="en-US" altLang="zh-CN" sz="1200" i="1">
                <a:solidFill>
                  <a:srgbClr val="7030A0"/>
                </a:solidFill>
                <a:latin typeface="Georgia" panose="02040502050405020303" charset="0"/>
                <a:ea typeface="宋体" panose="02010600030101010101" pitchFamily="2" charset="-122"/>
                <a:cs typeface="Georgia" panose="02040502050405020303" charset="0"/>
              </a:endParaRPr>
            </a:p>
          </p:txBody>
        </p:sp>
        <p:cxnSp>
          <p:nvCxnSpPr>
            <p:cNvPr id="26" name="曲线连接符 25"/>
            <p:cNvCxnSpPr>
              <a:stCxn id="18" idx="1"/>
              <a:endCxn id="25" idx="0"/>
            </p:cNvCxnSpPr>
            <p:nvPr/>
          </p:nvCxnSpPr>
          <p:spPr>
            <a:xfrm rot="10800000" flipV="1">
              <a:off x="9341" y="9102"/>
              <a:ext cx="1886" cy="706"/>
            </a:xfrm>
            <a:prstGeom prst="curvedConnector2">
              <a:avLst/>
            </a:prstGeom>
            <a:ln w="19050">
              <a:solidFill>
                <a:srgbClr val="7030A0"/>
              </a:solidFill>
              <a:headEnd type="none"/>
              <a:tailEnd type="triangle" w="med" len="med"/>
            </a:ln>
          </p:spPr>
          <p:style>
            <a:lnRef idx="2">
              <a:schemeClr val="accent1"/>
            </a:lnRef>
            <a:fillRef idx="0">
              <a:srgbClr val="FFFFFF"/>
            </a:fillRef>
            <a:effectRef idx="0">
              <a:srgbClr val="FFFFFF"/>
            </a:effectRef>
            <a:fontRef idx="minor">
              <a:schemeClr val="tx1"/>
            </a:fontRef>
          </p:style>
        </p:cxnSp>
      </p:grpSp>
      <p:sp>
        <p:nvSpPr>
          <p:cNvPr id="27" name="文本框 26"/>
          <p:cNvSpPr txBox="1"/>
          <p:nvPr/>
        </p:nvSpPr>
        <p:spPr>
          <a:xfrm>
            <a:off x="9683750" y="6309360"/>
            <a:ext cx="1511935" cy="408940"/>
          </a:xfrm>
          <a:prstGeom prst="rect">
            <a:avLst/>
          </a:prstGeom>
          <a:noFill/>
        </p:spPr>
        <p:txBody>
          <a:bodyPr wrap="square" rtlCol="0">
            <a:spAutoFit/>
          </a:bodyPr>
          <a:lstStyle/>
          <a:p>
            <a:pPr indent="0" algn="ctr" fontAlgn="auto">
              <a:lnSpc>
                <a:spcPts val="1240"/>
              </a:lnSpc>
            </a:pPr>
            <a:r>
              <a:rPr lang="en-US" altLang="zh-CN" sz="1200">
                <a:solidFill>
                  <a:schemeClr val="accent5">
                    <a:lumMod val="75000"/>
                  </a:schemeClr>
                </a:solidFill>
              </a:rPr>
              <a:t>transshipment network</a:t>
            </a:r>
            <a:endParaRPr lang="en-US" altLang="zh-CN" sz="1200">
              <a:solidFill>
                <a:schemeClr val="accent5">
                  <a:lumMod val="75000"/>
                </a:schemeClr>
              </a:solidFill>
            </a:endParaRPr>
          </a:p>
        </p:txBody>
      </p:sp>
      <mc:AlternateContent xmlns:mc="http://schemas.openxmlformats.org/markup-compatibility/2006">
        <mc:Choice xmlns:a14="http://schemas.microsoft.com/office/drawing/2010/main" Requires="a14">
          <p:sp>
            <p:nvSpPr>
              <p:cNvPr id="29" name="文本框 28"/>
              <p:cNvSpPr txBox="1"/>
              <p:nvPr/>
            </p:nvSpPr>
            <p:spPr>
              <a:xfrm>
                <a:off x="7294181" y="5982589"/>
                <a:ext cx="581660" cy="24511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1000" i="1">
                          <a:latin typeface="Cambria Math" panose="02040503050406030204" charset="0"/>
                          <a:cs typeface="Cambria Math" panose="02040503050406030204" charset="0"/>
                        </a:rPr>
                        <m:t>𝑁</m:t>
                      </m:r>
                      <m:r>
                        <a:rPr lang="en-US" altLang="zh-CN" sz="1000" i="1">
                          <a:latin typeface="Cambria Math" panose="02040503050406030204" charset="0"/>
                          <a:cs typeface="Cambria Math" panose="02040503050406030204" charset="0"/>
                        </a:rPr>
                        <m:t>×</m:t>
                      </m:r>
                      <m:r>
                        <a:rPr lang="en-US" altLang="zh-CN" sz="1000" i="1">
                          <a:latin typeface="Cambria Math" panose="02040503050406030204" charset="0"/>
                          <a:cs typeface="Cambria Math" panose="02040503050406030204" charset="0"/>
                        </a:rPr>
                        <m:t>𝑁</m:t>
                      </m:r>
                    </m:oMath>
                  </m:oMathPara>
                </a14:m>
                <a:endParaRPr lang="en-US" altLang="zh-CN" sz="1000" i="1">
                  <a:latin typeface="Cambria Math" panose="02040503050406030204" charset="0"/>
                  <a:cs typeface="Cambria Math" panose="0204050305040603020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7294181" y="5982589"/>
                <a:ext cx="581660" cy="245110"/>
              </a:xfrm>
              <a:prstGeom prst="rect">
                <a:avLst/>
              </a:prstGeom>
              <a:blipFill rotWithShape="1">
                <a:blip r:embed="rId7"/>
                <a:stretch>
                  <a:fillRect l="-98" t="-104" r="98" b="104"/>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250" advTm="73371">
        <p:wipe dir="d"/>
      </p:transition>
    </mc:Choice>
    <mc:Fallback>
      <p:transition advTm="73371">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animBg="1"/>
      <p:bldP spid="16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086485" y="235585"/>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sp>
        <p:nvSpPr>
          <p:cNvPr id="4" name="文本框 3"/>
          <p:cNvSpPr txBox="1"/>
          <p:nvPr/>
        </p:nvSpPr>
        <p:spPr>
          <a:xfrm>
            <a:off x="486410" y="1000125"/>
            <a:ext cx="9121775" cy="429895"/>
          </a:xfrm>
          <a:prstGeom prst="rect">
            <a:avLst/>
          </a:prstGeom>
        </p:spPr>
        <p:txBody>
          <a:bodyPr wrap="square">
            <a:spAutoFit/>
          </a:bodyPr>
          <a:lstStyle/>
          <a:p>
            <a:pPr marL="342900" indent="-342900">
              <a:buFont typeface="Wingdings" panose="05000000000000000000" charset="0"/>
              <a:buChar char="n"/>
            </a:pPr>
            <a:r>
              <a:rPr lang="en-US" altLang="zh-CN" sz="2200">
                <a:solidFill>
                  <a:srgbClr val="000000"/>
                </a:solidFill>
                <a:latin typeface="Georgia" panose="02040502050405020303" charset="0"/>
                <a:ea typeface="CMBX12"/>
                <a:cs typeface="Georgia" panose="02040502050405020303" charset="0"/>
                <a:sym typeface="+mn-ea"/>
              </a:rPr>
              <a:t>Centralized Graph Generator: </a:t>
            </a:r>
            <a:r>
              <a:rPr lang="en-US" altLang="zh-CN" sz="2200">
                <a:solidFill>
                  <a:srgbClr val="000000"/>
                </a:solidFill>
                <a:latin typeface="Georgia" panose="02040502050405020303" charset="0"/>
                <a:ea typeface="CMR10"/>
                <a:cs typeface="Georgia" panose="02040502050405020303" charset="0"/>
              </a:rPr>
              <a:t>Graph-Theoretic Loss Functions</a:t>
            </a:r>
            <a:endParaRPr lang="en-US" altLang="zh-CN" sz="2200">
              <a:solidFill>
                <a:srgbClr val="000000"/>
              </a:solidFill>
              <a:latin typeface="Georgia" panose="02040502050405020303" charset="0"/>
              <a:ea typeface="CMR10"/>
              <a:cs typeface="Georgia" panose="02040502050405020303" charset="0"/>
            </a:endParaRPr>
          </a:p>
        </p:txBody>
      </p:sp>
      <p:sp>
        <p:nvSpPr>
          <p:cNvPr id="3" name="文本框 2"/>
          <p:cNvSpPr txBox="1"/>
          <p:nvPr/>
        </p:nvSpPr>
        <p:spPr>
          <a:xfrm>
            <a:off x="807085" y="1476375"/>
            <a:ext cx="543115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Constraint 1: </a:t>
            </a:r>
            <a:r>
              <a:rPr lang="en-US" altLang="zh-CN" sz="2000" b="1">
                <a:solidFill>
                  <a:srgbClr val="C00000"/>
                </a:solidFill>
                <a:latin typeface="Georgia" panose="02040502050405020303" charset="0"/>
                <a:ea typeface="CMR10"/>
                <a:cs typeface="Georgia" panose="02040502050405020303" charset="0"/>
              </a:rPr>
              <a:t>non-cyclic</a:t>
            </a:r>
            <a:r>
              <a:rPr lang="en-US" altLang="zh-CN" sz="2000" b="1">
                <a:solidFill>
                  <a:srgbClr val="000000"/>
                </a:solidFill>
                <a:latin typeface="Georgia" panose="02040502050405020303" charset="0"/>
                <a:ea typeface="CMR10"/>
                <a:cs typeface="Georgia" panose="02040502050405020303" charset="0"/>
              </a:rPr>
              <a:t> transshipment</a:t>
            </a:r>
            <a:endParaRPr lang="en-US" altLang="zh-CN" sz="2000" b="1">
              <a:solidFill>
                <a:srgbClr val="000000"/>
              </a:solidFill>
              <a:latin typeface="Georgia" panose="02040502050405020303" charset="0"/>
              <a:ea typeface="CMR10"/>
              <a:cs typeface="Georgia" panose="02040502050405020303" charset="0"/>
            </a:endParaRPr>
          </a:p>
        </p:txBody>
      </p:sp>
      <p:sp>
        <p:nvSpPr>
          <p:cNvPr id="37" name="文本框 36"/>
          <p:cNvSpPr txBox="1"/>
          <p:nvPr/>
        </p:nvSpPr>
        <p:spPr>
          <a:xfrm>
            <a:off x="807085" y="3554730"/>
            <a:ext cx="65893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Constraint 2: </a:t>
            </a:r>
            <a:r>
              <a:rPr lang="en-US" altLang="zh-CN" sz="2000" b="1">
                <a:solidFill>
                  <a:srgbClr val="C00000"/>
                </a:solidFill>
                <a:latin typeface="Georgia" panose="02040502050405020303" charset="0"/>
                <a:ea typeface="CMR10"/>
                <a:cs typeface="Georgia" panose="02040502050405020303" charset="0"/>
              </a:rPr>
              <a:t>non-chained</a:t>
            </a:r>
            <a:r>
              <a:rPr lang="en-US" altLang="zh-CN" sz="2000" b="1">
                <a:solidFill>
                  <a:srgbClr val="000000"/>
                </a:solidFill>
                <a:latin typeface="Georgia" panose="02040502050405020303" charset="0"/>
                <a:ea typeface="CMR10"/>
                <a:cs typeface="Georgia" panose="02040502050405020303" charset="0"/>
              </a:rPr>
              <a:t> transshipment</a:t>
            </a:r>
            <a:endParaRPr lang="en-US" altLang="zh-CN" sz="2000" b="1">
              <a:solidFill>
                <a:srgbClr val="000000"/>
              </a:solidFill>
              <a:latin typeface="Georgia" panose="02040502050405020303" charset="0"/>
              <a:ea typeface="CMR10"/>
              <a:cs typeface="Georgia" panose="02040502050405020303" charset="0"/>
            </a:endParaRPr>
          </a:p>
        </p:txBody>
      </p:sp>
      <p:grpSp>
        <p:nvGrpSpPr>
          <p:cNvPr id="8" name="组合 7"/>
          <p:cNvGrpSpPr/>
          <p:nvPr/>
        </p:nvGrpSpPr>
        <p:grpSpPr>
          <a:xfrm>
            <a:off x="892810" y="4122420"/>
            <a:ext cx="10397490" cy="2319655"/>
            <a:chOff x="1406" y="6492"/>
            <a:chExt cx="16374" cy="3653"/>
          </a:xfrm>
        </p:grpSpPr>
        <mc:AlternateContent xmlns:mc="http://schemas.openxmlformats.org/markup-compatibility/2006">
          <mc:Choice xmlns:a14="http://schemas.microsoft.com/office/drawing/2010/main" Requires="a14">
            <p:sp>
              <p:nvSpPr>
                <p:cNvPr id="68" name="文本框 67"/>
                <p:cNvSpPr txBox="1"/>
                <p:nvPr/>
              </p:nvSpPr>
              <p:spPr>
                <a:xfrm>
                  <a:off x="1406" y="8911"/>
                  <a:ext cx="16375" cy="1234"/>
                </a:xfrm>
                <a:prstGeom prst="rect">
                  <a:avLst/>
                </a:prstGeom>
                <a:noFill/>
              </p:spPr>
              <p:txBody>
                <a:bodyPr wrap="square" rtlCol="0">
                  <a:spAutoFit/>
                </a:bodyPr>
                <a:lstStyle/>
                <a:p>
                  <a:pPr marL="285750" indent="-285750" fontAlgn="auto">
                    <a:lnSpc>
                      <a:spcPct val="125000"/>
                    </a:lnSpc>
                    <a:buFont typeface="Arial" panose="020B0604020202020204" pitchFamily="34" charset="0"/>
                    <a:buChar char="•"/>
                  </a:pPr>
                  <a:r>
                    <a:rPr lang="en-US" altLang="zh-CN">
                      <a:latin typeface="Georgia" panose="02040502050405020303" charset="0"/>
                      <a:cs typeface="Georgia" panose="02040502050405020303" charset="0"/>
                    </a:rPr>
                    <a:t>Set </a:t>
                  </a:r>
                  <a14:m>
                    <m:oMath xmlns:m="http://schemas.openxmlformats.org/officeDocument/2006/math">
                      <m:r>
                        <a:rPr lang="en-US" altLang="zh-CN" i="1">
                          <a:solidFill>
                            <a:srgbClr val="C00000"/>
                          </a:solidFill>
                          <a:latin typeface="Cambria Math" panose="02040503050406030204" charset="0"/>
                          <a:cs typeface="Cambria Math" panose="02040503050406030204" charset="0"/>
                        </a:rPr>
                        <m:t>𝑘</m:t>
                      </m:r>
                      <m:r>
                        <a:rPr lang="en-US" altLang="zh-CN" i="1">
                          <a:solidFill>
                            <a:srgbClr val="C00000"/>
                          </a:solidFill>
                          <a:latin typeface="Cambria Math" panose="02040503050406030204" charset="0"/>
                          <a:ea typeface="MS Mincho" charset="0"/>
                          <a:cs typeface="Cambria Math" panose="02040503050406030204" charset="0"/>
                        </a:rPr>
                        <m:t>=</m:t>
                      </m:r>
                      <m:r>
                        <a:rPr lang="en-US" altLang="zh-CN" i="1">
                          <a:solidFill>
                            <a:srgbClr val="C00000"/>
                          </a:solidFill>
                          <a:latin typeface="Cambria Math" panose="02040503050406030204" charset="0"/>
                          <a:ea typeface="MS Mincho" charset="0"/>
                          <a:cs typeface="Cambria Math" panose="02040503050406030204" charset="0"/>
                        </a:rPr>
                        <m:t>1</m:t>
                      </m:r>
                    </m:oMath>
                  </a14:m>
                  <a:r>
                    <a:rPr lang="en-US" altLang="zh-CN">
                      <a:latin typeface="Georgia" panose="02040502050405020303" charset="0"/>
                      <a:cs typeface="Georgia" panose="02040502050405020303" charset="0"/>
                    </a:rPr>
                    <a:t> to guide the accessible step between any two nodes to be less than 2 but not less than 1, to resist the chain-form transshipment while encouraging regular transshipment.</a:t>
                  </a:r>
                  <a:endParaRPr lang="en-US" altLang="zh-CN">
                    <a:latin typeface="Georgia" panose="02040502050405020303" charset="0"/>
                    <a:cs typeface="Georgia" panose="02040502050405020303" charset="0"/>
                  </a:endParaRPr>
                </a:p>
              </p:txBody>
            </p:sp>
          </mc:Choice>
          <mc:Fallback>
            <p:sp>
              <p:nvSpPr>
                <p:cNvPr id="68" name="文本框 67"/>
                <p:cNvSpPr txBox="1">
                  <a:spLocks noRot="1" noChangeAspect="1" noMove="1" noResize="1" noEditPoints="1" noAdjustHandles="1" noChangeArrowheads="1" noChangeShapeType="1" noTextEdit="1"/>
                </p:cNvSpPr>
                <p:nvPr/>
              </p:nvSpPr>
              <p:spPr>
                <a:xfrm>
                  <a:off x="1406" y="8911"/>
                  <a:ext cx="16375" cy="1234"/>
                </a:xfrm>
                <a:prstGeom prst="rect">
                  <a:avLst/>
                </a:prstGeom>
                <a:blipFill rotWithShape="1">
                  <a:blip r:embed="rId1"/>
                </a:blipFill>
              </p:spPr>
              <p:txBody>
                <a:bodyPr/>
                <a:lstStyle/>
                <a:p>
                  <a:r>
                    <a:rPr lang="zh-CN" altLang="en-US">
                      <a:noFill/>
                    </a:rPr>
                    <a:t> </a:t>
                  </a:r>
                </a:p>
              </p:txBody>
            </p:sp>
          </mc:Fallback>
        </mc:AlternateContent>
        <p:sp>
          <p:nvSpPr>
            <p:cNvPr id="40" name="文本框 39"/>
            <p:cNvSpPr txBox="1"/>
            <p:nvPr/>
          </p:nvSpPr>
          <p:spPr>
            <a:xfrm>
              <a:off x="1406" y="6492"/>
              <a:ext cx="16238" cy="580"/>
            </a:xfrm>
            <a:prstGeom prst="rect">
              <a:avLst/>
            </a:prstGeom>
            <a:noFill/>
          </p:spPr>
          <p:txBody>
            <a:bodyPr wrap="square" rtlCol="0">
              <a:spAutoFit/>
            </a:bodyPr>
            <a:lstStyle/>
            <a:p>
              <a:pPr marL="285750" indent="-285750">
                <a:buFont typeface="Arial" panose="020B0604020202020204" pitchFamily="34" charset="0"/>
                <a:buChar char="•"/>
              </a:pPr>
              <a:r>
                <a:rPr lang="en-US" altLang="zh-CN">
                  <a:latin typeface="Georgia" panose="02040502050405020303" charset="0"/>
                  <a:cs typeface="Georgia" panose="02040502050405020303" charset="0"/>
                </a:rPr>
                <a:t>Transform the chain-form constraint into </a:t>
              </a:r>
              <a:r>
                <a:rPr lang="en-US" altLang="zh-CN">
                  <a:solidFill>
                    <a:srgbClr val="C00000"/>
                  </a:solidFill>
                  <a:latin typeface="Georgia" panose="02040502050405020303" charset="0"/>
                  <a:cs typeface="Georgia" panose="02040502050405020303" charset="0"/>
                </a:rPr>
                <a:t>the depth constraint of DAG</a:t>
              </a:r>
              <a:r>
                <a:rPr lang="en-US" altLang="zh-CN">
                  <a:latin typeface="Georgia" panose="02040502050405020303" charset="0"/>
                  <a:cs typeface="Georgia" panose="02040502050405020303" charset="0"/>
                </a:rPr>
                <a:t> to control the hierarchy:</a:t>
              </a:r>
              <a:endParaRPr lang="en-US" altLang="zh-CN">
                <a:latin typeface="Georgia" panose="02040502050405020303" charset="0"/>
                <a:cs typeface="Georgia" panose="02040502050405020303" charset="0"/>
              </a:endParaRPr>
            </a:p>
          </p:txBody>
        </p:sp>
        <p:sp>
          <p:nvSpPr>
            <p:cNvPr id="11" name="文本框 10"/>
            <p:cNvSpPr txBox="1"/>
            <p:nvPr/>
          </p:nvSpPr>
          <p:spPr>
            <a:xfrm>
              <a:off x="2285" y="7215"/>
              <a:ext cx="5567" cy="758"/>
            </a:xfrm>
            <a:prstGeom prst="rect">
              <a:avLst/>
            </a:prstGeom>
            <a:noFill/>
          </p:spPr>
          <p:txBody>
            <a:bodyPr wrap="square" rtlCol="0" anchor="t">
              <a:noAutofit/>
            </a:bodyPr>
            <a:lstStyle/>
            <a:p>
              <a:pPr indent="457200" algn="ctr" fontAlgn="auto">
                <a:lnSpc>
                  <a:spcPct val="125000"/>
                </a:lnSpc>
              </a:pPr>
              <a:r>
                <a:rPr lang="en-US" altLang="zh-CN" sz="2000">
                  <a:sym typeface="+mn-ea"/>
                </a:rPr>
                <a:t>DAG Depth Constraint:</a:t>
              </a:r>
              <a:endParaRPr lang="en-US" altLang="zh-CN" sz="2000">
                <a:sym typeface="+mn-ea"/>
              </a:endParaRPr>
            </a:p>
          </p:txBody>
        </p:sp>
        <mc:AlternateContent xmlns:mc="http://schemas.openxmlformats.org/markup-compatibility/2006">
          <mc:Choice xmlns:a14="http://schemas.microsoft.com/office/drawing/2010/main" Requires="a14">
            <p:sp>
              <p:nvSpPr>
                <p:cNvPr id="67" name="文本框 66"/>
                <p:cNvSpPr txBox="1"/>
                <p:nvPr/>
              </p:nvSpPr>
              <p:spPr>
                <a:xfrm>
                  <a:off x="1929" y="8065"/>
                  <a:ext cx="14145" cy="749"/>
                </a:xfrm>
                <a:prstGeom prst="rect">
                  <a:avLst/>
                </a:prstGeom>
                <a:noFill/>
              </p:spPr>
              <p:txBody>
                <a:bodyPr wrap="square" rtlCol="0">
                  <a:spAutoFit/>
                </a:bodyPr>
                <a:lstStyle/>
                <a:p>
                  <a:r>
                    <a:rPr lang="en-US" altLang="zh-CN">
                      <a:latin typeface="Georgia" panose="02040502050405020303" charset="0"/>
                      <a:cs typeface="Georgia" panose="02040502050405020303" charset="0"/>
                    </a:rPr>
                    <a:t>where </a:t>
                  </a:r>
                  <a14:m>
                    <m:oMath xmlns:m="http://schemas.openxmlformats.org/officeDocument/2006/math">
                      <m:r>
                        <m:rPr>
                          <m:sty m:val="p"/>
                        </m:rPr>
                        <a:rPr lang="en-US" altLang="zh-CN">
                          <a:latin typeface="Cambria Math" panose="02040503050406030204" charset="0"/>
                          <a:cs typeface="Cambria Math" panose="02040503050406030204" charset="0"/>
                        </a:rPr>
                        <m:t>sum</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 =</m:t>
                      </m:r>
                      <m:nary>
                        <m:naryPr>
                          <m:chr m:val="∑"/>
                          <m:limLoc m:val="subSup"/>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sub>
                        <m:sup/>
                        <m:e>
                          <m:nary>
                            <m:naryPr>
                              <m:chr m:val="∑"/>
                              <m:limLoc m:val="subSup"/>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sub>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𝑀</m:t>
                                  </m:r>
                                </m:e>
                                <m:sup>
                                  <m:r>
                                    <a:rPr lang="en-US" altLang="zh-CN" i="1">
                                      <a:latin typeface="Cambria Math" panose="02040503050406030204" charset="0"/>
                                      <a:cs typeface="Cambria Math" panose="02040503050406030204" charset="0"/>
                                    </a:rPr>
                                    <m:t>𝑖𝑗</m:t>
                                  </m:r>
                                </m:sup>
                              </m:sSup>
                            </m:e>
                          </m:nary>
                        </m:e>
                      </m:nary>
                    </m:oMath>
                  </a14:m>
                  <a:r>
                    <a:rPr lang="en-US" altLang="zh-CN">
                      <a:latin typeface="Georgia" panose="02040502050405020303" charset="0"/>
                      <a:cs typeface="Georgia" panose="02040502050405020303" charset="0"/>
                    </a:rPr>
                    <a:t> denotes the summation of all elements for a given matrix </a:t>
                  </a:r>
                  <a14:m>
                    <m:oMath xmlns:m="http://schemas.openxmlformats.org/officeDocument/2006/math">
                      <m:r>
                        <a:rPr lang="en-US" altLang="zh-CN" i="1">
                          <a:latin typeface="Cambria Math" panose="02040503050406030204" charset="0"/>
                          <a:cs typeface="Cambria Math" panose="02040503050406030204" charset="0"/>
                        </a:rPr>
                        <m:t>𝑀</m:t>
                      </m:r>
                    </m:oMath>
                  </a14:m>
                  <a:r>
                    <a:rPr lang="en-US" altLang="zh-CN">
                      <a:latin typeface="Georgia" panose="02040502050405020303" charset="0"/>
                      <a:cs typeface="Georgia" panose="02040502050405020303" charset="0"/>
                    </a:rPr>
                    <a:t>.</a:t>
                  </a:r>
                  <a:endParaRPr lang="en-US" altLang="zh-CN">
                    <a:latin typeface="Georgia" panose="02040502050405020303" charset="0"/>
                    <a:cs typeface="Georgia" panose="02040502050405020303" charset="0"/>
                  </a:endParaRPr>
                </a:p>
              </p:txBody>
            </p:sp>
          </mc:Choice>
          <mc:Fallback>
            <p:sp>
              <p:nvSpPr>
                <p:cNvPr id="67" name="文本框 66"/>
                <p:cNvSpPr txBox="1">
                  <a:spLocks noRot="1" noChangeAspect="1" noMove="1" noResize="1" noEditPoints="1" noAdjustHandles="1" noChangeArrowheads="1" noChangeShapeType="1" noTextEdit="1"/>
                </p:cNvSpPr>
                <p:nvPr/>
              </p:nvSpPr>
              <p:spPr>
                <a:xfrm>
                  <a:off x="1929" y="8065"/>
                  <a:ext cx="14145" cy="74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3559" y="7321"/>
                  <a:ext cx="1796" cy="580"/>
                </a:xfrm>
                <a:prstGeom prst="rect">
                  <a:avLst/>
                </a:prstGeom>
                <a:noFill/>
              </p:spPr>
              <p:txBody>
                <a:bodyPr wrap="square" rtlCol="0">
                  <a:spAutoFit/>
                </a:bodyPr>
                <a:lstStyle/>
                <a:p>
                  <a:r>
                    <a:rPr lang="en-US" altLang="zh-CN">
                      <a:solidFill>
                        <a:schemeClr val="tx1"/>
                      </a:solidFill>
                      <a:latin typeface="Georgia" panose="02040502050405020303" charset="0"/>
                      <a:cs typeface="Georgia" panose="02040502050405020303" charset="0"/>
                    </a:rPr>
                    <a:t>set </a:t>
                  </a:r>
                  <a14:m>
                    <m:oMath xmlns:m="http://schemas.openxmlformats.org/officeDocument/2006/math">
                      <m:r>
                        <a:rPr lang="en-US" altLang="zh-CN" i="1">
                          <a:solidFill>
                            <a:schemeClr val="tx1"/>
                          </a:solidFill>
                          <a:latin typeface="Cambria Math" panose="02040503050406030204" charset="0"/>
                          <a:cs typeface="Cambria Math" panose="02040503050406030204" charset="0"/>
                        </a:rPr>
                        <m:t>𝑘</m:t>
                      </m:r>
                      <m:r>
                        <a:rPr lang="en-US" altLang="zh-CN" i="1">
                          <a:solidFill>
                            <a:schemeClr val="tx1"/>
                          </a:solidFill>
                          <a:latin typeface="Cambria Math" panose="02040503050406030204" charset="0"/>
                          <a:ea typeface="MS Mincho" charset="0"/>
                          <a:cs typeface="Cambria Math" panose="02040503050406030204" charset="0"/>
                        </a:rPr>
                        <m:t>=</m:t>
                      </m:r>
                      <m:r>
                        <a:rPr lang="en-US" altLang="zh-CN" i="1">
                          <a:solidFill>
                            <a:schemeClr val="tx1"/>
                          </a:solidFill>
                          <a:latin typeface="Cambria Math" panose="02040503050406030204" charset="0"/>
                          <a:ea typeface="MS Mincho" charset="0"/>
                          <a:cs typeface="Cambria Math" panose="02040503050406030204" charset="0"/>
                        </a:rPr>
                        <m:t>1</m:t>
                      </m:r>
                    </m:oMath>
                  </a14:m>
                  <a:endParaRPr lang="en-US" altLang="zh-CN" i="1">
                    <a:solidFill>
                      <a:schemeClr val="tx1"/>
                    </a:solidFill>
                    <a:latin typeface="Cambria Math" panose="02040503050406030204" charset="0"/>
                    <a:ea typeface="MS Mincho"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3559" y="7321"/>
                  <a:ext cx="1796" cy="580"/>
                </a:xfrm>
                <a:prstGeom prst="rect">
                  <a:avLst/>
                </a:prstGeom>
                <a:blipFill rotWithShape="1">
                  <a:blip r:embed="rId3"/>
                </a:blipFill>
              </p:spPr>
              <p:txBody>
                <a:bodyPr/>
                <a:lstStyle/>
                <a:p>
                  <a:r>
                    <a:rPr lang="zh-CN" altLang="en-US">
                      <a:noFill/>
                    </a:rPr>
                    <a:t> </a:t>
                  </a:r>
                </a:p>
              </p:txBody>
            </p:sp>
          </mc:Fallback>
        </mc:AlternateContent>
        <p:pic>
          <p:nvPicPr>
            <p:cNvPr id="13" name="图片 12"/>
            <p:cNvPicPr>
              <a:picLocks noChangeAspect="1"/>
            </p:cNvPicPr>
            <p:nvPr/>
          </p:nvPicPr>
          <p:blipFill>
            <a:blip r:embed="rId4"/>
            <a:stretch>
              <a:fillRect/>
            </a:stretch>
          </p:blipFill>
          <p:spPr>
            <a:xfrm>
              <a:off x="7934" y="7309"/>
              <a:ext cx="5495" cy="615"/>
            </a:xfrm>
            <a:prstGeom prst="rect">
              <a:avLst/>
            </a:prstGeom>
          </p:spPr>
        </p:pic>
      </p:grpSp>
      <p:grpSp>
        <p:nvGrpSpPr>
          <p:cNvPr id="17" name="组合 16"/>
          <p:cNvGrpSpPr/>
          <p:nvPr/>
        </p:nvGrpSpPr>
        <p:grpSpPr>
          <a:xfrm>
            <a:off x="892810" y="2044065"/>
            <a:ext cx="10311130" cy="1380490"/>
            <a:chOff x="1406" y="3219"/>
            <a:chExt cx="16238" cy="2174"/>
          </a:xfrm>
        </p:grpSpPr>
        <mc:AlternateContent xmlns:mc="http://schemas.openxmlformats.org/markup-compatibility/2006">
          <mc:Choice xmlns:a14="http://schemas.microsoft.com/office/drawing/2010/main" Requires="a14">
            <p:sp>
              <p:nvSpPr>
                <p:cNvPr id="22" name="文本框 21"/>
                <p:cNvSpPr txBox="1"/>
                <p:nvPr/>
              </p:nvSpPr>
              <p:spPr>
                <a:xfrm>
                  <a:off x="1913" y="4773"/>
                  <a:ext cx="13428" cy="620"/>
                </a:xfrm>
                <a:prstGeom prst="rect">
                  <a:avLst/>
                </a:prstGeom>
              </p:spPr>
              <p:txBody>
                <a:bodyPr wrap="square">
                  <a:spAutoFit/>
                </a:bodyPr>
                <a:lstStyle/>
                <a:p>
                  <a:r>
                    <a:rPr lang="en-US" altLang="zh-CN">
                      <a:solidFill>
                        <a:srgbClr val="000000"/>
                      </a:solidFill>
                      <a:latin typeface="Georgia" panose="02040502050405020303" charset="0"/>
                      <a:ea typeface="CMR10"/>
                      <a:cs typeface="Georgia" panose="02040502050405020303" charset="0"/>
                    </a:rPr>
                    <a:t>where </a:t>
                  </a:r>
                  <a14:m>
                    <m:oMath xmlns:m="http://schemas.openxmlformats.org/officeDocument/2006/math">
                      <m:sSup>
                        <m:sSupPr>
                          <m:ctrlPr>
                            <a:rPr lang="en-US" altLang="zh-CN" i="1">
                              <a:solidFill>
                                <a:srgbClr val="000000"/>
                              </a:solidFill>
                              <a:latin typeface="Cambria Math" panose="02040503050406030204" charset="0"/>
                              <a:ea typeface="CMR10"/>
                              <a:cs typeface="Cambria Math" panose="02040503050406030204" charset="0"/>
                            </a:rPr>
                          </m:ctrlPr>
                        </m:sSupPr>
                        <m:e>
                          <m:r>
                            <a:rPr lang="en-US" altLang="zh-CN" i="1">
                              <a:solidFill>
                                <a:srgbClr val="000000"/>
                              </a:solidFill>
                              <a:latin typeface="Cambria Math" panose="02040503050406030204" charset="0"/>
                              <a:ea typeface="CMR10"/>
                              <a:cs typeface="Cambria Math" panose="02040503050406030204" charset="0"/>
                            </a:rPr>
                            <m:t>𝑒</m:t>
                          </m:r>
                        </m:e>
                        <m:sup>
                          <m:r>
                            <a:rPr lang="en-US" altLang="zh-CN" i="1">
                              <a:solidFill>
                                <a:srgbClr val="000000"/>
                              </a:solidFill>
                              <a:latin typeface="Cambria Math" panose="02040503050406030204" charset="0"/>
                              <a:ea typeface="MS Mincho" charset="0"/>
                              <a:cs typeface="Cambria Math" panose="02040503050406030204" charset="0"/>
                            </a:rPr>
                            <m:t>(∙)</m:t>
                          </m:r>
                        </m:sup>
                      </m:sSup>
                    </m:oMath>
                  </a14:m>
                  <a:r>
                    <a:rPr lang="en-US" altLang="zh-CN">
                      <a:solidFill>
                        <a:srgbClr val="000000"/>
                      </a:solidFill>
                      <a:latin typeface="Georgia" panose="02040502050405020303" charset="0"/>
                      <a:ea typeface="CMR7"/>
                      <a:cs typeface="Georgia" panose="02040502050405020303" charset="0"/>
                    </a:rPr>
                    <a:t> </a:t>
                  </a:r>
                  <a:r>
                    <a:rPr lang="en-US" altLang="zh-CN">
                      <a:solidFill>
                        <a:srgbClr val="000000"/>
                      </a:solidFill>
                      <a:latin typeface="Georgia" panose="02040502050405020303" charset="0"/>
                      <a:ea typeface="CMR10"/>
                      <a:cs typeface="Georgia" panose="02040502050405020303" charset="0"/>
                    </a:rPr>
                    <a:t>is the matrix exponential and </a:t>
                  </a:r>
                  <a14:m>
                    <m:oMath xmlns:m="http://schemas.openxmlformats.org/officeDocument/2006/math">
                      <m:r>
                        <a:rPr lang="en-US" altLang="zh-CN" i="1">
                          <a:solidFill>
                            <a:srgbClr val="000000"/>
                          </a:solidFill>
                          <a:latin typeface="Cambria Math" panose="02040503050406030204" charset="0"/>
                          <a:ea typeface="CMMI10"/>
                          <a:cs typeface="Cambria Math" panose="02040503050406030204" charset="0"/>
                        </a:rPr>
                        <m:t>𝑁</m:t>
                      </m:r>
                    </m:oMath>
                  </a14:m>
                  <a:r>
                    <a:rPr lang="en-US" altLang="zh-CN" i="1">
                      <a:solidFill>
                        <a:srgbClr val="000000"/>
                      </a:solidFill>
                      <a:latin typeface="Georgia" panose="02040502050405020303" charset="0"/>
                      <a:ea typeface="CMMI10"/>
                      <a:cs typeface="Georgia" panose="02040502050405020303" charset="0"/>
                    </a:rPr>
                    <a:t> </a:t>
                  </a:r>
                  <a:r>
                    <a:rPr lang="en-US" altLang="zh-CN">
                      <a:solidFill>
                        <a:srgbClr val="000000"/>
                      </a:solidFill>
                      <a:latin typeface="Georgia" panose="02040502050405020303" charset="0"/>
                      <a:ea typeface="CMR10"/>
                      <a:cs typeface="Georgia" panose="02040502050405020303" charset="0"/>
                    </a:rPr>
                    <a:t>is the number of nodes in the graph.</a:t>
                  </a:r>
                  <a:endParaRPr lang="en-US" altLang="zh-CN">
                    <a:solidFill>
                      <a:srgbClr val="000000"/>
                    </a:solidFill>
                    <a:latin typeface="Georgia" panose="02040502050405020303" charset="0"/>
                    <a:ea typeface="CMR10"/>
                    <a:cs typeface="Georgia" panose="02040502050405020303"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1913" y="4773"/>
                  <a:ext cx="13428" cy="620"/>
                </a:xfrm>
                <a:prstGeom prst="rect">
                  <a:avLst/>
                </a:prstGeom>
                <a:blipFill rotWithShape="1">
                  <a:blip r:embed="rId5"/>
                </a:blipFill>
              </p:spPr>
              <p:txBody>
                <a:bodyPr/>
                <a:lstStyle/>
                <a:p>
                  <a:r>
                    <a:rPr lang="zh-CN" altLang="en-US">
                      <a:noFill/>
                    </a:rPr>
                    <a:t> </a:t>
                  </a:r>
                </a:p>
              </p:txBody>
            </p:sp>
          </mc:Fallback>
        </mc:AlternateContent>
        <p:sp>
          <p:nvSpPr>
            <p:cNvPr id="36" name="文本框 35"/>
            <p:cNvSpPr txBox="1"/>
            <p:nvPr/>
          </p:nvSpPr>
          <p:spPr>
            <a:xfrm>
              <a:off x="1406" y="3219"/>
              <a:ext cx="16238" cy="580"/>
            </a:xfrm>
            <a:prstGeom prst="rect">
              <a:avLst/>
            </a:prstGeom>
            <a:noFill/>
          </p:spPr>
          <p:txBody>
            <a:bodyPr wrap="square" rtlCol="0">
              <a:spAutoFit/>
            </a:bodyPr>
            <a:lstStyle/>
            <a:p>
              <a:pPr marL="285750" indent="-285750">
                <a:buFont typeface="Arial" panose="020B0604020202020204" pitchFamily="34" charset="0"/>
                <a:buChar char="•"/>
              </a:pPr>
              <a:r>
                <a:rPr lang="en-US" altLang="zh-CN">
                  <a:latin typeface="Georgia" panose="02040502050405020303" charset="0"/>
                  <a:cs typeface="Georgia" panose="02040502050405020303" charset="0"/>
                </a:rPr>
                <a:t>The equivalent proposition is that the generated graph should satisfy </a:t>
              </a:r>
              <a:r>
                <a:rPr lang="en-US" altLang="zh-CN">
                  <a:solidFill>
                    <a:srgbClr val="C00000"/>
                  </a:solidFill>
                  <a:latin typeface="Georgia" panose="02040502050405020303" charset="0"/>
                  <a:cs typeface="Georgia" panose="02040502050405020303" charset="0"/>
                </a:rPr>
                <a:t>the acyclicity constraint</a:t>
              </a:r>
              <a:r>
                <a:rPr lang="en-US" altLang="zh-CN">
                  <a:latin typeface="Georgia" panose="02040502050405020303" charset="0"/>
                  <a:cs typeface="Georgia" panose="02040502050405020303" charset="0"/>
                </a:rPr>
                <a:t>:</a:t>
              </a:r>
              <a:endParaRPr lang="en-US" altLang="zh-CN">
                <a:latin typeface="Georgia" panose="02040502050405020303" charset="0"/>
                <a:cs typeface="Georgia" panose="02040502050405020303" charset="0"/>
              </a:endParaRPr>
            </a:p>
          </p:txBody>
        </p:sp>
        <p:grpSp>
          <p:nvGrpSpPr>
            <p:cNvPr id="16" name="组合 15"/>
            <p:cNvGrpSpPr/>
            <p:nvPr/>
          </p:nvGrpSpPr>
          <p:grpSpPr>
            <a:xfrm>
              <a:off x="3564" y="3980"/>
              <a:ext cx="8981" cy="638"/>
              <a:chOff x="3564" y="3980"/>
              <a:chExt cx="8981" cy="638"/>
            </a:xfrm>
          </p:grpSpPr>
          <p:sp>
            <p:nvSpPr>
              <p:cNvPr id="39" name="文本框 38"/>
              <p:cNvSpPr txBox="1"/>
              <p:nvPr/>
            </p:nvSpPr>
            <p:spPr>
              <a:xfrm>
                <a:off x="3564" y="3980"/>
                <a:ext cx="4411" cy="638"/>
              </a:xfrm>
              <a:prstGeom prst="rect">
                <a:avLst/>
              </a:prstGeom>
              <a:noFill/>
            </p:spPr>
            <p:txBody>
              <a:bodyPr wrap="square" rtlCol="0">
                <a:noAutofit/>
              </a:bodyPr>
              <a:lstStyle/>
              <a:p>
                <a:r>
                  <a:rPr lang="en-US" altLang="zh-CN" sz="2000"/>
                  <a:t>DAGness Constraint:</a:t>
                </a:r>
                <a:endParaRPr lang="en-US" altLang="zh-CN" sz="2000"/>
              </a:p>
            </p:txBody>
          </p:sp>
          <p:pic>
            <p:nvPicPr>
              <p:cNvPr id="14" name="图片 13"/>
              <p:cNvPicPr>
                <a:picLocks noChangeAspect="1"/>
              </p:cNvPicPr>
              <p:nvPr/>
            </p:nvPicPr>
            <p:blipFill>
              <a:blip r:embed="rId6"/>
              <a:stretch>
                <a:fillRect/>
              </a:stretch>
            </p:blipFill>
            <p:spPr>
              <a:xfrm>
                <a:off x="8139" y="4002"/>
                <a:ext cx="4406" cy="595"/>
              </a:xfrm>
              <a:prstGeom prst="rect">
                <a:avLst/>
              </a:prstGeom>
            </p:spPr>
          </p:pic>
        </p:grpSp>
      </p:grpSp>
      <p:grpSp>
        <p:nvGrpSpPr>
          <p:cNvPr id="15" name="组合 14"/>
          <p:cNvGrpSpPr/>
          <p:nvPr/>
        </p:nvGrpSpPr>
        <p:grpSpPr>
          <a:xfrm>
            <a:off x="9102090" y="1294130"/>
            <a:ext cx="2762885" cy="1042670"/>
            <a:chOff x="13960" y="1966"/>
            <a:chExt cx="4351" cy="1642"/>
          </a:xfrm>
        </p:grpSpPr>
        <p:grpSp>
          <p:nvGrpSpPr>
            <p:cNvPr id="9" name="组合 8"/>
            <p:cNvGrpSpPr/>
            <p:nvPr/>
          </p:nvGrpSpPr>
          <p:grpSpPr>
            <a:xfrm>
              <a:off x="14232" y="2400"/>
              <a:ext cx="3808" cy="1208"/>
              <a:chOff x="14298" y="2460"/>
              <a:chExt cx="3808" cy="1208"/>
            </a:xfrm>
          </p:grpSpPr>
          <p:grpSp>
            <p:nvGrpSpPr>
              <p:cNvPr id="30" name="组合 29"/>
              <p:cNvGrpSpPr/>
              <p:nvPr/>
            </p:nvGrpSpPr>
            <p:grpSpPr>
              <a:xfrm>
                <a:off x="16672" y="2460"/>
                <a:ext cx="1435" cy="1209"/>
                <a:chOff x="13810" y="2580"/>
                <a:chExt cx="1376" cy="1159"/>
              </a:xfrm>
            </p:grpSpPr>
            <p:sp>
              <p:nvSpPr>
                <p:cNvPr id="24" name="椭圆 23"/>
                <p:cNvSpPr/>
                <p:nvPr/>
              </p:nvSpPr>
              <p:spPr>
                <a:xfrm>
                  <a:off x="13810" y="2580"/>
                  <a:ext cx="420" cy="42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A</a:t>
                  </a:r>
                  <a:endParaRPr lang="en-US" altLang="zh-CN" sz="1600">
                    <a:solidFill>
                      <a:schemeClr val="tx1"/>
                    </a:solidFill>
                  </a:endParaRPr>
                </a:p>
              </p:txBody>
            </p:sp>
            <p:sp>
              <p:nvSpPr>
                <p:cNvPr id="25" name="椭圆 24"/>
                <p:cNvSpPr/>
                <p:nvPr/>
              </p:nvSpPr>
              <p:spPr>
                <a:xfrm>
                  <a:off x="14274" y="3319"/>
                  <a:ext cx="424" cy="42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B</a:t>
                  </a:r>
                  <a:endParaRPr lang="en-US" altLang="zh-CN" sz="1600">
                    <a:solidFill>
                      <a:schemeClr val="tx1"/>
                    </a:solidFill>
                  </a:endParaRPr>
                </a:p>
              </p:txBody>
            </p:sp>
            <p:sp>
              <p:nvSpPr>
                <p:cNvPr id="26" name="椭圆 25"/>
                <p:cNvSpPr/>
                <p:nvPr/>
              </p:nvSpPr>
              <p:spPr>
                <a:xfrm>
                  <a:off x="14766" y="2580"/>
                  <a:ext cx="420" cy="42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C</a:t>
                  </a:r>
                  <a:endParaRPr lang="en-US" altLang="zh-CN" sz="1600">
                    <a:solidFill>
                      <a:schemeClr val="tx1"/>
                    </a:solidFill>
                  </a:endParaRPr>
                </a:p>
              </p:txBody>
            </p:sp>
            <p:cxnSp>
              <p:nvCxnSpPr>
                <p:cNvPr id="27" name="直接箭头连接符 26"/>
                <p:cNvCxnSpPr/>
                <p:nvPr/>
              </p:nvCxnSpPr>
              <p:spPr>
                <a:xfrm>
                  <a:off x="14116" y="2962"/>
                  <a:ext cx="289" cy="382"/>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8" name="直接箭头连接符 27"/>
                <p:cNvCxnSpPr>
                  <a:endCxn id="26" idx="3"/>
                </p:cNvCxnSpPr>
                <p:nvPr/>
              </p:nvCxnSpPr>
              <p:spPr>
                <a:xfrm flipV="1">
                  <a:off x="14605" y="2938"/>
                  <a:ext cx="223" cy="419"/>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26" idx="2"/>
                  <a:endCxn id="24" idx="6"/>
                </p:cNvCxnSpPr>
                <p:nvPr/>
              </p:nvCxnSpPr>
              <p:spPr>
                <a:xfrm flipH="1">
                  <a:off x="14230" y="2790"/>
                  <a:ext cx="536" cy="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grpSp>
          <p:grpSp>
            <p:nvGrpSpPr>
              <p:cNvPr id="35" name="组合 34"/>
              <p:cNvGrpSpPr/>
              <p:nvPr/>
            </p:nvGrpSpPr>
            <p:grpSpPr>
              <a:xfrm>
                <a:off x="14298" y="2629"/>
                <a:ext cx="1425" cy="438"/>
                <a:chOff x="11630" y="2899"/>
                <a:chExt cx="1366" cy="420"/>
              </a:xfrm>
            </p:grpSpPr>
            <p:sp>
              <p:nvSpPr>
                <p:cNvPr id="31" name="椭圆 30"/>
                <p:cNvSpPr/>
                <p:nvPr/>
              </p:nvSpPr>
              <p:spPr>
                <a:xfrm>
                  <a:off x="11630" y="2899"/>
                  <a:ext cx="420" cy="42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A</a:t>
                  </a:r>
                  <a:endParaRPr lang="en-US" altLang="zh-CN" sz="1600">
                    <a:solidFill>
                      <a:schemeClr val="tx1"/>
                    </a:solidFill>
                  </a:endParaRPr>
                </a:p>
              </p:txBody>
            </p:sp>
            <p:sp>
              <p:nvSpPr>
                <p:cNvPr id="32" name="椭圆 31"/>
                <p:cNvSpPr/>
                <p:nvPr/>
              </p:nvSpPr>
              <p:spPr>
                <a:xfrm>
                  <a:off x="12576" y="2899"/>
                  <a:ext cx="420" cy="42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B</a:t>
                  </a:r>
                  <a:endParaRPr lang="en-US" altLang="zh-CN" sz="1600">
                    <a:solidFill>
                      <a:schemeClr val="tx1"/>
                    </a:solidFill>
                  </a:endParaRPr>
                </a:p>
              </p:txBody>
            </p:sp>
            <p:cxnSp>
              <p:nvCxnSpPr>
                <p:cNvPr id="33" name="直接箭头连接符 32"/>
                <p:cNvCxnSpPr/>
                <p:nvPr/>
              </p:nvCxnSpPr>
              <p:spPr>
                <a:xfrm flipH="1">
                  <a:off x="12042" y="3023"/>
                  <a:ext cx="536" cy="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H="1">
                  <a:off x="12042" y="3223"/>
                  <a:ext cx="536" cy="0"/>
                </a:xfrm>
                <a:prstGeom prst="straightConnector1">
                  <a:avLst/>
                </a:prstGeom>
                <a:ln>
                  <a:solidFill>
                    <a:schemeClr val="tx1"/>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grpSp>
        </p:grpSp>
        <p:sp>
          <p:nvSpPr>
            <p:cNvPr id="7" name="文本框 6"/>
            <p:cNvSpPr txBox="1"/>
            <p:nvPr/>
          </p:nvSpPr>
          <p:spPr>
            <a:xfrm>
              <a:off x="13960" y="1966"/>
              <a:ext cx="4351" cy="434"/>
            </a:xfrm>
            <a:prstGeom prst="rect">
              <a:avLst/>
            </a:prstGeom>
            <a:noFill/>
            <a:ln>
              <a:noFill/>
            </a:ln>
          </p:spPr>
          <p:txBody>
            <a:bodyPr wrap="square" rtlCol="0">
              <a:spAutoFit/>
            </a:bodyPr>
            <a:lstStyle/>
            <a:p>
              <a:pPr algn="ctr"/>
              <a:r>
                <a:rPr lang="en-US" altLang="zh-CN" sz="1200">
                  <a:solidFill>
                    <a:schemeClr val="accent5">
                      <a:lumMod val="75000"/>
                    </a:schemeClr>
                  </a:solidFill>
                </a:rPr>
                <a:t>have unnecessary stock movements</a:t>
              </a:r>
              <a:endParaRPr lang="en-US" altLang="zh-CN" sz="1200">
                <a:solidFill>
                  <a:schemeClr val="accent5">
                    <a:lumMod val="75000"/>
                  </a:schemeClr>
                </a:solidFill>
              </a:endParaRPr>
            </a:p>
          </p:txBody>
        </p:sp>
      </p:grpSp>
      <p:grpSp>
        <p:nvGrpSpPr>
          <p:cNvPr id="12" name="组合 11"/>
          <p:cNvGrpSpPr/>
          <p:nvPr/>
        </p:nvGrpSpPr>
        <p:grpSpPr>
          <a:xfrm>
            <a:off x="8963660" y="2933700"/>
            <a:ext cx="3039110" cy="1242695"/>
            <a:chOff x="13900" y="4548"/>
            <a:chExt cx="4786" cy="1957"/>
          </a:xfrm>
        </p:grpSpPr>
        <p:grpSp>
          <p:nvGrpSpPr>
            <p:cNvPr id="65" name="组合 64"/>
            <p:cNvGrpSpPr/>
            <p:nvPr/>
          </p:nvGrpSpPr>
          <p:grpSpPr>
            <a:xfrm>
              <a:off x="14110" y="5065"/>
              <a:ext cx="4321" cy="1440"/>
              <a:chOff x="13399" y="5171"/>
              <a:chExt cx="4046" cy="1348"/>
            </a:xfrm>
          </p:grpSpPr>
          <p:grpSp>
            <p:nvGrpSpPr>
              <p:cNvPr id="53" name="组合 52"/>
              <p:cNvGrpSpPr/>
              <p:nvPr/>
            </p:nvGrpSpPr>
            <p:grpSpPr>
              <a:xfrm>
                <a:off x="13399" y="5171"/>
                <a:ext cx="1488" cy="1348"/>
                <a:chOff x="13399" y="5146"/>
                <a:chExt cx="1488" cy="1348"/>
              </a:xfrm>
            </p:grpSpPr>
            <p:sp>
              <p:nvSpPr>
                <p:cNvPr id="42" name="椭圆 41"/>
                <p:cNvSpPr/>
                <p:nvPr/>
              </p:nvSpPr>
              <p:spPr>
                <a:xfrm>
                  <a:off x="13935" y="5146"/>
                  <a:ext cx="420" cy="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A</a:t>
                  </a:r>
                  <a:endParaRPr lang="en-US" altLang="zh-CN" sz="1600">
                    <a:solidFill>
                      <a:schemeClr val="tx1"/>
                    </a:solidFill>
                  </a:endParaRPr>
                </a:p>
              </p:txBody>
            </p:sp>
            <p:sp>
              <p:nvSpPr>
                <p:cNvPr id="43" name="椭圆 42"/>
                <p:cNvSpPr/>
                <p:nvPr/>
              </p:nvSpPr>
              <p:spPr>
                <a:xfrm>
                  <a:off x="13399" y="5944"/>
                  <a:ext cx="424" cy="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B</a:t>
                  </a:r>
                  <a:endParaRPr lang="en-US" altLang="zh-CN" sz="1600">
                    <a:solidFill>
                      <a:schemeClr val="tx1"/>
                    </a:solidFill>
                  </a:endParaRPr>
                </a:p>
              </p:txBody>
            </p:sp>
            <p:sp>
              <p:nvSpPr>
                <p:cNvPr id="44" name="椭圆 43"/>
                <p:cNvSpPr/>
                <p:nvPr/>
              </p:nvSpPr>
              <p:spPr>
                <a:xfrm>
                  <a:off x="14467" y="5944"/>
                  <a:ext cx="420" cy="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C</a:t>
                  </a:r>
                  <a:endParaRPr lang="en-US" altLang="zh-CN" sz="1600">
                    <a:solidFill>
                      <a:schemeClr val="tx1"/>
                    </a:solidFill>
                  </a:endParaRPr>
                </a:p>
              </p:txBody>
            </p:sp>
            <p:cxnSp>
              <p:nvCxnSpPr>
                <p:cNvPr id="48" name="直接箭头连接符 47"/>
                <p:cNvCxnSpPr/>
                <p:nvPr/>
              </p:nvCxnSpPr>
              <p:spPr>
                <a:xfrm flipV="1">
                  <a:off x="13679" y="5510"/>
                  <a:ext cx="340" cy="454"/>
                </a:xfrm>
                <a:prstGeom prst="straightConnector1">
                  <a:avLst/>
                </a:prstGeom>
                <a:ln>
                  <a:solidFill>
                    <a:schemeClr val="tx1"/>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44" idx="2"/>
                  <a:endCxn id="43" idx="6"/>
                </p:cNvCxnSpPr>
                <p:nvPr/>
              </p:nvCxnSpPr>
              <p:spPr>
                <a:xfrm flipH="1">
                  <a:off x="13823" y="6154"/>
                  <a:ext cx="644" cy="0"/>
                </a:xfrm>
                <a:prstGeom prst="straightConnector1">
                  <a:avLst/>
                </a:prstGeom>
                <a:ln>
                  <a:solidFill>
                    <a:schemeClr val="tx1"/>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13502" y="5347"/>
                  <a:ext cx="422" cy="452"/>
                </a:xfrm>
                <a:prstGeom prst="rect">
                  <a:avLst/>
                </a:prstGeom>
                <a:noFill/>
              </p:spPr>
              <p:txBody>
                <a:bodyPr wrap="square" rtlCol="0">
                  <a:spAutoFit/>
                </a:bodyPr>
                <a:lstStyle/>
                <a:p>
                  <a:r>
                    <a:rPr lang="en-US" altLang="zh-CN" sz="1400"/>
                    <a:t>2</a:t>
                  </a:r>
                  <a:endParaRPr lang="en-US" altLang="zh-CN" sz="1400"/>
                </a:p>
              </p:txBody>
            </p:sp>
            <p:sp>
              <p:nvSpPr>
                <p:cNvPr id="52" name="文本框 51"/>
                <p:cNvSpPr txBox="1"/>
                <p:nvPr/>
              </p:nvSpPr>
              <p:spPr>
                <a:xfrm>
                  <a:off x="13888" y="6042"/>
                  <a:ext cx="422" cy="452"/>
                </a:xfrm>
                <a:prstGeom prst="rect">
                  <a:avLst/>
                </a:prstGeom>
                <a:noFill/>
              </p:spPr>
              <p:txBody>
                <a:bodyPr wrap="square" rtlCol="0">
                  <a:spAutoFit/>
                </a:bodyPr>
                <a:lstStyle/>
                <a:p>
                  <a:r>
                    <a:rPr lang="en-US" altLang="zh-CN" sz="1400"/>
                    <a:t>5</a:t>
                  </a:r>
                  <a:endParaRPr lang="en-US" altLang="zh-CN" sz="1400"/>
                </a:p>
              </p:txBody>
            </p:sp>
          </p:grpSp>
          <p:grpSp>
            <p:nvGrpSpPr>
              <p:cNvPr id="62" name="组合 61"/>
              <p:cNvGrpSpPr/>
              <p:nvPr/>
            </p:nvGrpSpPr>
            <p:grpSpPr>
              <a:xfrm>
                <a:off x="15957" y="5171"/>
                <a:ext cx="1488" cy="1348"/>
                <a:chOff x="15682" y="5146"/>
                <a:chExt cx="1488" cy="1348"/>
              </a:xfrm>
            </p:grpSpPr>
            <p:sp>
              <p:nvSpPr>
                <p:cNvPr id="55" name="椭圆 54"/>
                <p:cNvSpPr/>
                <p:nvPr/>
              </p:nvSpPr>
              <p:spPr>
                <a:xfrm>
                  <a:off x="16218" y="5146"/>
                  <a:ext cx="420" cy="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A</a:t>
                  </a:r>
                  <a:endParaRPr lang="en-US" altLang="zh-CN" sz="1600">
                    <a:solidFill>
                      <a:schemeClr val="tx1"/>
                    </a:solidFill>
                  </a:endParaRPr>
                </a:p>
              </p:txBody>
            </p:sp>
            <p:sp>
              <p:nvSpPr>
                <p:cNvPr id="56" name="椭圆 55"/>
                <p:cNvSpPr/>
                <p:nvPr/>
              </p:nvSpPr>
              <p:spPr>
                <a:xfrm>
                  <a:off x="15682" y="5944"/>
                  <a:ext cx="424" cy="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B</a:t>
                  </a:r>
                  <a:endParaRPr lang="en-US" altLang="zh-CN" sz="1600">
                    <a:solidFill>
                      <a:schemeClr val="tx1"/>
                    </a:solidFill>
                  </a:endParaRPr>
                </a:p>
              </p:txBody>
            </p:sp>
            <p:sp>
              <p:nvSpPr>
                <p:cNvPr id="57" name="椭圆 56"/>
                <p:cNvSpPr/>
                <p:nvPr/>
              </p:nvSpPr>
              <p:spPr>
                <a:xfrm>
                  <a:off x="16750" y="5944"/>
                  <a:ext cx="420" cy="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C</a:t>
                  </a:r>
                  <a:endParaRPr lang="en-US" altLang="zh-CN" sz="1600">
                    <a:solidFill>
                      <a:schemeClr val="tx1"/>
                    </a:solidFill>
                  </a:endParaRPr>
                </a:p>
              </p:txBody>
            </p:sp>
            <p:cxnSp>
              <p:nvCxnSpPr>
                <p:cNvPr id="58" name="直接箭头连接符 57"/>
                <p:cNvCxnSpPr/>
                <p:nvPr/>
              </p:nvCxnSpPr>
              <p:spPr>
                <a:xfrm flipH="1" flipV="1">
                  <a:off x="16555" y="5512"/>
                  <a:ext cx="291" cy="452"/>
                </a:xfrm>
                <a:prstGeom prst="straightConnector1">
                  <a:avLst/>
                </a:prstGeom>
                <a:ln>
                  <a:solidFill>
                    <a:schemeClr val="tx1"/>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cxnSp>
              <p:nvCxnSpPr>
                <p:cNvPr id="59" name="直接箭头连接符 58"/>
                <p:cNvCxnSpPr>
                  <a:stCxn id="57" idx="2"/>
                  <a:endCxn id="56" idx="6"/>
                </p:cNvCxnSpPr>
                <p:nvPr/>
              </p:nvCxnSpPr>
              <p:spPr>
                <a:xfrm flipH="1">
                  <a:off x="16106" y="6154"/>
                  <a:ext cx="644" cy="0"/>
                </a:xfrm>
                <a:prstGeom prst="straightConnector1">
                  <a:avLst/>
                </a:prstGeom>
                <a:ln>
                  <a:solidFill>
                    <a:schemeClr val="tx1"/>
                  </a:solidFill>
                  <a:headEnd type="triangle" w="med" len="med"/>
                  <a:tailEnd type="none" w="med" len="med"/>
                </a:ln>
              </p:spPr>
              <p:style>
                <a:lnRef idx="2">
                  <a:schemeClr val="accent1"/>
                </a:lnRef>
                <a:fillRef idx="0">
                  <a:srgbClr val="FFFFFF"/>
                </a:fillRef>
                <a:effectRef idx="0">
                  <a:srgbClr val="FFFFFF"/>
                </a:effectRef>
                <a:fontRef idx="minor">
                  <a:schemeClr val="tx1"/>
                </a:fontRef>
              </p:style>
            </p:cxnSp>
            <p:sp>
              <p:nvSpPr>
                <p:cNvPr id="60" name="文本框 59"/>
                <p:cNvSpPr txBox="1"/>
                <p:nvPr/>
              </p:nvSpPr>
              <p:spPr>
                <a:xfrm>
                  <a:off x="16638" y="5422"/>
                  <a:ext cx="422" cy="452"/>
                </a:xfrm>
                <a:prstGeom prst="rect">
                  <a:avLst/>
                </a:prstGeom>
                <a:noFill/>
              </p:spPr>
              <p:txBody>
                <a:bodyPr wrap="square" rtlCol="0">
                  <a:spAutoFit/>
                </a:bodyPr>
                <a:lstStyle/>
                <a:p>
                  <a:r>
                    <a:rPr lang="en-US" altLang="zh-CN" sz="1400"/>
                    <a:t>2</a:t>
                  </a:r>
                  <a:endParaRPr lang="en-US" altLang="zh-CN" sz="1400"/>
                </a:p>
              </p:txBody>
            </p:sp>
            <p:sp>
              <p:nvSpPr>
                <p:cNvPr id="61" name="文本框 60"/>
                <p:cNvSpPr txBox="1"/>
                <p:nvPr/>
              </p:nvSpPr>
              <p:spPr>
                <a:xfrm>
                  <a:off x="16171" y="6042"/>
                  <a:ext cx="422" cy="452"/>
                </a:xfrm>
                <a:prstGeom prst="rect">
                  <a:avLst/>
                </a:prstGeom>
                <a:noFill/>
              </p:spPr>
              <p:txBody>
                <a:bodyPr wrap="square" rtlCol="0">
                  <a:spAutoFit/>
                </a:bodyPr>
                <a:lstStyle/>
                <a:p>
                  <a:r>
                    <a:rPr lang="en-US" altLang="zh-CN" sz="1400"/>
                    <a:t>3</a:t>
                  </a:r>
                  <a:endParaRPr lang="en-US" altLang="zh-CN" sz="1400"/>
                </a:p>
              </p:txBody>
            </p:sp>
          </p:grpSp>
          <p:sp>
            <p:nvSpPr>
              <p:cNvPr id="64" name="下箭头 63"/>
              <p:cNvSpPr/>
              <p:nvPr/>
            </p:nvSpPr>
            <p:spPr>
              <a:xfrm rot="16200000">
                <a:off x="15162" y="5408"/>
                <a:ext cx="520" cy="776"/>
              </a:xfrm>
              <a:prstGeom prst="downArrow">
                <a:avLst/>
              </a:prstGeom>
              <a:solidFill>
                <a:schemeClr val="bg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13900" y="4548"/>
              <a:ext cx="4786" cy="725"/>
            </a:xfrm>
            <a:prstGeom prst="rect">
              <a:avLst/>
            </a:prstGeom>
            <a:noFill/>
          </p:spPr>
          <p:txBody>
            <a:bodyPr wrap="square" rtlCol="0">
              <a:spAutoFit/>
            </a:bodyPr>
            <a:lstStyle/>
            <a:p>
              <a:pPr algn="ctr"/>
              <a:r>
                <a:rPr lang="en-US" altLang="zh-CN" sz="1200">
                  <a:solidFill>
                    <a:srgbClr val="7030A0"/>
                  </a:solidFill>
                  <a:latin typeface="Georgia" panose="02040502050405020303" charset="0"/>
                  <a:cs typeface="Georgia" panose="02040502050405020303" charset="0"/>
                </a:rPr>
                <a:t>same distribution but less movement (saving on costs)</a:t>
              </a:r>
              <a:endParaRPr lang="en-US" altLang="zh-CN" sz="1200">
                <a:solidFill>
                  <a:srgbClr val="7030A0"/>
                </a:solidFill>
                <a:latin typeface="Georgia" panose="02040502050405020303" charset="0"/>
                <a:cs typeface="Georgia" panose="02040502050405020303" charset="0"/>
              </a:endParaRPr>
            </a:p>
          </p:txBody>
        </p:sp>
      </p:grpSp>
      <p:grpSp>
        <p:nvGrpSpPr>
          <p:cNvPr id="41" name="组合 40"/>
          <p:cNvGrpSpPr/>
          <p:nvPr/>
        </p:nvGrpSpPr>
        <p:grpSpPr>
          <a:xfrm>
            <a:off x="4676457" y="255267"/>
            <a:ext cx="6027744" cy="562117"/>
            <a:chOff x="5032057" y="267967"/>
            <a:chExt cx="6027744" cy="562117"/>
          </a:xfrm>
        </p:grpSpPr>
        <p:sp>
          <p:nvSpPr>
            <p:cNvPr id="18" name="文本框 17"/>
            <p:cNvSpPr txBox="1"/>
            <p:nvPr/>
          </p:nvSpPr>
          <p:spPr>
            <a:xfrm>
              <a:off x="5032057" y="267967"/>
              <a:ext cx="1894523" cy="553998"/>
            </a:xfrm>
            <a:prstGeom prst="rect">
              <a:avLst/>
            </a:prstGeom>
            <a:noFill/>
          </p:spPr>
          <p:txBody>
            <a:bodyPr wrap="square" rtlCol="0">
              <a:spAutoFit/>
            </a:bodyPr>
            <a:lstStyle/>
            <a:p>
              <a:pPr algn="ctr">
                <a:lnSpc>
                  <a:spcPts val="1800"/>
                </a:lnSpc>
              </a:pPr>
              <a:r>
                <a:rPr lang="en-US" altLang="zh-CN" dirty="0">
                  <a:solidFill>
                    <a:srgbClr val="0070C0"/>
                  </a:solidFill>
                </a:rPr>
                <a:t>Rules of Transshipment</a:t>
              </a:r>
              <a:endParaRPr lang="zh-CN" altLang="en-US" dirty="0">
                <a:solidFill>
                  <a:srgbClr val="0070C0"/>
                </a:solidFill>
              </a:endParaRPr>
            </a:p>
          </p:txBody>
        </p:sp>
        <p:sp>
          <p:nvSpPr>
            <p:cNvPr id="19" name="文本框 18"/>
            <p:cNvSpPr txBox="1"/>
            <p:nvPr/>
          </p:nvSpPr>
          <p:spPr>
            <a:xfrm>
              <a:off x="7098668" y="267967"/>
              <a:ext cx="1894523" cy="553998"/>
            </a:xfrm>
            <a:prstGeom prst="rect">
              <a:avLst/>
            </a:prstGeom>
            <a:noFill/>
          </p:spPr>
          <p:txBody>
            <a:bodyPr wrap="square" rtlCol="0">
              <a:spAutoFit/>
            </a:bodyPr>
            <a:lstStyle/>
            <a:p>
              <a:pPr algn="ctr">
                <a:lnSpc>
                  <a:spcPts val="1800"/>
                </a:lnSpc>
              </a:pPr>
              <a:r>
                <a:rPr lang="en-US" altLang="zh-CN" dirty="0">
                  <a:solidFill>
                    <a:srgbClr val="0070C0"/>
                  </a:solidFill>
                </a:rPr>
                <a:t>Two Constraints</a:t>
              </a:r>
              <a:endParaRPr lang="zh-CN" altLang="en-US" dirty="0">
                <a:solidFill>
                  <a:srgbClr val="0070C0"/>
                </a:solidFill>
              </a:endParaRPr>
            </a:p>
          </p:txBody>
        </p:sp>
        <p:cxnSp>
          <p:nvCxnSpPr>
            <p:cNvPr id="21" name="直接箭头连接符 20"/>
            <p:cNvCxnSpPr/>
            <p:nvPr/>
          </p:nvCxnSpPr>
          <p:spPr>
            <a:xfrm>
              <a:off x="6796624" y="525916"/>
              <a:ext cx="43200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8863235" y="544966"/>
              <a:ext cx="43200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9165278" y="276086"/>
              <a:ext cx="1894523" cy="553998"/>
            </a:xfrm>
            <a:prstGeom prst="rect">
              <a:avLst/>
            </a:prstGeom>
            <a:noFill/>
          </p:spPr>
          <p:txBody>
            <a:bodyPr wrap="square" rtlCol="0">
              <a:spAutoFit/>
            </a:bodyPr>
            <a:lstStyle/>
            <a:p>
              <a:pPr algn="ctr">
                <a:lnSpc>
                  <a:spcPts val="1800"/>
                </a:lnSpc>
              </a:pPr>
              <a:r>
                <a:rPr lang="en-US" altLang="zh-CN" dirty="0">
                  <a:solidFill>
                    <a:srgbClr val="0070C0"/>
                  </a:solidFill>
                </a:rPr>
                <a:t>Accomplish Coordination</a:t>
              </a:r>
              <a:endParaRPr lang="zh-CN" altLang="en-US" dirty="0">
                <a:solidFill>
                  <a:srgbClr val="0070C0"/>
                </a:solidFill>
              </a:endParaRPr>
            </a:p>
          </p:txBody>
        </p:sp>
      </p:grpSp>
    </p:spTree>
  </p:cSld>
  <p:clrMapOvr>
    <a:masterClrMapping/>
  </p:clrMapOvr>
  <mc:AlternateContent xmlns:mc="http://schemas.openxmlformats.org/markup-compatibility/2006">
    <mc:Choice xmlns:p14="http://schemas.microsoft.com/office/powerpoint/2010/main" Requires="p14">
      <p:transition p14:dur="250" advTm="159167">
        <p:wipe dir="d"/>
      </p:transition>
    </mc:Choice>
    <mc:Fallback>
      <p:transition advTm="159167">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par>
                                <p:cTn id="13" presetID="14" presetClass="entr" presetSubtype="1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randombar(horizontal)">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randombar(horizontal)">
                                      <p:cBhvr>
                                        <p:cTn id="23" dur="500"/>
                                        <p:tgtEl>
                                          <p:spTgt spid="8"/>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randombar(horizontal)">
                                      <p:cBhvr>
                                        <p:cTn id="26" dur="500"/>
                                        <p:tgtEl>
                                          <p:spTgt spid="37"/>
                                        </p:tgtEl>
                                      </p:cBhvr>
                                    </p:animEffect>
                                  </p:childTnLst>
                                </p:cTn>
                              </p:par>
                              <p:par>
                                <p:cTn id="27" presetID="14" presetClass="entr" presetSubtype="1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randombar(horizont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7" grpId="0"/>
      <p:bldP spid="37"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086485" y="235585"/>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72945" y="1009015"/>
            <a:ext cx="10440000" cy="927263"/>
          </a:xfrm>
          <a:prstGeom prst="rect">
            <a:avLst/>
          </a:prstGeom>
        </p:spPr>
      </p:pic>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rcRect l="432"/>
          <a:stretch>
            <a:fillRect/>
          </a:stretch>
        </p:blipFill>
        <p:spPr>
          <a:xfrm>
            <a:off x="772945" y="2077085"/>
            <a:ext cx="10440000" cy="1394764"/>
          </a:xfrm>
          <a:prstGeom prst="rect">
            <a:avLst/>
          </a:prstGeom>
        </p:spPr>
      </p:pic>
      <p:pic>
        <p:nvPicPr>
          <p:cNvPr id="7" name="图片 6"/>
          <p:cNvPicPr>
            <a:picLocks noChangeAspect="1"/>
          </p:cNvPicPr>
          <p:nvPr/>
        </p:nvPicPr>
        <p:blipFill>
          <a:blip r:embed="rId3">
            <a:clrChange>
              <a:clrFrom>
                <a:srgbClr val="FFFFFF">
                  <a:alpha val="100000"/>
                </a:srgbClr>
              </a:clrFrom>
              <a:clrTo>
                <a:srgbClr val="FFFFFF">
                  <a:alpha val="100000"/>
                  <a:alpha val="0"/>
                </a:srgbClr>
              </a:clrTo>
            </a:clrChange>
          </a:blip>
          <a:srcRect l="353"/>
          <a:stretch>
            <a:fillRect/>
          </a:stretch>
        </p:blipFill>
        <p:spPr>
          <a:xfrm>
            <a:off x="772945" y="3606800"/>
            <a:ext cx="10440000" cy="1303168"/>
          </a:xfrm>
          <a:prstGeom prst="rect">
            <a:avLst/>
          </a:prstGeom>
        </p:spPr>
      </p:pic>
      <p:pic>
        <p:nvPicPr>
          <p:cNvPr id="8" name="图片 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772945" y="5046508"/>
            <a:ext cx="10440000" cy="15811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16848">
        <p:wipe dir="d"/>
      </p:transition>
    </mc:Choice>
    <mc:Fallback>
      <p:transition advTm="16848">
        <p:wipe dir="d"/>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664845" y="1578610"/>
            <a:ext cx="6181090" cy="471741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56970" y="230505"/>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sp>
        <p:nvSpPr>
          <p:cNvPr id="4" name="文本框 3"/>
          <p:cNvSpPr txBox="1"/>
          <p:nvPr/>
        </p:nvSpPr>
        <p:spPr>
          <a:xfrm>
            <a:off x="532130" y="961390"/>
            <a:ext cx="6497320" cy="429895"/>
          </a:xfrm>
          <a:prstGeom prst="rect">
            <a:avLst/>
          </a:prstGeom>
        </p:spPr>
        <p:txBody>
          <a:bodyPr wrap="square">
            <a:spAutoFit/>
          </a:bodyPr>
          <a:lstStyle/>
          <a:p>
            <a:pPr marL="342900" indent="-342900">
              <a:buFont typeface="Wingdings" panose="05000000000000000000" charset="0"/>
              <a:buChar char="n"/>
            </a:pPr>
            <a:r>
              <a:rPr lang="en-US" altLang="zh-CN" sz="2200">
                <a:solidFill>
                  <a:srgbClr val="000000"/>
                </a:solidFill>
                <a:latin typeface="Georgia" panose="02040502050405020303" charset="0"/>
                <a:ea typeface="CMBX12"/>
                <a:cs typeface="Georgia" panose="02040502050405020303" charset="0"/>
                <a:sym typeface="+mn-ea"/>
              </a:rPr>
              <a:t>Coordinated Policy Generation: Main Procedure </a:t>
            </a:r>
            <a:endParaRPr lang="en-US" altLang="zh-CN" sz="2200">
              <a:solidFill>
                <a:srgbClr val="000000"/>
              </a:solidFill>
              <a:latin typeface="Georgia" panose="02040502050405020303" charset="0"/>
              <a:ea typeface="CMBX12"/>
              <a:cs typeface="Georgia" panose="02040502050405020303" charset="0"/>
              <a:sym typeface="+mn-ea"/>
            </a:endParaRPr>
          </a:p>
        </p:txBody>
      </p:sp>
      <p:sp>
        <p:nvSpPr>
          <p:cNvPr id="9" name="矩形 8"/>
          <p:cNvSpPr/>
          <p:nvPr/>
        </p:nvSpPr>
        <p:spPr>
          <a:xfrm>
            <a:off x="2307590" y="1732915"/>
            <a:ext cx="4481195" cy="1626235"/>
          </a:xfrm>
          <a:prstGeom prst="rect">
            <a:avLst/>
          </a:prstGeom>
          <a:noFill/>
          <a:ln w="28575">
            <a:solidFill>
              <a:srgbClr val="C00000"/>
            </a:solidFill>
          </a:ln>
          <a:effectLst>
            <a:outerShdw blurRad="50800" dist="38100" dir="5400000" algn="t"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925310" y="1405890"/>
            <a:ext cx="4393565"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Embed historical information with GRU:</a:t>
            </a:r>
            <a:endParaRPr lang="en-US" altLang="zh-CN" sz="1600">
              <a:solidFill>
                <a:srgbClr val="000000"/>
              </a:solidFill>
              <a:latin typeface="Georgia" panose="02040502050405020303" charset="0"/>
              <a:ea typeface="CMBX12"/>
              <a:cs typeface="Georgia" panose="02040502050405020303" charset="0"/>
              <a:sym typeface="+mn-ea"/>
            </a:endParaRPr>
          </a:p>
        </p:txBody>
      </p:sp>
      <p:sp>
        <p:nvSpPr>
          <p:cNvPr id="13" name="文本框 12"/>
          <p:cNvSpPr txBox="1"/>
          <p:nvPr/>
        </p:nvSpPr>
        <p:spPr>
          <a:xfrm>
            <a:off x="6925310" y="2540635"/>
            <a:ext cx="4855845"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Enhance observation via </a:t>
            </a:r>
            <a:r>
              <a:rPr lang="en-US" altLang="zh-CN" sz="1600">
                <a:solidFill>
                  <a:srgbClr val="C00000"/>
                </a:solidFill>
                <a:latin typeface="Georgia" panose="02040502050405020303" charset="0"/>
                <a:ea typeface="CMBX12"/>
                <a:cs typeface="Georgia" panose="02040502050405020303" charset="0"/>
                <a:sym typeface="+mn-ea"/>
              </a:rPr>
              <a:t>Intention Awareness</a:t>
            </a:r>
            <a:r>
              <a:rPr lang="en-US" altLang="zh-CN" sz="1600">
                <a:solidFill>
                  <a:srgbClr val="000000"/>
                </a:solidFill>
                <a:latin typeface="Georgia" panose="02040502050405020303" charset="0"/>
                <a:ea typeface="CMBX12"/>
                <a:cs typeface="Georgia" panose="02040502050405020303" charset="0"/>
                <a:sym typeface="+mn-ea"/>
              </a:rPr>
              <a:t>:</a:t>
            </a:r>
            <a:endParaRPr lang="zh-CN" altLang="en-US" sz="1600">
              <a:solidFill>
                <a:srgbClr val="000000"/>
              </a:solidFill>
              <a:latin typeface="Georgia" panose="02040502050405020303" charset="0"/>
              <a:ea typeface="宋体" panose="02010600030101010101" pitchFamily="2" charset="-122"/>
              <a:cs typeface="Georgia" panose="02040502050405020303" charset="0"/>
              <a:sym typeface="+mn-ea"/>
            </a:endParaRPr>
          </a:p>
        </p:txBody>
      </p:sp>
      <p:sp>
        <p:nvSpPr>
          <p:cNvPr id="17" name="文本框 16"/>
          <p:cNvSpPr txBox="1"/>
          <p:nvPr/>
        </p:nvSpPr>
        <p:spPr>
          <a:xfrm>
            <a:off x="6955790" y="4943475"/>
            <a:ext cx="4855845"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Sample actions from distribution after softmax:</a:t>
            </a:r>
            <a:endParaRPr lang="zh-CN" altLang="en-US" sz="1600">
              <a:solidFill>
                <a:srgbClr val="000000"/>
              </a:solidFill>
              <a:latin typeface="Georgia" panose="02040502050405020303" charset="0"/>
              <a:ea typeface="宋体" panose="02010600030101010101" pitchFamily="2" charset="-122"/>
              <a:cs typeface="Georgia" panose="02040502050405020303" charset="0"/>
              <a:sym typeface="+mn-ea"/>
            </a:endParaRPr>
          </a:p>
        </p:txBody>
      </p:sp>
      <p:pic>
        <p:nvPicPr>
          <p:cNvPr id="12" name="图片 11"/>
          <p:cNvPicPr>
            <a:picLocks noChangeAspect="1"/>
          </p:cNvPicPr>
          <p:nvPr/>
        </p:nvPicPr>
        <p:blipFill>
          <a:blip r:embed="rId2"/>
          <a:stretch>
            <a:fillRect/>
          </a:stretch>
        </p:blipFill>
        <p:spPr>
          <a:xfrm>
            <a:off x="7029450" y="5318760"/>
            <a:ext cx="4782820" cy="541655"/>
          </a:xfrm>
          <a:prstGeom prst="rect">
            <a:avLst/>
          </a:prstGeom>
        </p:spPr>
      </p:pic>
      <p:grpSp>
        <p:nvGrpSpPr>
          <p:cNvPr id="11" name="组合 10"/>
          <p:cNvGrpSpPr/>
          <p:nvPr/>
        </p:nvGrpSpPr>
        <p:grpSpPr>
          <a:xfrm>
            <a:off x="7451725" y="2915920"/>
            <a:ext cx="3985897" cy="850900"/>
            <a:chOff x="11735" y="4983"/>
            <a:chExt cx="6255" cy="1336"/>
          </a:xfrm>
        </p:grpSpPr>
        <p:pic>
          <p:nvPicPr>
            <p:cNvPr id="3" name="图片 2"/>
            <p:cNvPicPr>
              <a:picLocks noChangeAspect="1"/>
            </p:cNvPicPr>
            <p:nvPr/>
          </p:nvPicPr>
          <p:blipFill>
            <a:blip r:embed="rId3"/>
            <a:stretch>
              <a:fillRect/>
            </a:stretch>
          </p:blipFill>
          <p:spPr>
            <a:xfrm>
              <a:off x="11738" y="4983"/>
              <a:ext cx="6248" cy="644"/>
            </a:xfrm>
            <a:prstGeom prst="rect">
              <a:avLst/>
            </a:prstGeom>
          </p:spPr>
        </p:pic>
        <p:pic>
          <p:nvPicPr>
            <p:cNvPr id="7" name="图片 6"/>
            <p:cNvPicPr>
              <a:picLocks noChangeAspect="1"/>
            </p:cNvPicPr>
            <p:nvPr/>
          </p:nvPicPr>
          <p:blipFill>
            <a:blip r:embed="rId4"/>
            <a:stretch>
              <a:fillRect/>
            </a:stretch>
          </p:blipFill>
          <p:spPr>
            <a:xfrm>
              <a:off x="11735" y="5731"/>
              <a:ext cx="6255" cy="588"/>
            </a:xfrm>
            <a:prstGeom prst="rect">
              <a:avLst/>
            </a:prstGeom>
          </p:spPr>
        </p:pic>
      </p:grpSp>
      <p:pic>
        <p:nvPicPr>
          <p:cNvPr id="15" name="图片 14"/>
          <p:cNvPicPr>
            <a:picLocks noChangeAspect="1"/>
          </p:cNvPicPr>
          <p:nvPr/>
        </p:nvPicPr>
        <p:blipFill>
          <a:blip r:embed="rId5"/>
          <a:stretch>
            <a:fillRect/>
          </a:stretch>
        </p:blipFill>
        <p:spPr>
          <a:xfrm>
            <a:off x="7451090" y="1781175"/>
            <a:ext cx="4161790" cy="721360"/>
          </a:xfrm>
          <a:prstGeom prst="rect">
            <a:avLst/>
          </a:prstGeom>
        </p:spPr>
      </p:pic>
      <p:pic>
        <p:nvPicPr>
          <p:cNvPr id="16" name="图片 15"/>
          <p:cNvPicPr>
            <a:picLocks noChangeAspect="1"/>
          </p:cNvPicPr>
          <p:nvPr/>
        </p:nvPicPr>
        <p:blipFill>
          <a:blip r:embed="rId6"/>
          <a:stretch>
            <a:fillRect/>
          </a:stretch>
        </p:blipFill>
        <p:spPr>
          <a:xfrm>
            <a:off x="7772400" y="4180205"/>
            <a:ext cx="3597910" cy="725170"/>
          </a:xfrm>
          <a:prstGeom prst="rect">
            <a:avLst/>
          </a:prstGeom>
        </p:spPr>
      </p:pic>
      <p:sp>
        <p:nvSpPr>
          <p:cNvPr id="18" name="文本框 17"/>
          <p:cNvSpPr txBox="1"/>
          <p:nvPr/>
        </p:nvSpPr>
        <p:spPr>
          <a:xfrm>
            <a:off x="6955790" y="3804920"/>
            <a:ext cx="4855845" cy="337185"/>
          </a:xfrm>
          <a:prstGeom prst="rect">
            <a:avLst/>
          </a:prstGeom>
        </p:spPr>
        <p:txBody>
          <a:bodyPr wrap="square">
            <a:spAutoFit/>
          </a:bodyPr>
          <a:lstStyle/>
          <a:p>
            <a:pPr marL="284480" indent="-212090" fontAlgn="auto">
              <a:buFont typeface="Arial" panose="020B0604020202020204" pitchFamily="34" charset="0"/>
              <a:buChar char="•"/>
            </a:pPr>
            <a:r>
              <a:rPr lang="en-US" altLang="zh-CN" sz="1600">
                <a:solidFill>
                  <a:srgbClr val="000000"/>
                </a:solidFill>
                <a:latin typeface="Georgia" panose="02040502050405020303" charset="0"/>
                <a:ea typeface="CMBX12"/>
                <a:cs typeface="Georgia" panose="02040502050405020303" charset="0"/>
                <a:sym typeface="+mn-ea"/>
              </a:rPr>
              <a:t>Map enhanced observation to policy logit:</a:t>
            </a:r>
            <a:endParaRPr lang="zh-CN" altLang="en-US" sz="1600">
              <a:solidFill>
                <a:srgbClr val="000000"/>
              </a:solidFill>
              <a:latin typeface="Georgia" panose="02040502050405020303" charset="0"/>
              <a:ea typeface="宋体" panose="02010600030101010101" pitchFamily="2" charset="-122"/>
              <a:cs typeface="Georgia" panose="02040502050405020303" charset="0"/>
              <a:sym typeface="+mn-ea"/>
            </a:endParaRPr>
          </a:p>
        </p:txBody>
      </p:sp>
      <p:sp>
        <p:nvSpPr>
          <p:cNvPr id="19" name="矩形 18"/>
          <p:cNvSpPr/>
          <p:nvPr/>
        </p:nvSpPr>
        <p:spPr>
          <a:xfrm>
            <a:off x="10476865" y="5941695"/>
            <a:ext cx="681990" cy="278765"/>
          </a:xfrm>
          <a:prstGeom prst="rect">
            <a:avLst/>
          </a:prstGeom>
          <a:solidFill>
            <a:schemeClr val="accent4">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7733030" y="5920105"/>
            <a:ext cx="3460115" cy="6546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67354">
        <p:wipe dir="d"/>
      </p:transition>
    </mc:Choice>
    <mc:Fallback>
      <p:transition advTm="67354">
        <p:wipe dir="d"/>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096010" y="226060"/>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sp>
        <p:nvSpPr>
          <p:cNvPr id="4" name="文本框 3"/>
          <p:cNvSpPr txBox="1"/>
          <p:nvPr/>
        </p:nvSpPr>
        <p:spPr>
          <a:xfrm>
            <a:off x="496570" y="951865"/>
            <a:ext cx="8999855" cy="429895"/>
          </a:xfrm>
          <a:prstGeom prst="rect">
            <a:avLst/>
          </a:prstGeom>
        </p:spPr>
        <p:txBody>
          <a:bodyPr wrap="square">
            <a:spAutoFit/>
          </a:bodyPr>
          <a:lstStyle/>
          <a:p>
            <a:pPr marL="342900" indent="-342900">
              <a:buFont typeface="Wingdings" panose="05000000000000000000" charset="0"/>
              <a:buChar char="n"/>
            </a:pPr>
            <a:r>
              <a:rPr lang="en-US" altLang="zh-CN" sz="2200">
                <a:solidFill>
                  <a:srgbClr val="000000"/>
                </a:solidFill>
                <a:latin typeface="Georgia" panose="02040502050405020303" charset="0"/>
                <a:ea typeface="CMBX12"/>
                <a:cs typeface="Georgia" panose="02040502050405020303" charset="0"/>
                <a:sym typeface="+mn-ea"/>
              </a:rPr>
              <a:t>Coordinated Policy Generation: Intention Awareness </a:t>
            </a:r>
            <a:endParaRPr lang="en-US" altLang="zh-CN" sz="2200">
              <a:solidFill>
                <a:srgbClr val="000000"/>
              </a:solidFill>
              <a:latin typeface="Georgia" panose="02040502050405020303" charset="0"/>
              <a:ea typeface="CMBX12"/>
              <a:cs typeface="Georgia" panose="02040502050405020303" charset="0"/>
              <a:sym typeface="+mn-ea"/>
            </a:endParaRPr>
          </a:p>
        </p:txBody>
      </p:sp>
      <p:sp>
        <p:nvSpPr>
          <p:cNvPr id="3" name="文本框 2"/>
          <p:cNvSpPr txBox="1"/>
          <p:nvPr/>
        </p:nvSpPr>
        <p:spPr>
          <a:xfrm>
            <a:off x="839470" y="1393825"/>
            <a:ext cx="576262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Motivation of Intention Awareness</a:t>
            </a:r>
            <a:endParaRPr lang="en-US" altLang="zh-CN" sz="2000" b="1">
              <a:solidFill>
                <a:srgbClr val="000000"/>
              </a:solidFill>
              <a:latin typeface="Georgia" panose="02040502050405020303" charset="0"/>
              <a:ea typeface="CMR10"/>
              <a:cs typeface="Georgia" panose="02040502050405020303" charset="0"/>
            </a:endParaRPr>
          </a:p>
        </p:txBody>
      </p:sp>
      <p:sp>
        <p:nvSpPr>
          <p:cNvPr id="11" name="文本框 10"/>
          <p:cNvSpPr txBox="1"/>
          <p:nvPr/>
        </p:nvSpPr>
        <p:spPr>
          <a:xfrm>
            <a:off x="892810" y="1868805"/>
            <a:ext cx="10382885" cy="783590"/>
          </a:xfrm>
          <a:prstGeom prst="rect">
            <a:avLst/>
          </a:prstGeom>
          <a:noFill/>
        </p:spPr>
        <p:txBody>
          <a:bodyPr wrap="square" rtlCol="0">
            <a:spAutoFit/>
          </a:bodyPr>
          <a:lstStyle/>
          <a:p>
            <a:pPr marL="285750" indent="-285750" algn="just" fontAlgn="auto">
              <a:lnSpc>
                <a:spcPct val="125000"/>
              </a:lnSpc>
              <a:buFont typeface="Arial" panose="020B0604020202020204" pitchFamily="34" charset="0"/>
              <a:buChar char="•"/>
            </a:pPr>
            <a:r>
              <a:rPr lang="en-US" altLang="zh-CN">
                <a:latin typeface="Georgia" panose="02040502050405020303" charset="0"/>
                <a:cs typeface="Georgia" panose="02040502050405020303" charset="0"/>
                <a:sym typeface="+mn-ea"/>
              </a:rPr>
              <a:t>When jointly making replenishment and transshipment decisions together, </a:t>
            </a:r>
            <a:r>
              <a:rPr lang="en-US" altLang="zh-CN">
                <a:latin typeface="Georgia" panose="02040502050405020303" charset="0"/>
                <a:cs typeface="Georgia" panose="02040502050405020303" charset="0"/>
              </a:rPr>
              <a:t>there exists complex coupling relationships among different retailers.</a:t>
            </a:r>
            <a:endParaRPr lang="en-US" altLang="zh-CN">
              <a:latin typeface="Georgia" panose="02040502050405020303" charset="0"/>
              <a:cs typeface="Georgia" panose="02040502050405020303" charset="0"/>
            </a:endParaRPr>
          </a:p>
        </p:txBody>
      </p:sp>
      <p:grpSp>
        <p:nvGrpSpPr>
          <p:cNvPr id="9" name="组合 8"/>
          <p:cNvGrpSpPr/>
          <p:nvPr/>
        </p:nvGrpSpPr>
        <p:grpSpPr>
          <a:xfrm>
            <a:off x="1285240" y="2720340"/>
            <a:ext cx="9918065" cy="852805"/>
            <a:chOff x="2024" y="4188"/>
            <a:chExt cx="15619" cy="1343"/>
          </a:xfrm>
        </p:grpSpPr>
        <p:grpSp>
          <p:nvGrpSpPr>
            <p:cNvPr id="37" name="组合 36"/>
            <p:cNvGrpSpPr/>
            <p:nvPr/>
          </p:nvGrpSpPr>
          <p:grpSpPr>
            <a:xfrm>
              <a:off x="2865" y="4549"/>
              <a:ext cx="2707" cy="970"/>
              <a:chOff x="3000" y="4702"/>
              <a:chExt cx="2707" cy="970"/>
            </a:xfrm>
          </p:grpSpPr>
          <p:grpSp>
            <p:nvGrpSpPr>
              <p:cNvPr id="24" name="组合 23"/>
              <p:cNvGrpSpPr/>
              <p:nvPr/>
            </p:nvGrpSpPr>
            <p:grpSpPr>
              <a:xfrm>
                <a:off x="3000" y="4762"/>
                <a:ext cx="2707" cy="910"/>
                <a:chOff x="3000" y="4927"/>
                <a:chExt cx="2707" cy="910"/>
              </a:xfrm>
            </p:grpSpPr>
            <p:sp>
              <p:nvSpPr>
                <p:cNvPr id="15" name="椭圆 14"/>
                <p:cNvSpPr/>
                <p:nvPr/>
              </p:nvSpPr>
              <p:spPr>
                <a:xfrm>
                  <a:off x="3000" y="4927"/>
                  <a:ext cx="690" cy="69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A</a:t>
                  </a:r>
                  <a:endParaRPr lang="en-US" altLang="zh-CN">
                    <a:solidFill>
                      <a:schemeClr val="tx1"/>
                    </a:solidFill>
                  </a:endParaRPr>
                </a:p>
              </p:txBody>
            </p:sp>
            <p:sp>
              <p:nvSpPr>
                <p:cNvPr id="18" name="椭圆 17"/>
                <p:cNvSpPr/>
                <p:nvPr/>
              </p:nvSpPr>
              <p:spPr>
                <a:xfrm>
                  <a:off x="4720" y="4927"/>
                  <a:ext cx="690" cy="69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B</a:t>
                  </a:r>
                  <a:endParaRPr lang="en-US" altLang="zh-CN">
                    <a:solidFill>
                      <a:schemeClr val="tx1"/>
                    </a:solidFill>
                  </a:endParaRPr>
                </a:p>
              </p:txBody>
            </p:sp>
            <p:sp>
              <p:nvSpPr>
                <p:cNvPr id="19" name="文本框 18"/>
                <p:cNvSpPr txBox="1"/>
                <p:nvPr/>
              </p:nvSpPr>
              <p:spPr>
                <a:xfrm>
                  <a:off x="3405" y="5257"/>
                  <a:ext cx="542" cy="580"/>
                </a:xfrm>
                <a:prstGeom prst="rect">
                  <a:avLst/>
                </a:prstGeom>
                <a:noFill/>
              </p:spPr>
              <p:txBody>
                <a:bodyPr wrap="square" rtlCol="0">
                  <a:spAutoFit/>
                </a:bodyPr>
                <a:lstStyle/>
                <a:p>
                  <a:r>
                    <a:rPr lang="en-US" altLang="zh-CN"/>
                    <a:t>8</a:t>
                  </a:r>
                  <a:endParaRPr lang="en-US" altLang="zh-CN"/>
                </a:p>
              </p:txBody>
            </p:sp>
            <p:sp>
              <p:nvSpPr>
                <p:cNvPr id="20" name="文本框 19"/>
                <p:cNvSpPr txBox="1"/>
                <p:nvPr/>
              </p:nvSpPr>
              <p:spPr>
                <a:xfrm>
                  <a:off x="5165" y="5257"/>
                  <a:ext cx="542" cy="580"/>
                </a:xfrm>
                <a:prstGeom prst="rect">
                  <a:avLst/>
                </a:prstGeom>
                <a:noFill/>
              </p:spPr>
              <p:txBody>
                <a:bodyPr wrap="square" rtlCol="0">
                  <a:spAutoFit/>
                </a:bodyPr>
                <a:lstStyle/>
                <a:p>
                  <a:r>
                    <a:rPr lang="en-US" altLang="zh-CN"/>
                    <a:t>6</a:t>
                  </a:r>
                  <a:endParaRPr lang="en-US" altLang="zh-CN"/>
                </a:p>
              </p:txBody>
            </p:sp>
            <p:cxnSp>
              <p:nvCxnSpPr>
                <p:cNvPr id="23" name="直接箭头连接符 22"/>
                <p:cNvCxnSpPr>
                  <a:stCxn id="15" idx="6"/>
                  <a:endCxn id="18" idx="2"/>
                </p:cNvCxnSpPr>
                <p:nvPr/>
              </p:nvCxnSpPr>
              <p:spPr>
                <a:xfrm>
                  <a:off x="3690" y="5272"/>
                  <a:ext cx="1030" cy="0"/>
                </a:xfrm>
                <a:prstGeom prst="straightConnector1">
                  <a:avLst/>
                </a:prstGeom>
                <a:ln w="19050">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grpSp>
          <p:sp>
            <p:nvSpPr>
              <p:cNvPr id="27" name="文本框 26"/>
              <p:cNvSpPr txBox="1"/>
              <p:nvPr/>
            </p:nvSpPr>
            <p:spPr>
              <a:xfrm>
                <a:off x="3990" y="4702"/>
                <a:ext cx="438" cy="580"/>
              </a:xfrm>
              <a:prstGeom prst="rect">
                <a:avLst/>
              </a:prstGeom>
              <a:noFill/>
            </p:spPr>
            <p:txBody>
              <a:bodyPr wrap="square" rtlCol="0">
                <a:spAutoFit/>
              </a:bodyPr>
              <a:lstStyle/>
              <a:p>
                <a:r>
                  <a:rPr lang="en-US" altLang="zh-CN" b="1">
                    <a:solidFill>
                      <a:schemeClr val="tx1"/>
                    </a:solidFill>
                    <a:effectLst>
                      <a:outerShdw blurRad="38100" dist="38100" dir="2700000" algn="tl">
                        <a:srgbClr val="000000">
                          <a:alpha val="43137"/>
                        </a:srgbClr>
                      </a:outerShdw>
                    </a:effectLst>
                  </a:rPr>
                  <a:t>?</a:t>
                </a:r>
                <a:endParaRPr lang="en-US" altLang="zh-CN" b="1">
                  <a:solidFill>
                    <a:schemeClr val="tx1"/>
                  </a:solidFill>
                  <a:effectLst>
                    <a:outerShdw blurRad="38100" dist="38100" dir="2700000" algn="tl">
                      <a:srgbClr val="000000">
                        <a:alpha val="43137"/>
                      </a:srgbClr>
                    </a:outerShdw>
                  </a:effectLst>
                </a:endParaRPr>
              </a:p>
            </p:txBody>
          </p:sp>
        </p:grpSp>
        <p:sp>
          <p:nvSpPr>
            <p:cNvPr id="21" name="文本框 20"/>
            <p:cNvSpPr txBox="1"/>
            <p:nvPr/>
          </p:nvSpPr>
          <p:spPr>
            <a:xfrm>
              <a:off x="5889" y="4549"/>
              <a:ext cx="3533" cy="919"/>
            </a:xfrm>
            <a:prstGeom prst="rect">
              <a:avLst/>
            </a:prstGeom>
            <a:noFill/>
          </p:spPr>
          <p:txBody>
            <a:bodyPr wrap="square" rtlCol="0">
              <a:spAutoFit/>
            </a:bodyPr>
            <a:lstStyle/>
            <a:p>
              <a:pPr algn="ctr"/>
              <a:r>
                <a:rPr lang="en-US" altLang="zh-CN" sz="1600"/>
                <a:t>transshipment quantity from A to B ?</a:t>
              </a:r>
              <a:endParaRPr lang="en-US" altLang="zh-CN" sz="1600"/>
            </a:p>
          </p:txBody>
        </p:sp>
        <p:sp>
          <p:nvSpPr>
            <p:cNvPr id="5" name="文本框 4"/>
            <p:cNvSpPr txBox="1"/>
            <p:nvPr/>
          </p:nvSpPr>
          <p:spPr>
            <a:xfrm>
              <a:off x="2467" y="4298"/>
              <a:ext cx="870" cy="531"/>
            </a:xfrm>
            <a:prstGeom prst="rect">
              <a:avLst/>
            </a:prstGeom>
            <a:noFill/>
          </p:spPr>
          <p:txBody>
            <a:bodyPr wrap="square" rtlCol="0">
              <a:spAutoFit/>
            </a:bodyPr>
            <a:lstStyle/>
            <a:p>
              <a:r>
                <a:rPr lang="en-US" altLang="zh-CN" sz="1600">
                  <a:solidFill>
                    <a:srgbClr val="C00000"/>
                  </a:solidFill>
                  <a:latin typeface="Georgia" panose="02040502050405020303" charset="0"/>
                  <a:cs typeface="Georgia" panose="02040502050405020303" charset="0"/>
                </a:rPr>
                <a:t>+0</a:t>
              </a:r>
              <a:endParaRPr lang="en-US" altLang="zh-CN" sz="1600">
                <a:solidFill>
                  <a:srgbClr val="C00000"/>
                </a:solidFill>
                <a:latin typeface="Georgia" panose="02040502050405020303" charset="0"/>
                <a:cs typeface="Georgia" panose="02040502050405020303" charset="0"/>
              </a:endParaRPr>
            </a:p>
          </p:txBody>
        </p:sp>
        <p:sp>
          <p:nvSpPr>
            <p:cNvPr id="7" name="文本框 6"/>
            <p:cNvSpPr txBox="1"/>
            <p:nvPr/>
          </p:nvSpPr>
          <p:spPr>
            <a:xfrm>
              <a:off x="2024" y="4660"/>
              <a:ext cx="918" cy="531"/>
            </a:xfrm>
            <a:prstGeom prst="rect">
              <a:avLst/>
            </a:prstGeom>
            <a:noFill/>
          </p:spPr>
          <p:txBody>
            <a:bodyPr wrap="square" rtlCol="0">
              <a:spAutoFit/>
            </a:bodyPr>
            <a:lstStyle/>
            <a:p>
              <a:pPr algn="ctr"/>
              <a:r>
                <a:rPr lang="en-US" altLang="zh-CN" sz="1600">
                  <a:solidFill>
                    <a:srgbClr val="C00000"/>
                  </a:solidFill>
                  <a:latin typeface="Georgia" panose="02040502050405020303" charset="0"/>
                  <a:cs typeface="Georgia" panose="02040502050405020303" charset="0"/>
                </a:rPr>
                <a:t>+10</a:t>
              </a:r>
              <a:endParaRPr lang="en-US" altLang="zh-CN" sz="1600">
                <a:solidFill>
                  <a:srgbClr val="C00000"/>
                </a:solidFill>
                <a:latin typeface="Georgia" panose="02040502050405020303" charset="0"/>
                <a:cs typeface="Georgia" panose="02040502050405020303" charset="0"/>
              </a:endParaRPr>
            </a:p>
          </p:txBody>
        </p:sp>
        <p:sp>
          <p:nvSpPr>
            <p:cNvPr id="8" name="文本框 7"/>
            <p:cNvSpPr txBox="1"/>
            <p:nvPr/>
          </p:nvSpPr>
          <p:spPr>
            <a:xfrm>
              <a:off x="2330" y="5000"/>
              <a:ext cx="918" cy="531"/>
            </a:xfrm>
            <a:prstGeom prst="rect">
              <a:avLst/>
            </a:prstGeom>
            <a:noFill/>
          </p:spPr>
          <p:txBody>
            <a:bodyPr wrap="square" rtlCol="0">
              <a:spAutoFit/>
            </a:bodyPr>
            <a:lstStyle/>
            <a:p>
              <a:pPr algn="ctr"/>
              <a:r>
                <a:rPr lang="en-US" altLang="zh-CN" sz="1600">
                  <a:solidFill>
                    <a:srgbClr val="C00000"/>
                  </a:solidFill>
                  <a:latin typeface="Georgia" panose="02040502050405020303" charset="0"/>
                  <a:cs typeface="Georgia" panose="02040502050405020303" charset="0"/>
                </a:rPr>
                <a:t>+20</a:t>
              </a:r>
              <a:endParaRPr lang="en-US" altLang="zh-CN" sz="1600">
                <a:solidFill>
                  <a:srgbClr val="C00000"/>
                </a:solidFill>
                <a:latin typeface="Georgia" panose="02040502050405020303" charset="0"/>
                <a:cs typeface="Georgia" panose="02040502050405020303" charset="0"/>
              </a:endParaRPr>
            </a:p>
          </p:txBody>
        </p:sp>
        <p:grpSp>
          <p:nvGrpSpPr>
            <p:cNvPr id="10" name="组合 9"/>
            <p:cNvGrpSpPr/>
            <p:nvPr/>
          </p:nvGrpSpPr>
          <p:grpSpPr>
            <a:xfrm>
              <a:off x="10689" y="4609"/>
              <a:ext cx="2707" cy="910"/>
              <a:chOff x="3000" y="4927"/>
              <a:chExt cx="2707" cy="910"/>
            </a:xfrm>
          </p:grpSpPr>
          <p:sp>
            <p:nvSpPr>
              <p:cNvPr id="12" name="椭圆 11"/>
              <p:cNvSpPr/>
              <p:nvPr/>
            </p:nvSpPr>
            <p:spPr>
              <a:xfrm>
                <a:off x="3000" y="4927"/>
                <a:ext cx="690" cy="69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C</a:t>
                </a:r>
                <a:endParaRPr lang="en-US" altLang="zh-CN">
                  <a:solidFill>
                    <a:schemeClr val="tx1"/>
                  </a:solidFill>
                </a:endParaRPr>
              </a:p>
            </p:txBody>
          </p:sp>
          <p:sp>
            <p:nvSpPr>
              <p:cNvPr id="13" name="椭圆 12"/>
              <p:cNvSpPr/>
              <p:nvPr/>
            </p:nvSpPr>
            <p:spPr>
              <a:xfrm>
                <a:off x="4720" y="4927"/>
                <a:ext cx="690" cy="69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D</a:t>
                </a:r>
                <a:endParaRPr lang="en-US" altLang="zh-CN">
                  <a:solidFill>
                    <a:schemeClr val="tx1"/>
                  </a:solidFill>
                </a:endParaRPr>
              </a:p>
            </p:txBody>
          </p:sp>
          <p:sp>
            <p:nvSpPr>
              <p:cNvPr id="14" name="文本框 13"/>
              <p:cNvSpPr txBox="1"/>
              <p:nvPr/>
            </p:nvSpPr>
            <p:spPr>
              <a:xfrm>
                <a:off x="3306" y="5257"/>
                <a:ext cx="670" cy="580"/>
              </a:xfrm>
              <a:prstGeom prst="rect">
                <a:avLst/>
              </a:prstGeom>
              <a:noFill/>
            </p:spPr>
            <p:txBody>
              <a:bodyPr wrap="square" rtlCol="0">
                <a:spAutoFit/>
              </a:bodyPr>
              <a:lstStyle/>
              <a:p>
                <a:r>
                  <a:rPr lang="en-US" altLang="zh-CN"/>
                  <a:t>12</a:t>
                </a:r>
                <a:endParaRPr lang="en-US" altLang="zh-CN"/>
              </a:p>
            </p:txBody>
          </p:sp>
          <p:sp>
            <p:nvSpPr>
              <p:cNvPr id="16" name="文本框 15"/>
              <p:cNvSpPr txBox="1"/>
              <p:nvPr/>
            </p:nvSpPr>
            <p:spPr>
              <a:xfrm>
                <a:off x="5165" y="5257"/>
                <a:ext cx="542" cy="580"/>
              </a:xfrm>
              <a:prstGeom prst="rect">
                <a:avLst/>
              </a:prstGeom>
              <a:noFill/>
            </p:spPr>
            <p:txBody>
              <a:bodyPr wrap="square" rtlCol="0">
                <a:spAutoFit/>
              </a:bodyPr>
              <a:lstStyle/>
              <a:p>
                <a:r>
                  <a:rPr lang="en-US" altLang="zh-CN">
                    <a:effectLst/>
                  </a:rPr>
                  <a:t>3</a:t>
                </a:r>
                <a:endParaRPr lang="en-US" altLang="zh-CN">
                  <a:effectLst/>
                </a:endParaRPr>
              </a:p>
            </p:txBody>
          </p:sp>
          <p:cxnSp>
            <p:nvCxnSpPr>
              <p:cNvPr id="17" name="直接箭头连接符 16"/>
              <p:cNvCxnSpPr>
                <a:stCxn id="12" idx="6"/>
                <a:endCxn id="13" idx="2"/>
              </p:cNvCxnSpPr>
              <p:nvPr/>
            </p:nvCxnSpPr>
            <p:spPr>
              <a:xfrm>
                <a:off x="3690" y="5272"/>
                <a:ext cx="1030" cy="0"/>
              </a:xfrm>
              <a:prstGeom prst="straightConnector1">
                <a:avLst/>
              </a:prstGeom>
              <a:ln w="19050">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grpSp>
        <p:sp>
          <p:nvSpPr>
            <p:cNvPr id="22" name="文本框 21"/>
            <p:cNvSpPr txBox="1"/>
            <p:nvPr/>
          </p:nvSpPr>
          <p:spPr>
            <a:xfrm>
              <a:off x="11532" y="4188"/>
              <a:ext cx="912" cy="580"/>
            </a:xfrm>
            <a:prstGeom prst="rect">
              <a:avLst/>
            </a:prstGeom>
            <a:noFill/>
          </p:spPr>
          <p:txBody>
            <a:bodyPr wrap="square" rtlCol="0">
              <a:spAutoFit/>
            </a:bodyPr>
            <a:lstStyle/>
            <a:p>
              <a:r>
                <a:rPr lang="en-US" altLang="zh-CN">
                  <a:solidFill>
                    <a:srgbClr val="C00000"/>
                  </a:solidFill>
                  <a:effectLst/>
                  <a:latin typeface="Georgia" panose="02040502050405020303" charset="0"/>
                  <a:cs typeface="Georgia" panose="02040502050405020303" charset="0"/>
                </a:rPr>
                <a:t>+0</a:t>
              </a:r>
              <a:endParaRPr lang="en-US" altLang="zh-CN">
                <a:solidFill>
                  <a:srgbClr val="C00000"/>
                </a:solidFill>
                <a:effectLst/>
                <a:latin typeface="Georgia" panose="02040502050405020303" charset="0"/>
                <a:cs typeface="Georgia" panose="02040502050405020303" charset="0"/>
              </a:endParaRPr>
            </a:p>
          </p:txBody>
        </p:sp>
        <p:sp>
          <p:nvSpPr>
            <p:cNvPr id="106" name="文本框 105"/>
            <p:cNvSpPr txBox="1"/>
            <p:nvPr/>
          </p:nvSpPr>
          <p:spPr>
            <a:xfrm>
              <a:off x="11532" y="4533"/>
              <a:ext cx="912" cy="580"/>
            </a:xfrm>
            <a:prstGeom prst="rect">
              <a:avLst/>
            </a:prstGeom>
            <a:noFill/>
          </p:spPr>
          <p:txBody>
            <a:bodyPr wrap="square" rtlCol="0">
              <a:spAutoFit/>
            </a:bodyPr>
            <a:lstStyle/>
            <a:p>
              <a:r>
                <a:rPr lang="en-US" altLang="zh-CN">
                  <a:solidFill>
                    <a:srgbClr val="C00000"/>
                  </a:solidFill>
                  <a:effectLst/>
                  <a:latin typeface="Georgia" panose="02040502050405020303" charset="0"/>
                  <a:cs typeface="Georgia" panose="02040502050405020303" charset="0"/>
                </a:rPr>
                <a:t>+2</a:t>
              </a:r>
              <a:endParaRPr lang="en-US" altLang="zh-CN">
                <a:solidFill>
                  <a:srgbClr val="C00000"/>
                </a:solidFill>
                <a:effectLst/>
                <a:latin typeface="Georgia" panose="02040502050405020303" charset="0"/>
                <a:cs typeface="Georgia" panose="02040502050405020303" charset="0"/>
              </a:endParaRPr>
            </a:p>
          </p:txBody>
        </p:sp>
        <p:sp>
          <p:nvSpPr>
            <p:cNvPr id="109" name="文本框 108"/>
            <p:cNvSpPr txBox="1"/>
            <p:nvPr/>
          </p:nvSpPr>
          <p:spPr>
            <a:xfrm>
              <a:off x="11532" y="4878"/>
              <a:ext cx="912" cy="580"/>
            </a:xfrm>
            <a:prstGeom prst="rect">
              <a:avLst/>
            </a:prstGeom>
            <a:noFill/>
          </p:spPr>
          <p:txBody>
            <a:bodyPr wrap="square" rtlCol="0">
              <a:spAutoFit/>
            </a:bodyPr>
            <a:lstStyle/>
            <a:p>
              <a:r>
                <a:rPr lang="en-US" altLang="zh-CN">
                  <a:solidFill>
                    <a:srgbClr val="C00000"/>
                  </a:solidFill>
                  <a:effectLst/>
                  <a:latin typeface="Georgia" panose="02040502050405020303" charset="0"/>
                  <a:cs typeface="Georgia" panose="02040502050405020303" charset="0"/>
                </a:rPr>
                <a:t>+5</a:t>
              </a:r>
              <a:endParaRPr lang="en-US" altLang="zh-CN">
                <a:solidFill>
                  <a:srgbClr val="C00000"/>
                </a:solidFill>
                <a:effectLst/>
                <a:latin typeface="Georgia" panose="02040502050405020303" charset="0"/>
                <a:cs typeface="Georgia" panose="02040502050405020303" charset="0"/>
              </a:endParaRPr>
            </a:p>
          </p:txBody>
        </p:sp>
        <p:sp>
          <p:nvSpPr>
            <p:cNvPr id="114" name="文本框 113"/>
            <p:cNvSpPr txBox="1"/>
            <p:nvPr/>
          </p:nvSpPr>
          <p:spPr>
            <a:xfrm>
              <a:off x="13951" y="4549"/>
              <a:ext cx="3692" cy="919"/>
            </a:xfrm>
            <a:prstGeom prst="rect">
              <a:avLst/>
            </a:prstGeom>
            <a:noFill/>
          </p:spPr>
          <p:txBody>
            <a:bodyPr wrap="square" rtlCol="0">
              <a:spAutoFit/>
            </a:bodyPr>
            <a:lstStyle/>
            <a:p>
              <a:pPr algn="ctr"/>
              <a:r>
                <a:rPr lang="en-US" altLang="zh-CN" sz="1600"/>
                <a:t>replenishment quantity of retailer D ?</a:t>
              </a:r>
              <a:endParaRPr lang="en-US" altLang="zh-CN" sz="1600"/>
            </a:p>
          </p:txBody>
        </p:sp>
        <p:sp>
          <p:nvSpPr>
            <p:cNvPr id="115" name="文本框 114"/>
            <p:cNvSpPr txBox="1"/>
            <p:nvPr/>
          </p:nvSpPr>
          <p:spPr>
            <a:xfrm>
              <a:off x="12387" y="4315"/>
              <a:ext cx="700" cy="580"/>
            </a:xfrm>
            <a:prstGeom prst="rect">
              <a:avLst/>
            </a:prstGeom>
            <a:noFill/>
          </p:spPr>
          <p:txBody>
            <a:bodyPr wrap="square" rtlCol="0">
              <a:spAutoFit/>
            </a:bodyPr>
            <a:lstStyle/>
            <a:p>
              <a:pPr algn="ctr"/>
              <a:r>
                <a:rPr lang="en-US" altLang="zh-CN" b="1">
                  <a:effectLst>
                    <a:outerShdw blurRad="38100" dist="38100" dir="2700000" algn="tl">
                      <a:srgbClr val="000000">
                        <a:alpha val="43137"/>
                      </a:srgbClr>
                    </a:outerShdw>
                  </a:effectLst>
                </a:rPr>
                <a:t>+?</a:t>
              </a:r>
              <a:endParaRPr lang="en-US" altLang="zh-CN" b="1">
                <a:effectLst>
                  <a:outerShdw blurRad="38100" dist="38100" dir="2700000" algn="tl">
                    <a:srgbClr val="000000">
                      <a:alpha val="43137"/>
                    </a:srgbClr>
                  </a:outerShdw>
                </a:effectLst>
              </a:endParaRPr>
            </a:p>
          </p:txBody>
        </p:sp>
      </p:grpSp>
      <p:sp>
        <p:nvSpPr>
          <p:cNvPr id="33" name="文本框 32"/>
          <p:cNvSpPr txBox="1"/>
          <p:nvPr/>
        </p:nvSpPr>
        <p:spPr>
          <a:xfrm>
            <a:off x="892810" y="4528185"/>
            <a:ext cx="10382885" cy="783590"/>
          </a:xfrm>
          <a:prstGeom prst="rect">
            <a:avLst/>
          </a:prstGeom>
          <a:noFill/>
        </p:spPr>
        <p:txBody>
          <a:bodyPr wrap="square" rtlCol="0">
            <a:spAutoFit/>
          </a:bodyPr>
          <a:lstStyle/>
          <a:p>
            <a:pPr marL="285750" indent="-285750" algn="just" fontAlgn="auto">
              <a:lnSpc>
                <a:spcPct val="125000"/>
              </a:lnSpc>
              <a:spcBef>
                <a:spcPts val="600"/>
              </a:spcBef>
              <a:buFont typeface="Arial" panose="020B0604020202020204" pitchFamily="34" charset="0"/>
              <a:buChar char="•"/>
            </a:pPr>
            <a:r>
              <a:rPr lang="en-US" altLang="zh-CN">
                <a:latin typeface="Georgia" panose="02040502050405020303" charset="0"/>
                <a:cs typeface="Georgia" panose="02040502050405020303" charset="0"/>
              </a:rPr>
              <a:t>It is essential to enable each agent to </a:t>
            </a:r>
            <a:r>
              <a:rPr lang="en-US" altLang="zh-CN">
                <a:solidFill>
                  <a:srgbClr val="C00000"/>
                </a:solidFill>
                <a:latin typeface="Georgia" panose="02040502050405020303" charset="0"/>
                <a:cs typeface="Georgia" panose="02040502050405020303" charset="0"/>
              </a:rPr>
              <a:t>perceive </a:t>
            </a:r>
            <a:r>
              <a:rPr lang="en-US" altLang="zh-CN">
                <a:solidFill>
                  <a:srgbClr val="C00000"/>
                </a:solidFill>
                <a:latin typeface="Georgia" panose="02040502050405020303" charset="0"/>
                <a:cs typeface="Georgia" panose="02040502050405020303" charset="0"/>
                <a:sym typeface="+mn-ea"/>
              </a:rPr>
              <a:t>other agents’ </a:t>
            </a:r>
            <a:r>
              <a:rPr lang="en-US" altLang="zh-CN">
                <a:solidFill>
                  <a:srgbClr val="C00000"/>
                </a:solidFill>
                <a:latin typeface="Georgia" panose="02040502050405020303" charset="0"/>
                <a:cs typeface="Georgia" panose="02040502050405020303" charset="0"/>
              </a:rPr>
              <a:t>intentions</a:t>
            </a:r>
            <a:r>
              <a:rPr lang="en-US" altLang="zh-CN">
                <a:latin typeface="Georgia" panose="02040502050405020303" charset="0"/>
                <a:cs typeface="Georgia" panose="02040502050405020303" charset="0"/>
              </a:rPr>
              <a:t> whose decisions are related, in order to facilitate more cooperative decision-making.</a:t>
            </a:r>
            <a:endParaRPr lang="en-US" altLang="zh-CN">
              <a:latin typeface="Georgia" panose="02040502050405020303" charset="0"/>
              <a:cs typeface="Georgia" panose="02040502050405020303" charset="0"/>
            </a:endParaRPr>
          </a:p>
        </p:txBody>
      </p:sp>
      <p:grpSp>
        <p:nvGrpSpPr>
          <p:cNvPr id="78" name="组合 77"/>
          <p:cNvGrpSpPr/>
          <p:nvPr/>
        </p:nvGrpSpPr>
        <p:grpSpPr>
          <a:xfrm>
            <a:off x="892810" y="3740150"/>
            <a:ext cx="10706735" cy="705485"/>
            <a:chOff x="1406" y="5998"/>
            <a:chExt cx="16861" cy="1111"/>
          </a:xfrm>
        </p:grpSpPr>
        <p:sp>
          <p:nvSpPr>
            <p:cNvPr id="35" name="圆角矩形 34"/>
            <p:cNvSpPr/>
            <p:nvPr/>
          </p:nvSpPr>
          <p:spPr>
            <a:xfrm>
              <a:off x="1406" y="5998"/>
              <a:ext cx="16861" cy="1111"/>
            </a:xfrm>
            <a:prstGeom prst="roundRect">
              <a:avLst>
                <a:gd name="adj" fmla="val 1674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6" name="文本框 35"/>
            <p:cNvSpPr txBox="1"/>
            <p:nvPr/>
          </p:nvSpPr>
          <p:spPr>
            <a:xfrm>
              <a:off x="2555" y="6286"/>
              <a:ext cx="15568" cy="580"/>
            </a:xfrm>
            <a:prstGeom prst="rect">
              <a:avLst/>
            </a:prstGeom>
            <a:noFill/>
          </p:spPr>
          <p:txBody>
            <a:bodyPr wrap="square" rtlCol="0">
              <a:spAutoFit/>
            </a:bodyPr>
            <a:lstStyle/>
            <a:p>
              <a:r>
                <a:rPr lang="en-US" altLang="zh-CN">
                  <a:sym typeface="+mn-ea"/>
                </a:rPr>
                <a:t>There exists the dependency between decisions of different agents within the same period.</a:t>
              </a:r>
              <a:endParaRPr lang="zh-CN" altLang="en-US"/>
            </a:p>
          </p:txBody>
        </p:sp>
        <p:pic>
          <p:nvPicPr>
            <p:cNvPr id="38" name="图片 37" descr="叹号"/>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4" y="6227"/>
              <a:ext cx="676" cy="676"/>
            </a:xfrm>
            <a:prstGeom prst="rect">
              <a:avLst/>
            </a:prstGeom>
          </p:spPr>
        </p:pic>
      </p:grpSp>
      <p:grpSp>
        <p:nvGrpSpPr>
          <p:cNvPr id="112" name="组合 111"/>
          <p:cNvGrpSpPr/>
          <p:nvPr/>
        </p:nvGrpSpPr>
        <p:grpSpPr>
          <a:xfrm>
            <a:off x="2103120" y="5419725"/>
            <a:ext cx="7832090" cy="546735"/>
            <a:chOff x="3466" y="8838"/>
            <a:chExt cx="12334" cy="861"/>
          </a:xfrm>
        </p:grpSpPr>
        <p:sp>
          <p:nvSpPr>
            <p:cNvPr id="105" name="文本框 104"/>
            <p:cNvSpPr txBox="1"/>
            <p:nvPr/>
          </p:nvSpPr>
          <p:spPr>
            <a:xfrm>
              <a:off x="4783" y="8838"/>
              <a:ext cx="11017" cy="749"/>
            </a:xfrm>
            <a:prstGeom prst="rect">
              <a:avLst/>
            </a:prstGeom>
            <a:noFill/>
          </p:spPr>
          <p:txBody>
            <a:bodyPr wrap="square" rtlCol="0" anchor="t">
              <a:spAutoFit/>
            </a:bodyPr>
            <a:lstStyle/>
            <a:p>
              <a:pPr indent="0" algn="just" fontAlgn="auto">
                <a:lnSpc>
                  <a:spcPct val="125000"/>
                </a:lnSpc>
                <a:spcBef>
                  <a:spcPts val="600"/>
                </a:spcBef>
                <a:buFont typeface="Arial" panose="020B0604020202020204" pitchFamily="34" charset="0"/>
                <a:buNone/>
              </a:pPr>
              <a:r>
                <a:rPr lang="en-US" altLang="zh-CN" sz="2000" b="1">
                  <a:latin typeface="Georgia" panose="02040502050405020303" charset="0"/>
                  <a:cs typeface="Georgia" panose="02040502050405020303" charset="0"/>
                  <a:sym typeface="+mn-ea"/>
                </a:rPr>
                <a:t>How can we model these decision dependencies?</a:t>
              </a:r>
              <a:endParaRPr lang="en-US" altLang="zh-CN" sz="2000" b="1">
                <a:latin typeface="Georgia" panose="02040502050405020303" charset="0"/>
                <a:cs typeface="Georgia" panose="02040502050405020303" charset="0"/>
                <a:sym typeface="+mn-ea"/>
              </a:endParaRPr>
            </a:p>
          </p:txBody>
        </p:sp>
        <p:pic>
          <p:nvPicPr>
            <p:cNvPr id="111" name="图片 110" descr="问号"/>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6" y="8859"/>
              <a:ext cx="840" cy="840"/>
            </a:xfrm>
            <a:prstGeom prst="rect">
              <a:avLst/>
            </a:prstGeom>
          </p:spPr>
        </p:pic>
      </p:grpSp>
      <mc:AlternateContent xmlns:mc="http://schemas.openxmlformats.org/markup-compatibility/2006">
        <mc:Choice xmlns:a14="http://schemas.microsoft.com/office/drawing/2010/main" Requires="a14">
          <p:sp>
            <p:nvSpPr>
              <p:cNvPr id="113" name="文本框 112"/>
              <p:cNvSpPr txBox="1"/>
              <p:nvPr/>
            </p:nvSpPr>
            <p:spPr>
              <a:xfrm>
                <a:off x="2647315" y="6041390"/>
                <a:ext cx="7179945" cy="368300"/>
              </a:xfrm>
              <a:prstGeom prst="rect">
                <a:avLst/>
              </a:prstGeom>
              <a:noFill/>
            </p:spPr>
            <p:txBody>
              <a:bodyPr wrap="square" rtlCol="0">
                <a:spAutoFit/>
              </a:bodyPr>
              <a:lstStyle/>
              <a:p>
                <a:pPr algn="ctr"/>
                <a:r>
                  <a:rPr lang="en-US" altLang="zh-CN">
                    <a:solidFill>
                      <a:srgbClr val="7030A0"/>
                    </a:solidFill>
                    <a:latin typeface="Georgia" panose="02040502050405020303" charset="0"/>
                    <a:cs typeface="Georgia" panose="02040502050405020303" charset="0"/>
                  </a:rPr>
                  <a:t>Fortunately, we have the transshipment network </a:t>
                </a:r>
                <a14:m>
                  <m:oMath xmlns:m="http://schemas.openxmlformats.org/officeDocument/2006/math">
                    <m:sSub>
                      <m:sSubPr>
                        <m:ctrlPr>
                          <a:rPr lang="en-US" altLang="zh-CN" i="1">
                            <a:solidFill>
                              <a:srgbClr val="7030A0"/>
                            </a:solidFill>
                            <a:latin typeface="Cambria Math" panose="02040503050406030204" charset="0"/>
                            <a:cs typeface="Cambria Math" panose="02040503050406030204" charset="0"/>
                          </a:rPr>
                        </m:ctrlPr>
                      </m:sSubPr>
                      <m:e>
                        <m:r>
                          <a:rPr lang="en-US" altLang="zh-CN" i="1">
                            <a:solidFill>
                              <a:srgbClr val="7030A0"/>
                            </a:solidFill>
                            <a:latin typeface="Cambria Math" panose="02040503050406030204" charset="0"/>
                            <a:cs typeface="Cambria Math" panose="02040503050406030204" charset="0"/>
                          </a:rPr>
                          <m:t>𝐺</m:t>
                        </m:r>
                      </m:e>
                      <m:sub>
                        <m:r>
                          <a:rPr lang="en-US" altLang="zh-CN" i="1">
                            <a:solidFill>
                              <a:srgbClr val="7030A0"/>
                            </a:solidFill>
                            <a:latin typeface="Cambria Math" panose="02040503050406030204" charset="0"/>
                            <a:cs typeface="Cambria Math" panose="02040503050406030204" charset="0"/>
                          </a:rPr>
                          <m:t>𝑡</m:t>
                        </m:r>
                      </m:sub>
                    </m:sSub>
                  </m:oMath>
                </a14:m>
                <a:r>
                  <a:rPr lang="en-US" altLang="zh-CN">
                    <a:solidFill>
                      <a:srgbClr val="7030A0"/>
                    </a:solidFill>
                    <a:latin typeface="Georgia" panose="02040502050405020303" charset="0"/>
                    <a:cs typeface="Georgia" panose="02040502050405020303" charset="0"/>
                  </a:rPr>
                  <a:t>, which is a </a:t>
                </a:r>
                <a:r>
                  <a:rPr lang="en-US" altLang="zh-CN" b="1">
                    <a:solidFill>
                      <a:srgbClr val="7030A0"/>
                    </a:solidFill>
                    <a:latin typeface="Georgia" panose="02040502050405020303" charset="0"/>
                    <a:cs typeface="Georgia" panose="02040502050405020303" charset="0"/>
                  </a:rPr>
                  <a:t>DAG</a:t>
                </a:r>
                <a:r>
                  <a:rPr lang="en-US" altLang="zh-CN">
                    <a:solidFill>
                      <a:srgbClr val="7030A0"/>
                    </a:solidFill>
                    <a:latin typeface="Georgia" panose="02040502050405020303" charset="0"/>
                    <a:cs typeface="Georgia" panose="02040502050405020303" charset="0"/>
                  </a:rPr>
                  <a:t>!</a:t>
                </a:r>
                <a:endParaRPr lang="en-US" altLang="zh-CN">
                  <a:solidFill>
                    <a:srgbClr val="7030A0"/>
                  </a:solidFill>
                  <a:latin typeface="Georgia" panose="02040502050405020303" charset="0"/>
                  <a:cs typeface="Georgia" panose="02040502050405020303" charset="0"/>
                </a:endParaRPr>
              </a:p>
            </p:txBody>
          </p:sp>
        </mc:Choice>
        <mc:Fallback>
          <p:sp>
            <p:nvSpPr>
              <p:cNvPr id="113" name="文本框 112"/>
              <p:cNvSpPr txBox="1">
                <a:spLocks noRot="1" noChangeAspect="1" noMove="1" noResize="1" noEditPoints="1" noAdjustHandles="1" noChangeArrowheads="1" noChangeShapeType="1" noTextEdit="1"/>
              </p:cNvSpPr>
              <p:nvPr/>
            </p:nvSpPr>
            <p:spPr>
              <a:xfrm>
                <a:off x="2647315" y="6041390"/>
                <a:ext cx="7179945" cy="368300"/>
              </a:xfrm>
              <a:prstGeom prst="rect">
                <a:avLst/>
              </a:prstGeom>
              <a:blipFill rotWithShape="1">
                <a:blip r:embed="rId5"/>
                <a:stretch>
                  <a:fillRect/>
                </a:stretch>
              </a:blipFill>
            </p:spPr>
            <p:txBody>
              <a:bodyPr/>
              <a:lstStyle/>
              <a:p>
                <a:r>
                  <a:rPr lang="zh-CN" altLang="en-US">
                    <a:noFill/>
                  </a:rPr>
                  <a:t> </a:t>
                </a:r>
              </a:p>
            </p:txBody>
          </p:sp>
        </mc:Fallback>
      </mc:AlternateContent>
    </p:spTree>
    <p:custDataLst>
      <p:tags r:id="rId6"/>
    </p:custDataLst>
  </p:cSld>
  <p:clrMapOvr>
    <a:masterClrMapping/>
  </p:clrMapOvr>
  <mc:AlternateContent xmlns:mc="http://schemas.openxmlformats.org/markup-compatibility/2006">
    <mc:Choice xmlns:p14="http://schemas.microsoft.com/office/powerpoint/2010/main" Requires="p14">
      <p:transition p14:dur="250" advTm="95499">
        <p:wipe dir="d"/>
      </p:transition>
    </mc:Choice>
    <mc:Fallback>
      <p:transition advTm="95499">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randombar(horizontal)">
                                      <p:cBhvr>
                                        <p:cTn id="7" dur="500"/>
                                        <p:tgtEl>
                                          <p:spTgt spid="7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linds(horizontal)">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112"/>
                                        </p:tgtEl>
                                        <p:attrNameLst>
                                          <p:attrName>style.visibility</p:attrName>
                                        </p:attrNameLst>
                                      </p:cBhvr>
                                      <p:to>
                                        <p:strVal val="visible"/>
                                      </p:to>
                                    </p:set>
                                    <p:animEffect transition="in" filter="randombar(horizontal)">
                                      <p:cBhvr>
                                        <p:cTn id="15" dur="500"/>
                                        <p:tgtEl>
                                          <p:spTgt spid="1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13"/>
                                        </p:tgtEl>
                                        <p:attrNameLst>
                                          <p:attrName>style.visibility</p:attrName>
                                        </p:attrNameLst>
                                      </p:cBhvr>
                                      <p:to>
                                        <p:strVal val="visible"/>
                                      </p:to>
                                    </p:set>
                                    <p:animEffect transition="in" filter="randombar(horizontal)">
                                      <p:cBhvr>
                                        <p:cTn id="20"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3" grpId="1"/>
      <p:bldP spid="113" grpId="0"/>
      <p:bldP spid="113"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096010" y="226060"/>
            <a:ext cx="4240530" cy="583565"/>
          </a:xfrm>
          <a:prstGeom prst="rect">
            <a:avLst/>
          </a:prstGeom>
          <a:noFill/>
        </p:spPr>
        <p:txBody>
          <a:bodyPr wrap="square" rtlCol="0">
            <a:spAutoFit/>
          </a:bodyPr>
          <a:lstStyle/>
          <a:p>
            <a:r>
              <a:rPr lang="en-US" altLang="zh-CN" sz="3200" b="1" dirty="0">
                <a:latin typeface="+mj-lt"/>
              </a:rPr>
              <a:t>Methodology</a:t>
            </a:r>
            <a:endParaRPr lang="zh-CN" altLang="en-US" sz="3200" b="1" dirty="0">
              <a:latin typeface="+mj-lt"/>
            </a:endParaRPr>
          </a:p>
        </p:txBody>
      </p:sp>
      <p:sp>
        <p:nvSpPr>
          <p:cNvPr id="4" name="文本框 3"/>
          <p:cNvSpPr txBox="1"/>
          <p:nvPr/>
        </p:nvSpPr>
        <p:spPr>
          <a:xfrm>
            <a:off x="496570" y="974725"/>
            <a:ext cx="8999855" cy="429895"/>
          </a:xfrm>
          <a:prstGeom prst="rect">
            <a:avLst/>
          </a:prstGeom>
        </p:spPr>
        <p:txBody>
          <a:bodyPr wrap="square">
            <a:spAutoFit/>
          </a:bodyPr>
          <a:lstStyle/>
          <a:p>
            <a:pPr marL="342900" indent="-342900">
              <a:buFont typeface="Wingdings" panose="05000000000000000000" charset="0"/>
              <a:buChar char="n"/>
            </a:pPr>
            <a:r>
              <a:rPr lang="en-US" altLang="zh-CN" sz="2200">
                <a:solidFill>
                  <a:srgbClr val="000000"/>
                </a:solidFill>
                <a:latin typeface="Georgia" panose="02040502050405020303" charset="0"/>
                <a:ea typeface="CMBX12"/>
                <a:cs typeface="Georgia" panose="02040502050405020303" charset="0"/>
                <a:sym typeface="+mn-ea"/>
              </a:rPr>
              <a:t>Coordinated Policy Generation: Intention Awareness </a:t>
            </a:r>
            <a:endParaRPr lang="en-US" altLang="zh-CN" sz="2200">
              <a:solidFill>
                <a:srgbClr val="000000"/>
              </a:solidFill>
              <a:latin typeface="Georgia" panose="02040502050405020303" charset="0"/>
              <a:ea typeface="CMBX12"/>
              <a:cs typeface="Georgia" panose="02040502050405020303" charset="0"/>
              <a:sym typeface="+mn-ea"/>
            </a:endParaRPr>
          </a:p>
        </p:txBody>
      </p:sp>
      <p:sp>
        <p:nvSpPr>
          <p:cNvPr id="3" name="文本框 2"/>
          <p:cNvSpPr txBox="1"/>
          <p:nvPr/>
        </p:nvSpPr>
        <p:spPr>
          <a:xfrm>
            <a:off x="839470" y="1401445"/>
            <a:ext cx="10363200"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sym typeface="+mn-ea"/>
              </a:rPr>
              <a:t>Intention Awareness via Edge-Incorporated Topological Sorting</a:t>
            </a:r>
            <a:endParaRPr lang="en-US" altLang="zh-CN" sz="2000" b="1">
              <a:solidFill>
                <a:srgbClr val="000000"/>
              </a:solidFill>
              <a:latin typeface="Georgia" panose="02040502050405020303" charset="0"/>
              <a:ea typeface="CMR10"/>
              <a:cs typeface="Georgia" panose="02040502050405020303" charset="0"/>
            </a:endParaRPr>
          </a:p>
        </p:txBody>
      </p:sp>
      <p:sp>
        <p:nvSpPr>
          <p:cNvPr id="7" name="文本框 6"/>
          <p:cNvSpPr txBox="1"/>
          <p:nvPr/>
        </p:nvSpPr>
        <p:spPr>
          <a:xfrm>
            <a:off x="833120" y="1877060"/>
            <a:ext cx="10866120" cy="1164590"/>
          </a:xfrm>
          <a:prstGeom prst="rect">
            <a:avLst/>
          </a:prstGeom>
          <a:noFill/>
        </p:spPr>
        <p:txBody>
          <a:bodyPr wrap="square" rtlCol="0">
            <a:spAutoFit/>
          </a:bodyPr>
          <a:lstStyle/>
          <a:p>
            <a:pPr marL="285750" indent="-285750" algn="just" fontAlgn="auto">
              <a:lnSpc>
                <a:spcPct val="120000"/>
              </a:lnSpc>
              <a:spcBef>
                <a:spcPts val="600"/>
              </a:spcBef>
              <a:buFont typeface="Arial" panose="020B0604020202020204" pitchFamily="34" charset="0"/>
              <a:buChar char="•"/>
            </a:pPr>
            <a:r>
              <a:rPr lang="en-US" altLang="zh-CN">
                <a:latin typeface="Georgia" panose="02040502050405020303" charset="0"/>
                <a:cs typeface="Georgia" panose="02040502050405020303" charset="0"/>
              </a:rPr>
              <a:t>Given a DAG, any feasible Topological Sorting (TS) characterizes the dependency among nodes.</a:t>
            </a:r>
            <a:endParaRPr lang="en-US" altLang="zh-CN">
              <a:latin typeface="Georgia" panose="02040502050405020303" charset="0"/>
              <a:cs typeface="Georgia" panose="02040502050405020303" charset="0"/>
            </a:endParaRPr>
          </a:p>
          <a:p>
            <a:pPr marL="285750" indent="-285750" algn="just" fontAlgn="auto">
              <a:lnSpc>
                <a:spcPct val="120000"/>
              </a:lnSpc>
              <a:spcBef>
                <a:spcPts val="600"/>
              </a:spcBef>
              <a:buFont typeface="Arial" panose="020B0604020202020204" pitchFamily="34" charset="0"/>
              <a:buChar char="•"/>
            </a:pPr>
            <a:r>
              <a:rPr lang="en-US" altLang="zh-CN">
                <a:latin typeface="Georgia" panose="02040502050405020303" charset="0"/>
                <a:cs typeface="Georgia" panose="02040502050405020303" charset="0"/>
              </a:rPr>
              <a:t>Propose an extended “edge-incorporated topological sorting” based on TS, to captures the dependency among both nodes and edges.</a:t>
            </a:r>
            <a:endParaRPr lang="en-US" altLang="zh-CN">
              <a:latin typeface="Georgia" panose="02040502050405020303" charset="0"/>
              <a:cs typeface="Georgia" panose="02040502050405020303" charset="0"/>
            </a:endParaRPr>
          </a:p>
        </p:txBody>
      </p:sp>
      <p:sp>
        <p:nvSpPr>
          <p:cNvPr id="140" name="文本框 139"/>
          <p:cNvSpPr txBox="1"/>
          <p:nvPr/>
        </p:nvSpPr>
        <p:spPr>
          <a:xfrm>
            <a:off x="833120" y="4481195"/>
            <a:ext cx="5090160" cy="755650"/>
          </a:xfrm>
          <a:prstGeom prst="rect">
            <a:avLst/>
          </a:prstGeom>
          <a:noFill/>
        </p:spPr>
        <p:txBody>
          <a:bodyPr wrap="square" rtlCol="0">
            <a:spAutoFit/>
          </a:bodyPr>
          <a:lstStyle/>
          <a:p>
            <a:pPr marL="285750" indent="-285750" algn="just" fontAlgn="auto">
              <a:lnSpc>
                <a:spcPct val="120000"/>
              </a:lnSpc>
              <a:buFont typeface="Arial" panose="020B0604020202020204" pitchFamily="34" charset="0"/>
              <a:buChar char="•"/>
            </a:pPr>
            <a:r>
              <a:rPr lang="en-US" altLang="zh-CN">
                <a:latin typeface="Georgia" panose="02040502050405020303" charset="0"/>
                <a:cs typeface="Georgia" panose="02040502050405020303" charset="0"/>
              </a:rPr>
              <a:t>Enhance agent observations with actions of the </a:t>
            </a:r>
            <a:r>
              <a:rPr lang="en-US" altLang="zh-CN">
                <a:solidFill>
                  <a:srgbClr val="C00000"/>
                </a:solidFill>
                <a:latin typeface="Georgia" panose="02040502050405020303" charset="0"/>
                <a:cs typeface="Georgia" panose="02040502050405020303" charset="0"/>
              </a:rPr>
              <a:t>parental entities</a:t>
            </a:r>
            <a:r>
              <a:rPr lang="en-US" altLang="zh-CN">
                <a:latin typeface="Georgia" panose="02040502050405020303" charset="0"/>
                <a:cs typeface="Georgia" panose="02040502050405020303" charset="0"/>
              </a:rPr>
              <a:t> </a:t>
            </a:r>
            <a:r>
              <a:rPr lang="en-US" altLang="zh-CN">
                <a:latin typeface="Georgia" panose="02040502050405020303" charset="0"/>
                <a:cs typeface="Georgia" panose="02040502050405020303" charset="0"/>
                <a:sym typeface="+mn-ea"/>
              </a:rPr>
              <a:t>(N-dim vectors)</a:t>
            </a:r>
            <a:r>
              <a:rPr lang="en-US" altLang="zh-CN">
                <a:latin typeface="Georgia" panose="02040502050405020303" charset="0"/>
                <a:cs typeface="Georgia" panose="02040502050405020303" charset="0"/>
              </a:rPr>
              <a:t>: </a:t>
            </a:r>
            <a:endParaRPr lang="en-US" altLang="zh-CN">
              <a:latin typeface="Georgia" panose="02040502050405020303" charset="0"/>
              <a:cs typeface="Georgia" panose="02040502050405020303" charset="0"/>
            </a:endParaRPr>
          </a:p>
        </p:txBody>
      </p:sp>
      <p:grpSp>
        <p:nvGrpSpPr>
          <p:cNvPr id="141" name="组合 140"/>
          <p:cNvGrpSpPr/>
          <p:nvPr/>
        </p:nvGrpSpPr>
        <p:grpSpPr>
          <a:xfrm>
            <a:off x="1245870" y="5340350"/>
            <a:ext cx="4540250" cy="1028700"/>
            <a:chOff x="2204" y="7692"/>
            <a:chExt cx="6908" cy="1565"/>
          </a:xfrm>
        </p:grpSpPr>
        <p:sp>
          <p:nvSpPr>
            <p:cNvPr id="142" name="矩形 141"/>
            <p:cNvSpPr/>
            <p:nvPr/>
          </p:nvSpPr>
          <p:spPr>
            <a:xfrm>
              <a:off x="4008" y="7750"/>
              <a:ext cx="1093" cy="537"/>
            </a:xfrm>
            <a:prstGeom prst="rect">
              <a:avLst/>
            </a:prstGeom>
            <a:solidFill>
              <a:schemeClr val="accent5">
                <a:lumMod val="40000"/>
                <a:lumOff val="60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5301" y="7740"/>
              <a:ext cx="1054" cy="537"/>
            </a:xfrm>
            <a:prstGeom prst="rect">
              <a:avLst/>
            </a:prstGeom>
            <a:solidFill>
              <a:schemeClr val="accent3">
                <a:lumMod val="40000"/>
                <a:lumOff val="60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4653" y="8608"/>
              <a:ext cx="1478" cy="537"/>
            </a:xfrm>
            <a:prstGeom prst="rect">
              <a:avLst/>
            </a:prstGeom>
            <a:solidFill>
              <a:schemeClr val="accent5">
                <a:lumMod val="40000"/>
                <a:lumOff val="60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5" name="图片 14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207" y="7692"/>
              <a:ext cx="6900" cy="711"/>
            </a:xfrm>
            <a:prstGeom prst="rect">
              <a:avLst/>
            </a:prstGeom>
          </p:spPr>
        </p:pic>
        <p:pic>
          <p:nvPicPr>
            <p:cNvPr id="146" name="图片 145"/>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204" y="8607"/>
              <a:ext cx="6908" cy="650"/>
            </a:xfrm>
            <a:prstGeom prst="rect">
              <a:avLst/>
            </a:prstGeom>
          </p:spPr>
        </p:pic>
      </p:grpSp>
      <p:pic>
        <p:nvPicPr>
          <p:cNvPr id="149" name="图片 148"/>
          <p:cNvPicPr>
            <a:picLocks noChangeAspect="1"/>
          </p:cNvPicPr>
          <p:nvPr/>
        </p:nvPicPr>
        <p:blipFill>
          <a:blip r:embed="rId3"/>
          <a:stretch>
            <a:fillRect/>
          </a:stretch>
        </p:blipFill>
        <p:spPr>
          <a:xfrm>
            <a:off x="6390640" y="4559935"/>
            <a:ext cx="4953635" cy="1854835"/>
          </a:xfrm>
          <a:prstGeom prst="rect">
            <a:avLst/>
          </a:prstGeom>
        </p:spPr>
      </p:pic>
      <p:grpSp>
        <p:nvGrpSpPr>
          <p:cNvPr id="9" name="组合 8"/>
          <p:cNvGrpSpPr/>
          <p:nvPr/>
        </p:nvGrpSpPr>
        <p:grpSpPr>
          <a:xfrm>
            <a:off x="1247775" y="3090545"/>
            <a:ext cx="9673590" cy="1295400"/>
            <a:chOff x="1965" y="4867"/>
            <a:chExt cx="15234" cy="2040"/>
          </a:xfrm>
        </p:grpSpPr>
        <p:pic>
          <p:nvPicPr>
            <p:cNvPr id="147" name="图片 146"/>
            <p:cNvPicPr>
              <a:picLocks noChangeAspect="1"/>
            </p:cNvPicPr>
            <p:nvPr/>
          </p:nvPicPr>
          <p:blipFill>
            <a:blip r:embed="rId4"/>
            <a:srcRect r="541"/>
            <a:stretch>
              <a:fillRect/>
            </a:stretch>
          </p:blipFill>
          <p:spPr>
            <a:xfrm>
              <a:off x="1965" y="4867"/>
              <a:ext cx="15234" cy="2040"/>
            </a:xfrm>
            <a:prstGeom prst="rect">
              <a:avLst/>
            </a:prstGeom>
            <a:effectLst>
              <a:outerShdw blurRad="50800" dist="38100" dir="2700000" algn="tl" rotWithShape="0">
                <a:prstClr val="black">
                  <a:alpha val="40000"/>
                </a:prstClr>
              </a:outerShdw>
            </a:effectLst>
          </p:spPr>
        </p:pic>
        <p:cxnSp>
          <p:nvCxnSpPr>
            <p:cNvPr id="5" name="直接连接符 4"/>
            <p:cNvCxnSpPr/>
            <p:nvPr/>
          </p:nvCxnSpPr>
          <p:spPr>
            <a:xfrm>
              <a:off x="10358" y="5667"/>
              <a:ext cx="6803" cy="0"/>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2052" y="6057"/>
              <a:ext cx="1240" cy="0"/>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grpSp>
      <mc:AlternateContent xmlns:mc="http://schemas.openxmlformats.org/markup-compatibility/2006">
        <mc:Choice xmlns:a14="http://schemas.microsoft.com/office/drawing/2010/main" Requires="a14">
          <p:sp>
            <p:nvSpPr>
              <p:cNvPr id="10" name="文本框 9"/>
              <p:cNvSpPr txBox="1"/>
              <p:nvPr/>
            </p:nvSpPr>
            <p:spPr>
              <a:xfrm>
                <a:off x="6668135" y="6177915"/>
                <a:ext cx="77724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b="1" i="1">
                              <a:solidFill>
                                <a:schemeClr val="tx1"/>
                              </a:solidFill>
                              <a:latin typeface="Cambria Math" panose="02040503050406030204" charset="0"/>
                              <a:cs typeface="Cambria Math" panose="02040503050406030204" charset="0"/>
                            </a:rPr>
                          </m:ctrlPr>
                        </m:sSubPr>
                        <m:e>
                          <m:r>
                            <a:rPr lang="en-US" altLang="zh-CN" b="1" i="1">
                              <a:solidFill>
                                <a:schemeClr val="tx1"/>
                              </a:solidFill>
                              <a:latin typeface="Cambria Math" panose="02040503050406030204" charset="0"/>
                              <a:cs typeface="Cambria Math" panose="02040503050406030204" charset="0"/>
                            </a:rPr>
                            <m:t>𝑮</m:t>
                          </m:r>
                        </m:e>
                        <m:sub>
                          <m:r>
                            <a:rPr lang="en-US" altLang="zh-CN" b="1" i="1">
                              <a:solidFill>
                                <a:schemeClr val="tx1"/>
                              </a:solidFill>
                              <a:latin typeface="Cambria Math" panose="02040503050406030204" charset="0"/>
                              <a:cs typeface="Cambria Math" panose="02040503050406030204" charset="0"/>
                            </a:rPr>
                            <m:t>𝒕</m:t>
                          </m:r>
                        </m:sub>
                      </m:sSub>
                    </m:oMath>
                  </m:oMathPara>
                </a14:m>
                <a:endParaRPr lang="en-US" altLang="zh-CN" b="1" i="1">
                  <a:solidFill>
                    <a:schemeClr val="tx1"/>
                  </a:solidFill>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6668135" y="6177915"/>
                <a:ext cx="777240" cy="368300"/>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17" name="组合 16"/>
          <p:cNvGrpSpPr/>
          <p:nvPr/>
        </p:nvGrpSpPr>
        <p:grpSpPr>
          <a:xfrm>
            <a:off x="8582660" y="5661660"/>
            <a:ext cx="1325880" cy="1083310"/>
            <a:chOff x="13516" y="8916"/>
            <a:chExt cx="2088" cy="1706"/>
          </a:xfrm>
        </p:grpSpPr>
        <p:sp>
          <p:nvSpPr>
            <p:cNvPr id="11" name="矩形 10"/>
            <p:cNvSpPr/>
            <p:nvPr/>
          </p:nvSpPr>
          <p:spPr>
            <a:xfrm>
              <a:off x="14332" y="8916"/>
              <a:ext cx="468" cy="492"/>
            </a:xfrm>
            <a:prstGeom prst="rect">
              <a:avLst/>
            </a:prstGeom>
            <a:noFill/>
            <a:ln w="28575">
              <a:solidFill>
                <a:srgbClr val="7030A0"/>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11" idx="2"/>
            </p:cNvCxnSpPr>
            <p:nvPr/>
          </p:nvCxnSpPr>
          <p:spPr>
            <a:xfrm>
              <a:off x="14566" y="9408"/>
              <a:ext cx="0" cy="780"/>
            </a:xfrm>
            <a:prstGeom prst="straightConnector1">
              <a:avLst/>
            </a:prstGeom>
            <a:ln w="28575">
              <a:solidFill>
                <a:srgbClr val="7030A0"/>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3516" y="10188"/>
              <a:ext cx="2089" cy="434"/>
            </a:xfrm>
            <a:prstGeom prst="rect">
              <a:avLst/>
            </a:prstGeom>
            <a:noFill/>
          </p:spPr>
          <p:txBody>
            <a:bodyPr wrap="square" rtlCol="0">
              <a:spAutoFit/>
            </a:bodyPr>
            <a:lstStyle/>
            <a:p>
              <a:pPr algn="ctr"/>
              <a:r>
                <a:rPr lang="en-US" altLang="zh-CN" sz="1200"/>
                <a:t>transshipment</a:t>
              </a:r>
              <a:endParaRPr lang="en-US" altLang="zh-CN" sz="1200"/>
            </a:p>
          </p:txBody>
        </p:sp>
      </p:grpSp>
      <p:grpSp>
        <p:nvGrpSpPr>
          <p:cNvPr id="18" name="组合 17"/>
          <p:cNvGrpSpPr/>
          <p:nvPr/>
        </p:nvGrpSpPr>
        <p:grpSpPr>
          <a:xfrm>
            <a:off x="9787890" y="5661660"/>
            <a:ext cx="1325880" cy="1083310"/>
            <a:chOff x="15414" y="8916"/>
            <a:chExt cx="2088" cy="1706"/>
          </a:xfrm>
        </p:grpSpPr>
        <p:sp>
          <p:nvSpPr>
            <p:cNvPr id="14" name="矩形 13"/>
            <p:cNvSpPr/>
            <p:nvPr/>
          </p:nvSpPr>
          <p:spPr>
            <a:xfrm>
              <a:off x="16212" y="8916"/>
              <a:ext cx="468" cy="492"/>
            </a:xfrm>
            <a:prstGeom prst="rect">
              <a:avLst/>
            </a:prstGeom>
            <a:noFill/>
            <a:ln w="28575">
              <a:solidFill>
                <a:srgbClr val="7030A0"/>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p:nvPr/>
          </p:nvCxnSpPr>
          <p:spPr>
            <a:xfrm>
              <a:off x="16446" y="9408"/>
              <a:ext cx="0" cy="780"/>
            </a:xfrm>
            <a:prstGeom prst="straightConnector1">
              <a:avLst/>
            </a:prstGeom>
            <a:ln w="28575">
              <a:solidFill>
                <a:srgbClr val="7030A0"/>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15414" y="10188"/>
              <a:ext cx="2089" cy="434"/>
            </a:xfrm>
            <a:prstGeom prst="rect">
              <a:avLst/>
            </a:prstGeom>
            <a:noFill/>
          </p:spPr>
          <p:txBody>
            <a:bodyPr wrap="square" rtlCol="0">
              <a:spAutoFit/>
            </a:bodyPr>
            <a:lstStyle/>
            <a:p>
              <a:pPr algn="ctr"/>
              <a:r>
                <a:rPr lang="en-US" altLang="zh-CN" sz="1200"/>
                <a:t>replenishment</a:t>
              </a:r>
              <a:endParaRPr lang="en-US" altLang="zh-CN" sz="1200"/>
            </a:p>
          </p:txBody>
        </p:sp>
      </p:grpSp>
    </p:spTree>
    <p:custDataLst>
      <p:tags r:id="rId6"/>
    </p:custDataLst>
  </p:cSld>
  <p:clrMapOvr>
    <a:masterClrMapping/>
  </p:clrMapOvr>
  <mc:AlternateContent xmlns:mc="http://schemas.openxmlformats.org/markup-compatibility/2006">
    <mc:Choice xmlns:p14="http://schemas.microsoft.com/office/powerpoint/2010/main" Requires="p14">
      <p:transition p14:dur="250" advTm="81427">
        <p:wipe dir="d"/>
      </p:transition>
    </mc:Choice>
    <mc:Fallback>
      <p:transition advTm="81427">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randombar(horizontal)">
                                      <p:cBhvr>
                                        <p:cTn id="7" dur="500"/>
                                        <p:tgtEl>
                                          <p:spTgt spid="140"/>
                                        </p:tgtEl>
                                      </p:cBhvr>
                                    </p:animEffect>
                                  </p:childTnLst>
                                </p:cTn>
                              </p:par>
                              <p:par>
                                <p:cTn id="8" presetID="14" presetClass="entr" presetSubtype="10" fill="hold" nodeType="withEffect">
                                  <p:stCondLst>
                                    <p:cond delay="0"/>
                                  </p:stCondLst>
                                  <p:childTnLst>
                                    <p:set>
                                      <p:cBhvr>
                                        <p:cTn id="9" dur="1" fill="hold">
                                          <p:stCondLst>
                                            <p:cond delay="0"/>
                                          </p:stCondLst>
                                        </p:cTn>
                                        <p:tgtEl>
                                          <p:spTgt spid="141"/>
                                        </p:tgtEl>
                                        <p:attrNameLst>
                                          <p:attrName>style.visibility</p:attrName>
                                        </p:attrNameLst>
                                      </p:cBhvr>
                                      <p:to>
                                        <p:strVal val="visible"/>
                                      </p:to>
                                    </p:set>
                                    <p:animEffect transition="in" filter="randombar(horizontal)">
                                      <p:cBhvr>
                                        <p:cTn id="10" dur="500"/>
                                        <p:tgtEl>
                                          <p:spTgt spid="141"/>
                                        </p:tgtEl>
                                      </p:cBhvr>
                                    </p:animEffect>
                                  </p:childTnLst>
                                </p:cTn>
                              </p:par>
                              <p:par>
                                <p:cTn id="11" presetID="14" presetClass="entr" presetSubtype="10" fill="hold" nodeType="withEffect">
                                  <p:stCondLst>
                                    <p:cond delay="0"/>
                                  </p:stCondLst>
                                  <p:childTnLst>
                                    <p:set>
                                      <p:cBhvr>
                                        <p:cTn id="12" dur="1" fill="hold">
                                          <p:stCondLst>
                                            <p:cond delay="0"/>
                                          </p:stCondLst>
                                        </p:cTn>
                                        <p:tgtEl>
                                          <p:spTgt spid="149"/>
                                        </p:tgtEl>
                                        <p:attrNameLst>
                                          <p:attrName>style.visibility</p:attrName>
                                        </p:attrNameLst>
                                      </p:cBhvr>
                                      <p:to>
                                        <p:strVal val="visible"/>
                                      </p:to>
                                    </p:set>
                                    <p:animEffect transition="in" filter="randombar(horizontal)">
                                      <p:cBhvr>
                                        <p:cTn id="13" dur="500"/>
                                        <p:tgtEl>
                                          <p:spTgt spid="14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up)">
                                      <p:cBhvr>
                                        <p:cTn id="21" dur="500"/>
                                        <p:tgtEl>
                                          <p:spTgt spid="17"/>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up)">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P spid="140" grpId="1"/>
      <p:bldP spid="10" grpId="0"/>
      <p:bldP spid="10"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38555" y="230505"/>
            <a:ext cx="4240530" cy="583565"/>
          </a:xfrm>
          <a:prstGeom prst="rect">
            <a:avLst/>
          </a:prstGeom>
          <a:noFill/>
        </p:spPr>
        <p:txBody>
          <a:bodyPr wrap="square" rtlCol="0">
            <a:spAutoFit/>
          </a:bodyPr>
          <a:lstStyle/>
          <a:p>
            <a:r>
              <a:rPr lang="en-US" altLang="zh-CN" sz="3200" b="1" dirty="0">
                <a:latin typeface="+mj-lt"/>
              </a:rPr>
              <a:t>Model Training</a:t>
            </a:r>
            <a:endParaRPr lang="zh-CN" altLang="en-US" sz="3200" b="1" dirty="0">
              <a:latin typeface="+mj-lt"/>
            </a:endParaRPr>
          </a:p>
        </p:txBody>
      </p:sp>
      <mc:AlternateContent xmlns:mc="http://schemas.openxmlformats.org/markup-compatibility/2006">
        <mc:Choice xmlns:a14="http://schemas.microsoft.com/office/drawing/2010/main" Requires="a14">
          <p:sp>
            <p:nvSpPr>
              <p:cNvPr id="3" name="文本框 2"/>
              <p:cNvSpPr txBox="1"/>
              <p:nvPr/>
            </p:nvSpPr>
            <p:spPr>
              <a:xfrm>
                <a:off x="633730" y="899160"/>
                <a:ext cx="10631170" cy="1138555"/>
              </a:xfrm>
              <a:prstGeom prst="rect">
                <a:avLst/>
              </a:prstGeom>
            </p:spPr>
            <p:txBody>
              <a:bodyPr wrap="square">
                <a:spAutoFit/>
              </a:bodyPr>
              <a:lstStyle/>
              <a:p>
                <a:pPr marL="285750" indent="-285750" fontAlgn="auto">
                  <a:lnSpc>
                    <a:spcPct val="125000"/>
                  </a:lnSpc>
                  <a:buFont typeface="Arial" panose="020B0604020202020204" pitchFamily="34" charset="0"/>
                  <a:buChar char="•"/>
                </a:pPr>
                <a:r>
                  <a:rPr lang="en-US" altLang="zh-CN">
                    <a:solidFill>
                      <a:srgbClr val="000000"/>
                    </a:solidFill>
                    <a:latin typeface="Georgia" panose="02040502050405020303" charset="0"/>
                    <a:ea typeface="CMR10"/>
                    <a:cs typeface="Georgia" panose="02040502050405020303" charset="0"/>
                  </a:rPr>
                  <a:t>There are two main modules that need to be trained: </a:t>
                </a:r>
                <a:endParaRPr lang="en-US" altLang="zh-CN">
                  <a:solidFill>
                    <a:srgbClr val="000000"/>
                  </a:solidFill>
                  <a:latin typeface="Georgia" panose="02040502050405020303" charset="0"/>
                  <a:ea typeface="CMR10"/>
                  <a:cs typeface="Georgia" panose="02040502050405020303" charset="0"/>
                </a:endParaRPr>
              </a:p>
              <a:p>
                <a:pPr marL="800100" lvl="1" indent="-342900" fontAlgn="auto">
                  <a:lnSpc>
                    <a:spcPct val="125000"/>
                  </a:lnSpc>
                  <a:buFont typeface="+mj-lt"/>
                  <a:buAutoNum type="alphaLcParenR"/>
                </a:pPr>
                <a:r>
                  <a:rPr lang="en-US" altLang="zh-CN">
                    <a:solidFill>
                      <a:srgbClr val="000000"/>
                    </a:solidFill>
                    <a:latin typeface="Georgia" panose="02040502050405020303" charset="0"/>
                    <a:ea typeface="CMR10"/>
                    <a:cs typeface="Georgia" panose="02040502050405020303" charset="0"/>
                  </a:rPr>
                  <a:t>The centralized graph generator </a:t>
                </a:r>
                <a14:m>
                  <m:oMath xmlns:m="http://schemas.openxmlformats.org/officeDocument/2006/math">
                    <m:sSub>
                      <m:sSubPr>
                        <m:ctrlPr>
                          <a:rPr lang="en-US" altLang="zh-CN" i="1">
                            <a:solidFill>
                              <a:srgbClr val="000000"/>
                            </a:solidFill>
                            <a:latin typeface="Cambria Math" panose="02040503050406030204" charset="0"/>
                            <a:ea typeface="CMR10"/>
                            <a:cs typeface="Cambria Math" panose="02040503050406030204" charset="0"/>
                          </a:rPr>
                        </m:ctrlPr>
                      </m:sSubPr>
                      <m:e>
                        <m:r>
                          <a:rPr lang="en-US" altLang="zh-CN" i="1">
                            <a:solidFill>
                              <a:srgbClr val="000000"/>
                            </a:solidFill>
                            <a:latin typeface="Cambria Math" panose="02040503050406030204" charset="0"/>
                            <a:ea typeface="CMR10"/>
                            <a:cs typeface="Cambria Math" panose="02040503050406030204" charset="0"/>
                          </a:rPr>
                          <m:t>𝛬</m:t>
                        </m:r>
                      </m:e>
                      <m:sub>
                        <m:r>
                          <a:rPr lang="en-US" altLang="zh-CN" i="1">
                            <a:solidFill>
                              <a:srgbClr val="000000"/>
                            </a:solidFill>
                            <a:latin typeface="Cambria Math" panose="02040503050406030204" charset="0"/>
                            <a:ea typeface="CMR10"/>
                            <a:cs typeface="Cambria Math" panose="02040503050406030204" charset="0"/>
                          </a:rPr>
                          <m:t>𝜑</m:t>
                        </m:r>
                      </m:sub>
                    </m:sSub>
                  </m:oMath>
                </a14:m>
                <a:r>
                  <a:rPr lang="en-US" altLang="zh-CN">
                    <a:solidFill>
                      <a:srgbClr val="000000"/>
                    </a:solidFill>
                    <a:latin typeface="Georgia" panose="02040502050405020303" charset="0"/>
                    <a:ea typeface="CMR10"/>
                    <a:cs typeface="Georgia" panose="02040502050405020303" charset="0"/>
                  </a:rPr>
                  <a:t> with trainable parameter </a:t>
                </a:r>
                <a14:m>
                  <m:oMath xmlns:m="http://schemas.openxmlformats.org/officeDocument/2006/math">
                    <m:r>
                      <a:rPr lang="en-US" altLang="zh-CN" i="1">
                        <a:solidFill>
                          <a:srgbClr val="000000"/>
                        </a:solidFill>
                        <a:latin typeface="Cambria Math" panose="02040503050406030204" charset="0"/>
                        <a:ea typeface="CMR10"/>
                        <a:cs typeface="Cambria Math" panose="02040503050406030204" charset="0"/>
                      </a:rPr>
                      <m:t>𝜑</m:t>
                    </m:r>
                  </m:oMath>
                </a14:m>
                <a:r>
                  <a:rPr lang="en-US" altLang="zh-CN">
                    <a:solidFill>
                      <a:srgbClr val="000000"/>
                    </a:solidFill>
                    <a:latin typeface="Georgia" panose="02040502050405020303" charset="0"/>
                    <a:ea typeface="CMR10"/>
                    <a:cs typeface="Georgia" panose="02040502050405020303" charset="0"/>
                  </a:rPr>
                  <a:t>;</a:t>
                </a:r>
                <a:endParaRPr lang="en-US" altLang="zh-CN">
                  <a:solidFill>
                    <a:srgbClr val="000000"/>
                  </a:solidFill>
                  <a:latin typeface="Georgia" panose="02040502050405020303" charset="0"/>
                  <a:ea typeface="CMR10"/>
                  <a:cs typeface="Georgia" panose="02040502050405020303" charset="0"/>
                </a:endParaRPr>
              </a:p>
              <a:p>
                <a:pPr marL="800100" lvl="1" indent="-342900" fontAlgn="auto">
                  <a:lnSpc>
                    <a:spcPct val="125000"/>
                  </a:lnSpc>
                  <a:buFont typeface="+mj-lt"/>
                  <a:buAutoNum type="alphaLcParenR"/>
                </a:pPr>
                <a:r>
                  <a:rPr lang="en-US" altLang="zh-CN">
                    <a:solidFill>
                      <a:srgbClr val="000000"/>
                    </a:solidFill>
                    <a:latin typeface="Georgia" panose="02040502050405020303" charset="0"/>
                    <a:ea typeface="CMR10"/>
                    <a:cs typeface="Georgia" panose="02040502050405020303" charset="0"/>
                  </a:rPr>
                  <a:t>The policy network </a:t>
                </a:r>
                <a14:m>
                  <m:oMath xmlns:m="http://schemas.openxmlformats.org/officeDocument/2006/math">
                    <m:sSub>
                      <m:sSubPr>
                        <m:ctrlPr>
                          <a:rPr lang="en-US" altLang="zh-CN" i="1">
                            <a:solidFill>
                              <a:srgbClr val="000000"/>
                            </a:solidFill>
                            <a:latin typeface="Cambria Math" panose="02040503050406030204" charset="0"/>
                            <a:ea typeface="CMR10"/>
                            <a:cs typeface="Cambria Math" panose="02040503050406030204" charset="0"/>
                          </a:rPr>
                        </m:ctrlPr>
                      </m:sSubPr>
                      <m:e>
                        <m:r>
                          <a:rPr lang="en-US" altLang="zh-CN" i="1">
                            <a:solidFill>
                              <a:srgbClr val="000000"/>
                            </a:solidFill>
                            <a:latin typeface="Cambria Math" panose="02040503050406030204" charset="0"/>
                            <a:ea typeface="CMR10"/>
                            <a:cs typeface="Cambria Math" panose="02040503050406030204" charset="0"/>
                          </a:rPr>
                          <m:t>𝜋</m:t>
                        </m:r>
                      </m:e>
                      <m:sub>
                        <m:r>
                          <a:rPr lang="en-US" altLang="zh-CN" i="1">
                            <a:solidFill>
                              <a:srgbClr val="000000"/>
                            </a:solidFill>
                            <a:latin typeface="Cambria Math" panose="02040503050406030204" charset="0"/>
                            <a:ea typeface="CMR10"/>
                            <a:cs typeface="Cambria Math" panose="02040503050406030204" charset="0"/>
                          </a:rPr>
                          <m:t>𝜃</m:t>
                        </m:r>
                      </m:sub>
                    </m:sSub>
                  </m:oMath>
                </a14:m>
                <a:r>
                  <a:rPr lang="en-US" altLang="zh-CN">
                    <a:solidFill>
                      <a:srgbClr val="000000"/>
                    </a:solidFill>
                    <a:latin typeface="Georgia" panose="02040502050405020303" charset="0"/>
                    <a:ea typeface="CMR10"/>
                    <a:cs typeface="Georgia" panose="02040502050405020303" charset="0"/>
                  </a:rPr>
                  <a:t> with trainable parameter </a:t>
                </a:r>
                <a14:m>
                  <m:oMath xmlns:m="http://schemas.openxmlformats.org/officeDocument/2006/math">
                    <m:r>
                      <a:rPr lang="en-US" altLang="zh-CN" i="1">
                        <a:solidFill>
                          <a:srgbClr val="000000"/>
                        </a:solidFill>
                        <a:latin typeface="Cambria Math" panose="02040503050406030204" charset="0"/>
                        <a:ea typeface="CMR10"/>
                        <a:cs typeface="Cambria Math" panose="02040503050406030204" charset="0"/>
                      </a:rPr>
                      <m:t>𝜃</m:t>
                    </m:r>
                    <m:r>
                      <a:rPr lang="en-US" altLang="zh-CN" i="1">
                        <a:solidFill>
                          <a:srgbClr val="000000"/>
                        </a:solidFill>
                        <a:latin typeface="Cambria Math" panose="02040503050406030204" charset="0"/>
                        <a:ea typeface="CMR10"/>
                        <a:cs typeface="Cambria Math" panose="02040503050406030204" charset="0"/>
                      </a:rPr>
                      <m:t>={</m:t>
                    </m:r>
                    <m:sSub>
                      <m:sSubPr>
                        <m:ctrlPr>
                          <a:rPr lang="en-US" altLang="zh-CN" i="1">
                            <a:solidFill>
                              <a:srgbClr val="000000"/>
                            </a:solidFill>
                            <a:latin typeface="Cambria Math" panose="02040503050406030204" charset="0"/>
                            <a:ea typeface="CMR10"/>
                            <a:cs typeface="Cambria Math" panose="02040503050406030204" charset="0"/>
                          </a:rPr>
                        </m:ctrlPr>
                      </m:sSubPr>
                      <m:e>
                        <m:r>
                          <a:rPr lang="en-US" altLang="zh-CN" i="1">
                            <a:solidFill>
                              <a:srgbClr val="000000"/>
                            </a:solidFill>
                            <a:latin typeface="Cambria Math" panose="02040503050406030204" charset="0"/>
                            <a:ea typeface="CMR10"/>
                            <a:cs typeface="Cambria Math" panose="02040503050406030204" charset="0"/>
                          </a:rPr>
                          <m:t>𝜃</m:t>
                        </m:r>
                      </m:e>
                      <m:sub>
                        <m:r>
                          <a:rPr lang="en-US" altLang="zh-CN" i="1">
                            <a:solidFill>
                              <a:srgbClr val="000000"/>
                            </a:solidFill>
                            <a:latin typeface="Cambria Math" panose="02040503050406030204" charset="0"/>
                            <a:ea typeface="CMR10"/>
                            <a:cs typeface="Cambria Math" panose="02040503050406030204" charset="0"/>
                          </a:rPr>
                          <m:t>𝑛</m:t>
                        </m:r>
                      </m:sub>
                    </m:sSub>
                    <m:r>
                      <a:rPr lang="en-US" altLang="zh-CN" i="1">
                        <a:solidFill>
                          <a:srgbClr val="000000"/>
                        </a:solidFill>
                        <a:latin typeface="Cambria Math" panose="02040503050406030204" charset="0"/>
                        <a:ea typeface="CMR10"/>
                        <a:cs typeface="Cambria Math" panose="02040503050406030204" charset="0"/>
                      </a:rPr>
                      <m:t>,</m:t>
                    </m:r>
                    <m:sSub>
                      <m:sSubPr>
                        <m:ctrlPr>
                          <a:rPr lang="en-US" altLang="zh-CN" i="1">
                            <a:solidFill>
                              <a:srgbClr val="000000"/>
                            </a:solidFill>
                            <a:latin typeface="Cambria Math" panose="02040503050406030204" charset="0"/>
                            <a:ea typeface="CMR10"/>
                            <a:cs typeface="Cambria Math" panose="02040503050406030204" charset="0"/>
                          </a:rPr>
                        </m:ctrlPr>
                      </m:sSubPr>
                      <m:e>
                        <m:r>
                          <a:rPr lang="en-US" altLang="zh-CN" i="1">
                            <a:solidFill>
                              <a:srgbClr val="000000"/>
                            </a:solidFill>
                            <a:latin typeface="Cambria Math" panose="02040503050406030204" charset="0"/>
                            <a:ea typeface="CMR10"/>
                            <a:cs typeface="Cambria Math" panose="02040503050406030204" charset="0"/>
                          </a:rPr>
                          <m:t>𝜃</m:t>
                        </m:r>
                      </m:e>
                      <m:sub>
                        <m:r>
                          <a:rPr lang="en-US" altLang="zh-CN" i="1">
                            <a:solidFill>
                              <a:srgbClr val="000000"/>
                            </a:solidFill>
                            <a:latin typeface="Cambria Math" panose="02040503050406030204" charset="0"/>
                            <a:ea typeface="CMR10"/>
                            <a:cs typeface="Cambria Math" panose="02040503050406030204" charset="0"/>
                          </a:rPr>
                          <m:t>𝑒</m:t>
                        </m:r>
                      </m:sub>
                    </m:sSub>
                    <m:r>
                      <a:rPr lang="en-US" altLang="zh-CN" i="1">
                        <a:solidFill>
                          <a:srgbClr val="000000"/>
                        </a:solidFill>
                        <a:latin typeface="Cambria Math" panose="02040503050406030204" charset="0"/>
                        <a:ea typeface="CMR10"/>
                        <a:cs typeface="Cambria Math" panose="02040503050406030204" charset="0"/>
                      </a:rPr>
                      <m:t>}</m:t>
                    </m:r>
                  </m:oMath>
                </a14:m>
                <a:r>
                  <a:rPr lang="en-US" altLang="zh-CN">
                    <a:solidFill>
                      <a:srgbClr val="000000"/>
                    </a:solidFill>
                    <a:latin typeface="Georgia" panose="02040502050405020303" charset="0"/>
                    <a:ea typeface="CMR10"/>
                    <a:cs typeface="Georgia" panose="02040502050405020303" charset="0"/>
                  </a:rPr>
                  <a:t> .</a:t>
                </a:r>
                <a:endParaRPr lang="en-US" altLang="zh-CN">
                  <a:solidFill>
                    <a:srgbClr val="000000"/>
                  </a:solidFill>
                  <a:latin typeface="Georgia" panose="02040502050405020303" charset="0"/>
                  <a:ea typeface="CMR10"/>
                  <a:cs typeface="Georgia" panose="02040502050405020303"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633730" y="899160"/>
                <a:ext cx="10631170" cy="1138555"/>
              </a:xfrm>
              <a:prstGeom prst="rect">
                <a:avLst/>
              </a:prstGeom>
              <a:blipFill rotWithShape="1">
                <a:blip r:embed="rId1"/>
                <a:stretch>
                  <a:fillRect/>
                </a:stretch>
              </a:blipFill>
            </p:spPr>
            <p:txBody>
              <a:bodyPr/>
              <a:lstStyle/>
              <a:p>
                <a:r>
                  <a:rPr lang="zh-CN" altLang="en-US">
                    <a:noFill/>
                  </a:rPr>
                  <a:t> </a:t>
                </a:r>
              </a:p>
            </p:txBody>
          </p:sp>
        </mc:Fallback>
      </mc:AlternateContent>
      <p:sp>
        <p:nvSpPr>
          <p:cNvPr id="26" name="文本框 25"/>
          <p:cNvSpPr txBox="1"/>
          <p:nvPr/>
        </p:nvSpPr>
        <p:spPr>
          <a:xfrm>
            <a:off x="633730" y="5434330"/>
            <a:ext cx="11030585" cy="1129665"/>
          </a:xfrm>
          <a:prstGeom prst="rect">
            <a:avLst/>
          </a:prstGeom>
        </p:spPr>
        <p:txBody>
          <a:bodyPr wrap="square">
            <a:spAutoFit/>
          </a:bodyPr>
          <a:lstStyle/>
          <a:p>
            <a:pPr marL="285750" indent="-285750" fontAlgn="auto">
              <a:lnSpc>
                <a:spcPct val="125000"/>
              </a:lnSpc>
              <a:buFont typeface="Arial" panose="020B0604020202020204" pitchFamily="34" charset="0"/>
              <a:buChar char="•"/>
            </a:pPr>
            <a:r>
              <a:rPr lang="en-US" altLang="zh-CN">
                <a:solidFill>
                  <a:srgbClr val="000000"/>
                </a:solidFill>
                <a:latin typeface="Georgia" panose="02040502050405020303" charset="0"/>
                <a:ea typeface="宋体" panose="02010600030101010101" pitchFamily="2" charset="-122"/>
                <a:cs typeface="Georgia" panose="02040502050405020303" charset="0"/>
                <a:sym typeface="+mn-ea"/>
              </a:rPr>
              <a:t>Select the MAPPO algorithm with actor-critic architecture as the policy solver and use the agent-specific global observations as inputs of value function to coordinate agents. The value function is trained by minimizing the temporal difference loss.</a:t>
            </a:r>
            <a:endParaRPr lang="en-US" altLang="zh-CN">
              <a:solidFill>
                <a:srgbClr val="000000"/>
              </a:solidFill>
              <a:latin typeface="Georgia" panose="02040502050405020303" charset="0"/>
              <a:ea typeface="宋体" panose="02010600030101010101" pitchFamily="2" charset="-122"/>
              <a:cs typeface="Georgia" panose="02040502050405020303" charset="0"/>
              <a:sym typeface="+mn-ea"/>
            </a:endParaRPr>
          </a:p>
        </p:txBody>
      </p:sp>
      <p:grpSp>
        <p:nvGrpSpPr>
          <p:cNvPr id="31" name="组合 30"/>
          <p:cNvGrpSpPr/>
          <p:nvPr/>
        </p:nvGrpSpPr>
        <p:grpSpPr>
          <a:xfrm>
            <a:off x="633730" y="2120265"/>
            <a:ext cx="10408920" cy="1661160"/>
            <a:chOff x="938" y="3311"/>
            <a:chExt cx="16392" cy="2616"/>
          </a:xfrm>
        </p:grpSpPr>
        <mc:AlternateContent xmlns:mc="http://schemas.openxmlformats.org/markup-compatibility/2006">
          <mc:Choice xmlns:a14="http://schemas.microsoft.com/office/drawing/2010/main" Requires="a14">
            <p:sp>
              <p:nvSpPr>
                <p:cNvPr id="4" name="文本框 3"/>
                <p:cNvSpPr txBox="1"/>
                <p:nvPr/>
              </p:nvSpPr>
              <p:spPr>
                <a:xfrm>
                  <a:off x="938" y="3311"/>
                  <a:ext cx="16392" cy="1222"/>
                </a:xfrm>
                <a:prstGeom prst="rect">
                  <a:avLst/>
                </a:prstGeom>
              </p:spPr>
              <p:txBody>
                <a:bodyPr wrap="square">
                  <a:spAutoFit/>
                </a:bodyPr>
                <a:lstStyle/>
                <a:p>
                  <a:pPr marL="285750" indent="-285750" fontAlgn="auto">
                    <a:lnSpc>
                      <a:spcPct val="100000"/>
                    </a:lnSpc>
                    <a:buFont typeface="Arial" panose="020B0604020202020204" pitchFamily="34" charset="0"/>
                    <a:buChar char="•"/>
                  </a:pPr>
                  <a:r>
                    <a:rPr lang="en-US" altLang="zh-CN" b="1">
                      <a:solidFill>
                        <a:srgbClr val="000000"/>
                      </a:solidFill>
                      <a:latin typeface="Georgia" panose="02040502050405020303" charset="0"/>
                      <a:ea typeface="CMR10"/>
                      <a:cs typeface="Georgia" panose="02040502050405020303" charset="0"/>
                    </a:rPr>
                    <a:t>Policy Network:</a:t>
                  </a:r>
                  <a:r>
                    <a:rPr lang="en-US" altLang="zh-CN">
                      <a:solidFill>
                        <a:srgbClr val="000000"/>
                      </a:solidFill>
                      <a:latin typeface="Georgia" panose="02040502050405020303" charset="0"/>
                      <a:ea typeface="CMR10"/>
                      <a:cs typeface="Georgia" panose="02040502050405020303" charset="0"/>
                    </a:rPr>
                    <a:t> Maximize the long-term cumulative rewards for both the replenishment </a:t>
                  </a:r>
                  <a14:m>
                    <m:oMath xmlns:m="http://schemas.openxmlformats.org/officeDocument/2006/math">
                      <m:sSub>
                        <m:sSubPr>
                          <m:ctrlPr>
                            <a:rPr lang="en-US" altLang="zh-CN" i="1">
                              <a:solidFill>
                                <a:srgbClr val="000000"/>
                              </a:solidFill>
                              <a:latin typeface="Cambria Math" panose="02040503050406030204" charset="0"/>
                              <a:ea typeface="CMR10"/>
                              <a:cs typeface="Cambria Math" panose="02040503050406030204" charset="0"/>
                            </a:rPr>
                          </m:ctrlPr>
                        </m:sSubPr>
                        <m:e>
                          <m:r>
                            <a:rPr lang="en-US" altLang="zh-CN" i="1">
                              <a:solidFill>
                                <a:srgbClr val="000000"/>
                              </a:solidFill>
                              <a:latin typeface="Cambria Math" panose="02040503050406030204" charset="0"/>
                              <a:ea typeface="CMR10"/>
                              <a:cs typeface="Cambria Math" panose="02040503050406030204" charset="0"/>
                            </a:rPr>
                            <m:t>𝜂</m:t>
                          </m:r>
                        </m:e>
                        <m:sub>
                          <m:r>
                            <a:rPr lang="en-US" altLang="zh-CN" i="1">
                              <a:solidFill>
                                <a:srgbClr val="000000"/>
                              </a:solidFill>
                              <a:latin typeface="Cambria Math" panose="02040503050406030204" charset="0"/>
                              <a:ea typeface="CMR10"/>
                              <a:cs typeface="Cambria Math" panose="02040503050406030204" charset="0"/>
                            </a:rPr>
                            <m:t>𝑛</m:t>
                          </m:r>
                        </m:sub>
                      </m:sSub>
                      <m:r>
                        <a:rPr lang="en-US" altLang="zh-CN" i="1">
                          <a:solidFill>
                            <a:srgbClr val="000000"/>
                          </a:solidFill>
                          <a:latin typeface="Cambria Math" panose="02040503050406030204" charset="0"/>
                          <a:ea typeface="CMR10"/>
                          <a:cs typeface="Cambria Math" panose="02040503050406030204" charset="0"/>
                        </a:rPr>
                        <m:t>=</m:t>
                      </m:r>
                      <m:r>
                        <a:rPr lang="en-US" altLang="zh-CN" i="1">
                          <a:solidFill>
                            <a:srgbClr val="000000"/>
                          </a:solidFill>
                          <a:latin typeface="Cambria Math" panose="02040503050406030204" charset="0"/>
                          <a:ea typeface="CMR10"/>
                          <a:cs typeface="Cambria Math" panose="02040503050406030204" charset="0"/>
                        </a:rPr>
                        <m:t>𝔼</m:t>
                      </m:r>
                      <m:d>
                        <m:dPr>
                          <m:begChr m:val="["/>
                          <m:endChr m:val="]"/>
                          <m:ctrlPr>
                            <a:rPr lang="en-US" altLang="zh-CN" i="1">
                              <a:solidFill>
                                <a:srgbClr val="000000"/>
                              </a:solidFill>
                              <a:latin typeface="Cambria Math" panose="02040503050406030204" charset="0"/>
                              <a:ea typeface="CMR10"/>
                              <a:cs typeface="Cambria Math" panose="02040503050406030204" charset="0"/>
                            </a:rPr>
                          </m:ctrlPr>
                        </m:dPr>
                        <m:e>
                          <m:nary>
                            <m:naryPr>
                              <m:chr m:val="∑"/>
                              <m:limLoc m:val="undOvr"/>
                              <m:ctrlPr>
                                <a:rPr lang="en-US" altLang="zh-CN" i="1">
                                  <a:solidFill>
                                    <a:srgbClr val="000000"/>
                                  </a:solidFill>
                                  <a:latin typeface="Cambria Math" panose="02040503050406030204" charset="0"/>
                                  <a:ea typeface="CMR10"/>
                                  <a:cs typeface="Cambria Math" panose="02040503050406030204" charset="0"/>
                                </a:rPr>
                              </m:ctrlPr>
                            </m:naryPr>
                            <m:sub>
                              <m:r>
                                <a:rPr lang="en-US" altLang="zh-CN" i="1">
                                  <a:solidFill>
                                    <a:srgbClr val="000000"/>
                                  </a:solidFill>
                                  <a:latin typeface="Cambria Math" panose="02040503050406030204" charset="0"/>
                                  <a:ea typeface="CMR10"/>
                                  <a:cs typeface="Cambria Math" panose="02040503050406030204" charset="0"/>
                                </a:rPr>
                                <m:t>𝑘</m:t>
                              </m:r>
                              <m:r>
                                <a:rPr lang="en-US" altLang="zh-CN" i="1">
                                  <a:solidFill>
                                    <a:srgbClr val="000000"/>
                                  </a:solidFill>
                                  <a:latin typeface="Cambria Math" panose="02040503050406030204" charset="0"/>
                                  <a:ea typeface="CMR10"/>
                                  <a:cs typeface="Cambria Math" panose="02040503050406030204" charset="0"/>
                                </a:rPr>
                                <m:t>=</m:t>
                              </m:r>
                              <m:r>
                                <a:rPr lang="en-US" altLang="zh-CN" i="1">
                                  <a:solidFill>
                                    <a:srgbClr val="000000"/>
                                  </a:solidFill>
                                  <a:latin typeface="Cambria Math" panose="02040503050406030204" charset="0"/>
                                  <a:ea typeface="CMR10"/>
                                  <a:cs typeface="Cambria Math" panose="02040503050406030204" charset="0"/>
                                </a:rPr>
                                <m:t>0</m:t>
                              </m:r>
                            </m:sub>
                            <m:sup>
                              <m:r>
                                <a:rPr lang="en-US" altLang="zh-CN" i="1">
                                  <a:solidFill>
                                    <a:srgbClr val="000000"/>
                                  </a:solidFill>
                                  <a:latin typeface="Cambria Math" panose="02040503050406030204" charset="0"/>
                                  <a:ea typeface="CMR10"/>
                                  <a:cs typeface="Cambria Math" panose="02040503050406030204" charset="0"/>
                                </a:rPr>
                                <m:t>∞</m:t>
                              </m:r>
                            </m:sup>
                            <m:e>
                              <m:sSup>
                                <m:sSupPr>
                                  <m:ctrlPr>
                                    <a:rPr lang="en-US" altLang="zh-CN" i="1">
                                      <a:solidFill>
                                        <a:srgbClr val="000000"/>
                                      </a:solidFill>
                                      <a:latin typeface="Cambria Math" panose="02040503050406030204" charset="0"/>
                                      <a:ea typeface="CMR10"/>
                                      <a:cs typeface="Cambria Math" panose="02040503050406030204" charset="0"/>
                                    </a:rPr>
                                  </m:ctrlPr>
                                </m:sSupPr>
                                <m:e>
                                  <m:r>
                                    <a:rPr lang="en-US" altLang="zh-CN" i="1">
                                      <a:solidFill>
                                        <a:srgbClr val="000000"/>
                                      </a:solidFill>
                                      <a:latin typeface="Cambria Math" panose="02040503050406030204" charset="0"/>
                                      <a:ea typeface="CMR10"/>
                                      <a:cs typeface="Cambria Math" panose="02040503050406030204" charset="0"/>
                                    </a:rPr>
                                    <m:t>𝛾</m:t>
                                  </m:r>
                                </m:e>
                                <m:sup>
                                  <m:r>
                                    <a:rPr lang="en-US" altLang="zh-CN" i="1">
                                      <a:solidFill>
                                        <a:srgbClr val="000000"/>
                                      </a:solidFill>
                                      <a:latin typeface="Cambria Math" panose="02040503050406030204" charset="0"/>
                                      <a:ea typeface="CMR10"/>
                                      <a:cs typeface="Cambria Math" panose="02040503050406030204" charset="0"/>
                                    </a:rPr>
                                    <m:t>𝑘</m:t>
                                  </m:r>
                                </m:sup>
                              </m:sSup>
                              <m:r>
                                <a:rPr lang="en-US" altLang="zh-CN" i="1">
                                  <a:solidFill>
                                    <a:srgbClr val="000000"/>
                                  </a:solidFill>
                                  <a:latin typeface="Cambria Math" panose="02040503050406030204" charset="0"/>
                                  <a:ea typeface="CMR10"/>
                                  <a:cs typeface="Cambria Math" panose="02040503050406030204" charset="0"/>
                                </a:rPr>
                                <m:t>∙</m:t>
                              </m:r>
                              <m:sSubSup>
                                <m:sSubSupPr>
                                  <m:ctrlPr>
                                    <a:rPr lang="en-US" altLang="zh-CN" i="1">
                                      <a:solidFill>
                                        <a:srgbClr val="C00000"/>
                                      </a:solidFill>
                                      <a:latin typeface="Cambria Math" panose="02040503050406030204" charset="0"/>
                                      <a:ea typeface="CMR10"/>
                                      <a:cs typeface="Cambria Math" panose="02040503050406030204" charset="0"/>
                                    </a:rPr>
                                  </m:ctrlPr>
                                </m:sSubSupPr>
                                <m:e>
                                  <m:r>
                                    <a:rPr lang="en-US" altLang="zh-CN" i="1">
                                      <a:solidFill>
                                        <a:srgbClr val="C00000"/>
                                      </a:solidFill>
                                      <a:latin typeface="Cambria Math" panose="02040503050406030204" charset="0"/>
                                      <a:ea typeface="CMR10"/>
                                      <a:cs typeface="Cambria Math" panose="02040503050406030204" charset="0"/>
                                    </a:rPr>
                                    <m:t>𝑟𝑛</m:t>
                                  </m:r>
                                </m:e>
                                <m:sub>
                                  <m:r>
                                    <a:rPr lang="en-US" altLang="zh-CN" i="1">
                                      <a:solidFill>
                                        <a:srgbClr val="C00000"/>
                                      </a:solidFill>
                                      <a:latin typeface="Cambria Math" panose="02040503050406030204" charset="0"/>
                                      <a:ea typeface="CMR10"/>
                                      <a:cs typeface="Cambria Math" panose="02040503050406030204" charset="0"/>
                                    </a:rPr>
                                    <m:t>𝑡</m:t>
                                  </m:r>
                                  <m:r>
                                    <a:rPr lang="en-US" altLang="zh-CN" i="1">
                                      <a:solidFill>
                                        <a:srgbClr val="C00000"/>
                                      </a:solidFill>
                                      <a:latin typeface="Cambria Math" panose="02040503050406030204" charset="0"/>
                                      <a:ea typeface="CMR10"/>
                                      <a:cs typeface="Cambria Math" panose="02040503050406030204" charset="0"/>
                                    </a:rPr>
                                    <m:t>+</m:t>
                                  </m:r>
                                  <m:r>
                                    <a:rPr lang="en-US" altLang="zh-CN" i="1">
                                      <a:solidFill>
                                        <a:srgbClr val="C00000"/>
                                      </a:solidFill>
                                      <a:latin typeface="Cambria Math" panose="02040503050406030204" charset="0"/>
                                      <a:ea typeface="CMR10"/>
                                      <a:cs typeface="Cambria Math" panose="02040503050406030204" charset="0"/>
                                    </a:rPr>
                                    <m:t>𝑘</m:t>
                                  </m:r>
                                </m:sub>
                                <m:sup>
                                  <m:r>
                                    <a:rPr lang="en-US" altLang="zh-CN" i="1">
                                      <a:solidFill>
                                        <a:srgbClr val="C00000"/>
                                      </a:solidFill>
                                      <a:latin typeface="Cambria Math" panose="02040503050406030204" charset="0"/>
                                      <a:ea typeface="CMR10"/>
                                      <a:cs typeface="Cambria Math" panose="02040503050406030204" charset="0"/>
                                    </a:rPr>
                                    <m:t>𝑖</m:t>
                                  </m:r>
                                </m:sup>
                              </m:sSubSup>
                            </m:e>
                          </m:nary>
                        </m:e>
                      </m:d>
                    </m:oMath>
                  </a14:m>
                  <a:r>
                    <a:rPr lang="en-US" altLang="zh-CN">
                      <a:solidFill>
                        <a:srgbClr val="000000"/>
                      </a:solidFill>
                      <a:latin typeface="Georgia" panose="02040502050405020303" charset="0"/>
                      <a:ea typeface="CMR10"/>
                      <a:cs typeface="Georgia" panose="02040502050405020303" charset="0"/>
                    </a:rPr>
                    <a:t> and the transshipment </a:t>
                  </a:r>
                  <a14:m>
                    <m:oMath xmlns:m="http://schemas.openxmlformats.org/officeDocument/2006/math">
                      <m:sSub>
                        <m:sSubPr>
                          <m:ctrlPr>
                            <a:rPr lang="en-US" altLang="zh-CN" i="1">
                              <a:solidFill>
                                <a:srgbClr val="000000"/>
                              </a:solidFill>
                              <a:latin typeface="Cambria Math" panose="02040503050406030204" charset="0"/>
                              <a:ea typeface="CMR10"/>
                              <a:cs typeface="Cambria Math" panose="02040503050406030204" charset="0"/>
                            </a:rPr>
                          </m:ctrlPr>
                        </m:sSubPr>
                        <m:e>
                          <m:r>
                            <a:rPr lang="en-US" altLang="zh-CN" i="1">
                              <a:solidFill>
                                <a:srgbClr val="000000"/>
                              </a:solidFill>
                              <a:latin typeface="Cambria Math" panose="02040503050406030204" charset="0"/>
                              <a:ea typeface="CMR10"/>
                              <a:cs typeface="Cambria Math" panose="02040503050406030204" charset="0"/>
                            </a:rPr>
                            <m:t>𝜂</m:t>
                          </m:r>
                        </m:e>
                        <m:sub>
                          <m:r>
                            <a:rPr lang="en-US" altLang="zh-CN" i="1">
                              <a:solidFill>
                                <a:srgbClr val="000000"/>
                              </a:solidFill>
                              <a:latin typeface="Cambria Math" panose="02040503050406030204" charset="0"/>
                              <a:ea typeface="CMR10"/>
                              <a:cs typeface="Cambria Math" panose="02040503050406030204" charset="0"/>
                            </a:rPr>
                            <m:t>𝑒</m:t>
                          </m:r>
                        </m:sub>
                      </m:sSub>
                      <m:r>
                        <a:rPr lang="en-US" altLang="zh-CN" i="1">
                          <a:solidFill>
                            <a:srgbClr val="000000"/>
                          </a:solidFill>
                          <a:latin typeface="Cambria Math" panose="02040503050406030204" charset="0"/>
                          <a:ea typeface="CMR10"/>
                          <a:cs typeface="Cambria Math" panose="02040503050406030204" charset="0"/>
                        </a:rPr>
                        <m:t>=</m:t>
                      </m:r>
                      <m:r>
                        <a:rPr lang="en-US" altLang="zh-CN" i="1">
                          <a:solidFill>
                            <a:srgbClr val="000000"/>
                          </a:solidFill>
                          <a:latin typeface="Cambria Math" panose="02040503050406030204" charset="0"/>
                          <a:ea typeface="CMR10"/>
                          <a:cs typeface="Cambria Math" panose="02040503050406030204" charset="0"/>
                        </a:rPr>
                        <m:t>𝔼</m:t>
                      </m:r>
                      <m:d>
                        <m:dPr>
                          <m:begChr m:val="["/>
                          <m:endChr m:val="]"/>
                          <m:ctrlPr>
                            <a:rPr lang="en-US" altLang="zh-CN" i="1">
                              <a:solidFill>
                                <a:srgbClr val="000000"/>
                              </a:solidFill>
                              <a:latin typeface="Cambria Math" panose="02040503050406030204" charset="0"/>
                              <a:ea typeface="CMR10"/>
                              <a:cs typeface="Cambria Math" panose="02040503050406030204" charset="0"/>
                            </a:rPr>
                          </m:ctrlPr>
                        </m:dPr>
                        <m:e>
                          <m:nary>
                            <m:naryPr>
                              <m:chr m:val="∑"/>
                              <m:limLoc m:val="undOvr"/>
                              <m:ctrlPr>
                                <a:rPr lang="en-US" altLang="zh-CN" i="1">
                                  <a:solidFill>
                                    <a:srgbClr val="000000"/>
                                  </a:solidFill>
                                  <a:latin typeface="Cambria Math" panose="02040503050406030204" charset="0"/>
                                  <a:ea typeface="CMR10"/>
                                  <a:cs typeface="Cambria Math" panose="02040503050406030204" charset="0"/>
                                </a:rPr>
                              </m:ctrlPr>
                            </m:naryPr>
                            <m:sub>
                              <m:r>
                                <a:rPr lang="en-US" altLang="zh-CN" i="1">
                                  <a:solidFill>
                                    <a:srgbClr val="000000"/>
                                  </a:solidFill>
                                  <a:latin typeface="Cambria Math" panose="02040503050406030204" charset="0"/>
                                  <a:ea typeface="CMR10"/>
                                  <a:cs typeface="Cambria Math" panose="02040503050406030204" charset="0"/>
                                </a:rPr>
                                <m:t>𝑘</m:t>
                              </m:r>
                              <m:r>
                                <a:rPr lang="en-US" altLang="zh-CN" i="1">
                                  <a:solidFill>
                                    <a:srgbClr val="000000"/>
                                  </a:solidFill>
                                  <a:latin typeface="Cambria Math" panose="02040503050406030204" charset="0"/>
                                  <a:ea typeface="CMR10"/>
                                  <a:cs typeface="Cambria Math" panose="02040503050406030204" charset="0"/>
                                </a:rPr>
                                <m:t>=</m:t>
                              </m:r>
                              <m:r>
                                <a:rPr lang="en-US" altLang="zh-CN" i="1">
                                  <a:solidFill>
                                    <a:srgbClr val="000000"/>
                                  </a:solidFill>
                                  <a:latin typeface="Cambria Math" panose="02040503050406030204" charset="0"/>
                                  <a:ea typeface="CMR10"/>
                                  <a:cs typeface="Cambria Math" panose="02040503050406030204" charset="0"/>
                                </a:rPr>
                                <m:t>0</m:t>
                              </m:r>
                            </m:sub>
                            <m:sup>
                              <m:r>
                                <a:rPr lang="en-US" altLang="zh-CN" i="1">
                                  <a:solidFill>
                                    <a:srgbClr val="000000"/>
                                  </a:solidFill>
                                  <a:latin typeface="Cambria Math" panose="02040503050406030204" charset="0"/>
                                  <a:ea typeface="CMR10"/>
                                  <a:cs typeface="Cambria Math" panose="02040503050406030204" charset="0"/>
                                </a:rPr>
                                <m:t>∞</m:t>
                              </m:r>
                            </m:sup>
                            <m:e>
                              <m:sSup>
                                <m:sSupPr>
                                  <m:ctrlPr>
                                    <a:rPr lang="en-US" altLang="zh-CN" i="1">
                                      <a:solidFill>
                                        <a:srgbClr val="000000"/>
                                      </a:solidFill>
                                      <a:latin typeface="Cambria Math" panose="02040503050406030204" charset="0"/>
                                      <a:ea typeface="CMR10"/>
                                      <a:cs typeface="Cambria Math" panose="02040503050406030204" charset="0"/>
                                    </a:rPr>
                                  </m:ctrlPr>
                                </m:sSupPr>
                                <m:e>
                                  <m:r>
                                    <a:rPr lang="en-US" altLang="zh-CN" i="1">
                                      <a:solidFill>
                                        <a:srgbClr val="000000"/>
                                      </a:solidFill>
                                      <a:latin typeface="Cambria Math" panose="02040503050406030204" charset="0"/>
                                      <a:ea typeface="CMR10"/>
                                      <a:cs typeface="Cambria Math" panose="02040503050406030204" charset="0"/>
                                    </a:rPr>
                                    <m:t>𝛾</m:t>
                                  </m:r>
                                </m:e>
                                <m:sup>
                                  <m:r>
                                    <a:rPr lang="en-US" altLang="zh-CN" i="1">
                                      <a:solidFill>
                                        <a:srgbClr val="000000"/>
                                      </a:solidFill>
                                      <a:latin typeface="Cambria Math" panose="02040503050406030204" charset="0"/>
                                      <a:ea typeface="CMR10"/>
                                      <a:cs typeface="Cambria Math" panose="02040503050406030204" charset="0"/>
                                    </a:rPr>
                                    <m:t>𝑘</m:t>
                                  </m:r>
                                </m:sup>
                              </m:sSup>
                              <m:r>
                                <a:rPr lang="en-US" altLang="zh-CN" i="1">
                                  <a:solidFill>
                                    <a:srgbClr val="000000"/>
                                  </a:solidFill>
                                  <a:latin typeface="Cambria Math" panose="02040503050406030204" charset="0"/>
                                  <a:ea typeface="CMR10"/>
                                  <a:cs typeface="Cambria Math" panose="02040503050406030204" charset="0"/>
                                </a:rPr>
                                <m:t>∙</m:t>
                              </m:r>
                              <m:sSubSup>
                                <m:sSubSupPr>
                                  <m:ctrlPr>
                                    <a:rPr lang="en-US" altLang="zh-CN" i="1">
                                      <a:solidFill>
                                        <a:srgbClr val="C00000"/>
                                      </a:solidFill>
                                      <a:latin typeface="Cambria Math" panose="02040503050406030204" charset="0"/>
                                      <a:ea typeface="CMR10"/>
                                      <a:cs typeface="Cambria Math" panose="02040503050406030204" charset="0"/>
                                    </a:rPr>
                                  </m:ctrlPr>
                                </m:sSubSupPr>
                                <m:e>
                                  <m:r>
                                    <a:rPr lang="en-US" altLang="zh-CN" i="1">
                                      <a:solidFill>
                                        <a:srgbClr val="C00000"/>
                                      </a:solidFill>
                                      <a:latin typeface="Cambria Math" panose="02040503050406030204" charset="0"/>
                                      <a:ea typeface="CMR10"/>
                                      <a:cs typeface="Cambria Math" panose="02040503050406030204" charset="0"/>
                                    </a:rPr>
                                    <m:t>𝑟𝑒</m:t>
                                  </m:r>
                                </m:e>
                                <m:sub>
                                  <m:r>
                                    <a:rPr lang="en-US" altLang="zh-CN" i="1">
                                      <a:solidFill>
                                        <a:srgbClr val="C00000"/>
                                      </a:solidFill>
                                      <a:latin typeface="Cambria Math" panose="02040503050406030204" charset="0"/>
                                      <a:ea typeface="CMR10"/>
                                      <a:cs typeface="Cambria Math" panose="02040503050406030204" charset="0"/>
                                    </a:rPr>
                                    <m:t>𝑡</m:t>
                                  </m:r>
                                  <m:r>
                                    <a:rPr lang="en-US" altLang="zh-CN" i="1">
                                      <a:solidFill>
                                        <a:srgbClr val="C00000"/>
                                      </a:solidFill>
                                      <a:latin typeface="Cambria Math" panose="02040503050406030204" charset="0"/>
                                      <a:ea typeface="CMR10"/>
                                      <a:cs typeface="Cambria Math" panose="02040503050406030204" charset="0"/>
                                    </a:rPr>
                                    <m:t>+</m:t>
                                  </m:r>
                                  <m:r>
                                    <a:rPr lang="en-US" altLang="zh-CN" i="1">
                                      <a:solidFill>
                                        <a:srgbClr val="C00000"/>
                                      </a:solidFill>
                                      <a:latin typeface="Cambria Math" panose="02040503050406030204" charset="0"/>
                                      <a:ea typeface="CMR10"/>
                                      <a:cs typeface="Cambria Math" panose="02040503050406030204" charset="0"/>
                                    </a:rPr>
                                    <m:t>𝑘</m:t>
                                  </m:r>
                                </m:sub>
                                <m:sup>
                                  <m:r>
                                    <a:rPr lang="en-US" altLang="zh-CN" i="1">
                                      <a:solidFill>
                                        <a:srgbClr val="C00000"/>
                                      </a:solidFill>
                                      <a:latin typeface="Cambria Math" panose="02040503050406030204" charset="0"/>
                                      <a:ea typeface="CMR10"/>
                                      <a:cs typeface="Cambria Math" panose="02040503050406030204" charset="0"/>
                                    </a:rPr>
                                    <m:t>(</m:t>
                                  </m:r>
                                  <m:r>
                                    <a:rPr lang="en-US" altLang="zh-CN" i="1">
                                      <a:solidFill>
                                        <a:srgbClr val="C00000"/>
                                      </a:solidFill>
                                      <a:latin typeface="Cambria Math" panose="02040503050406030204" charset="0"/>
                                      <a:ea typeface="CMR10"/>
                                      <a:cs typeface="Cambria Math" panose="02040503050406030204" charset="0"/>
                                    </a:rPr>
                                    <m:t>𝑖</m:t>
                                  </m:r>
                                  <m:r>
                                    <a:rPr lang="en-US" altLang="zh-CN" i="1">
                                      <a:solidFill>
                                        <a:srgbClr val="C00000"/>
                                      </a:solidFill>
                                      <a:latin typeface="Cambria Math" panose="02040503050406030204" charset="0"/>
                                      <a:ea typeface="CMR10"/>
                                      <a:cs typeface="Cambria Math" panose="02040503050406030204" charset="0"/>
                                    </a:rPr>
                                    <m:t>,</m:t>
                                  </m:r>
                                  <m:r>
                                    <a:rPr lang="en-US" altLang="zh-CN" i="1">
                                      <a:solidFill>
                                        <a:srgbClr val="C00000"/>
                                      </a:solidFill>
                                      <a:latin typeface="Cambria Math" panose="02040503050406030204" charset="0"/>
                                      <a:ea typeface="CMR10"/>
                                      <a:cs typeface="Cambria Math" panose="02040503050406030204" charset="0"/>
                                    </a:rPr>
                                    <m:t>𝑗</m:t>
                                  </m:r>
                                  <m:r>
                                    <a:rPr lang="en-US" altLang="zh-CN" i="1">
                                      <a:solidFill>
                                        <a:srgbClr val="C00000"/>
                                      </a:solidFill>
                                      <a:latin typeface="Cambria Math" panose="02040503050406030204" charset="0"/>
                                      <a:ea typeface="CMR10"/>
                                      <a:cs typeface="Cambria Math" panose="02040503050406030204" charset="0"/>
                                    </a:rPr>
                                    <m:t>)</m:t>
                                  </m:r>
                                </m:sup>
                              </m:sSubSup>
                            </m:e>
                          </m:nary>
                        </m:e>
                      </m:d>
                    </m:oMath>
                  </a14:m>
                  <a:r>
                    <a:rPr lang="en-US" altLang="zh-CN">
                      <a:solidFill>
                        <a:srgbClr val="000000"/>
                      </a:solidFill>
                      <a:latin typeface="Georgia" panose="02040502050405020303" charset="0"/>
                      <a:ea typeface="CMR10"/>
                      <a:cs typeface="Georgia" panose="02040502050405020303" charset="0"/>
                    </a:rPr>
                    <a:t> </a:t>
                  </a:r>
                  <a:endParaRPr lang="en-US" altLang="zh-CN">
                    <a:solidFill>
                      <a:srgbClr val="000000"/>
                    </a:solidFill>
                    <a:latin typeface="Georgia" panose="02040502050405020303" charset="0"/>
                    <a:ea typeface="CMR10"/>
                    <a:cs typeface="Georgia" panose="02040502050405020303"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938" y="3311"/>
                  <a:ext cx="16392" cy="1222"/>
                </a:xfrm>
                <a:prstGeom prst="rect">
                  <a:avLst/>
                </a:prstGeom>
                <a:blipFill rotWithShape="1">
                  <a:blip r:embed="rId2"/>
                </a:blipFill>
              </p:spPr>
              <p:txBody>
                <a:bodyPr/>
                <a:lstStyle/>
                <a:p>
                  <a:r>
                    <a:rPr lang="zh-CN" altLang="en-US">
                      <a:noFill/>
                    </a:rPr>
                    <a:t> </a:t>
                  </a:r>
                </a:p>
              </p:txBody>
            </p:sp>
          </mc:Fallback>
        </mc:AlternateContent>
        <p:grpSp>
          <p:nvGrpSpPr>
            <p:cNvPr id="30" name="组合 29"/>
            <p:cNvGrpSpPr/>
            <p:nvPr/>
          </p:nvGrpSpPr>
          <p:grpSpPr>
            <a:xfrm>
              <a:off x="3373" y="4699"/>
              <a:ext cx="12552" cy="1229"/>
              <a:chOff x="3373" y="4699"/>
              <a:chExt cx="12552" cy="1229"/>
            </a:xfrm>
          </p:grpSpPr>
          <p:cxnSp>
            <p:nvCxnSpPr>
              <p:cNvPr id="20" name="直接连接符 19"/>
              <p:cNvCxnSpPr/>
              <p:nvPr/>
            </p:nvCxnSpPr>
            <p:spPr>
              <a:xfrm>
                <a:off x="7099" y="5240"/>
                <a:ext cx="954"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6319" y="5284"/>
                <a:ext cx="2539" cy="644"/>
              </a:xfrm>
              <a:prstGeom prst="rect">
                <a:avLst/>
              </a:prstGeom>
              <a:noFill/>
            </p:spPr>
            <p:txBody>
              <a:bodyPr wrap="square" rtlCol="0">
                <a:spAutoFit/>
              </a:bodyPr>
              <a:lstStyle/>
              <a:p>
                <a:pPr indent="0" algn="ctr" fontAlgn="auto">
                  <a:lnSpc>
                    <a:spcPts val="1240"/>
                  </a:lnSpc>
                </a:pPr>
                <a:r>
                  <a:rPr lang="en-US" altLang="zh-CN" sz="1400">
                    <a:solidFill>
                      <a:srgbClr val="0070C0"/>
                    </a:solidFill>
                    <a:cs typeface="+mn-lt"/>
                  </a:rPr>
                  <a:t>replenishment return</a:t>
                </a:r>
                <a:endParaRPr lang="en-US" altLang="zh-CN" sz="1400">
                  <a:solidFill>
                    <a:srgbClr val="0070C0"/>
                  </a:solidFill>
                  <a:cs typeface="+mn-lt"/>
                </a:endParaRPr>
              </a:p>
            </p:txBody>
          </p:sp>
          <p:cxnSp>
            <p:nvCxnSpPr>
              <p:cNvPr id="7" name="直接连接符 6"/>
              <p:cNvCxnSpPr/>
              <p:nvPr/>
            </p:nvCxnSpPr>
            <p:spPr>
              <a:xfrm>
                <a:off x="11784" y="5240"/>
                <a:ext cx="1250" cy="0"/>
              </a:xfrm>
              <a:prstGeom prst="line">
                <a:avLst/>
              </a:prstGeom>
              <a:ln w="19050">
                <a:solidFill>
                  <a:schemeClr val="accent3"/>
                </a:solidFill>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1140" y="5284"/>
                <a:ext cx="2539" cy="644"/>
              </a:xfrm>
              <a:prstGeom prst="rect">
                <a:avLst/>
              </a:prstGeom>
              <a:noFill/>
            </p:spPr>
            <p:txBody>
              <a:bodyPr wrap="square" rtlCol="0">
                <a:spAutoFit/>
              </a:bodyPr>
              <a:lstStyle/>
              <a:p>
                <a:pPr indent="0" algn="ctr" fontAlgn="auto">
                  <a:lnSpc>
                    <a:spcPts val="1240"/>
                  </a:lnSpc>
                </a:pPr>
                <a:r>
                  <a:rPr lang="en-US" altLang="zh-CN" sz="1400">
                    <a:solidFill>
                      <a:schemeClr val="accent3">
                        <a:lumMod val="75000"/>
                      </a:schemeClr>
                    </a:solidFill>
                    <a:cs typeface="+mn-lt"/>
                  </a:rPr>
                  <a:t>transshipment return</a:t>
                </a:r>
                <a:endParaRPr lang="en-US" altLang="zh-CN" sz="1400">
                  <a:solidFill>
                    <a:schemeClr val="accent3">
                      <a:lumMod val="75000"/>
                    </a:schemeClr>
                  </a:solidFill>
                  <a:cs typeface="+mn-lt"/>
                </a:endParaRPr>
              </a:p>
            </p:txBody>
          </p:sp>
          <p:cxnSp>
            <p:nvCxnSpPr>
              <p:cNvPr id="9" name="直接连接符 8"/>
              <p:cNvCxnSpPr/>
              <p:nvPr/>
            </p:nvCxnSpPr>
            <p:spPr>
              <a:xfrm>
                <a:off x="8921" y="5240"/>
                <a:ext cx="1576" cy="0"/>
              </a:xfrm>
              <a:prstGeom prst="line">
                <a:avLst/>
              </a:prstGeom>
              <a:ln w="19050"/>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8471" y="5284"/>
                <a:ext cx="2539" cy="644"/>
              </a:xfrm>
              <a:prstGeom prst="rect">
                <a:avLst/>
              </a:prstGeom>
              <a:noFill/>
            </p:spPr>
            <p:txBody>
              <a:bodyPr wrap="square" rtlCol="0">
                <a:spAutoFit/>
              </a:bodyPr>
              <a:lstStyle/>
              <a:p>
                <a:pPr indent="0" algn="ctr" fontAlgn="auto">
                  <a:lnSpc>
                    <a:spcPts val="1240"/>
                  </a:lnSpc>
                </a:pPr>
                <a:r>
                  <a:rPr lang="en-US" altLang="zh-CN" sz="1400">
                    <a:solidFill>
                      <a:srgbClr val="0070C0"/>
                    </a:solidFill>
                    <a:cs typeface="+mn-lt"/>
                  </a:rPr>
                  <a:t>replenishment policy entropy</a:t>
                </a:r>
                <a:endParaRPr lang="en-US" altLang="zh-CN" sz="1400">
                  <a:solidFill>
                    <a:srgbClr val="0070C0"/>
                  </a:solidFill>
                  <a:cs typeface="+mn-lt"/>
                </a:endParaRPr>
              </a:p>
            </p:txBody>
          </p:sp>
          <p:sp>
            <p:nvSpPr>
              <p:cNvPr id="11" name="文本框 10"/>
              <p:cNvSpPr txBox="1"/>
              <p:nvPr/>
            </p:nvSpPr>
            <p:spPr>
              <a:xfrm>
                <a:off x="13387" y="5284"/>
                <a:ext cx="2539" cy="644"/>
              </a:xfrm>
              <a:prstGeom prst="rect">
                <a:avLst/>
              </a:prstGeom>
              <a:noFill/>
            </p:spPr>
            <p:txBody>
              <a:bodyPr wrap="square" rtlCol="0">
                <a:spAutoFit/>
              </a:bodyPr>
              <a:lstStyle/>
              <a:p>
                <a:pPr indent="0" algn="ctr" fontAlgn="auto">
                  <a:lnSpc>
                    <a:spcPts val="1240"/>
                  </a:lnSpc>
                </a:pPr>
                <a:r>
                  <a:rPr lang="en-US" altLang="zh-CN" sz="1400">
                    <a:solidFill>
                      <a:schemeClr val="accent3">
                        <a:lumMod val="75000"/>
                      </a:schemeClr>
                    </a:solidFill>
                    <a:cs typeface="+mn-lt"/>
                    <a:sym typeface="+mn-ea"/>
                  </a:rPr>
                  <a:t>transshipment </a:t>
                </a:r>
                <a:r>
                  <a:rPr lang="en-US" altLang="zh-CN" sz="1400">
                    <a:solidFill>
                      <a:schemeClr val="accent3">
                        <a:lumMod val="75000"/>
                      </a:schemeClr>
                    </a:solidFill>
                    <a:cs typeface="+mn-lt"/>
                  </a:rPr>
                  <a:t>policy entropy</a:t>
                </a:r>
                <a:endParaRPr lang="en-US" altLang="zh-CN" sz="1400">
                  <a:solidFill>
                    <a:schemeClr val="accent3">
                      <a:lumMod val="75000"/>
                    </a:schemeClr>
                  </a:solidFill>
                  <a:cs typeface="+mn-lt"/>
                </a:endParaRPr>
              </a:p>
            </p:txBody>
          </p:sp>
          <p:cxnSp>
            <p:nvCxnSpPr>
              <p:cNvPr id="12" name="直接连接符 11"/>
              <p:cNvCxnSpPr/>
              <p:nvPr/>
            </p:nvCxnSpPr>
            <p:spPr>
              <a:xfrm>
                <a:off x="13942" y="5240"/>
                <a:ext cx="1476" cy="0"/>
              </a:xfrm>
              <a:prstGeom prst="line">
                <a:avLst/>
              </a:prstGeom>
              <a:ln w="19050">
                <a:solidFill>
                  <a:schemeClr val="accent3"/>
                </a:solidFill>
              </a:ln>
            </p:spPr>
            <p:style>
              <a:lnRef idx="2">
                <a:schemeClr val="accent1"/>
              </a:lnRef>
              <a:fillRef idx="0">
                <a:srgbClr val="FFFFFF"/>
              </a:fillRef>
              <a:effectRef idx="0">
                <a:srgbClr val="FFFFFF"/>
              </a:effectRef>
              <a:fontRef idx="minor">
                <a:schemeClr val="tx1"/>
              </a:fontRef>
            </p:style>
          </p:cxnSp>
          <p:pic>
            <p:nvPicPr>
              <p:cNvPr id="28" name="图片 27"/>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373" y="4699"/>
                <a:ext cx="12306" cy="665"/>
              </a:xfrm>
              <a:prstGeom prst="rect">
                <a:avLst/>
              </a:prstGeom>
            </p:spPr>
          </p:pic>
        </p:grpSp>
      </p:grpSp>
      <p:grpSp>
        <p:nvGrpSpPr>
          <p:cNvPr id="16" name="组合 15"/>
          <p:cNvGrpSpPr/>
          <p:nvPr/>
        </p:nvGrpSpPr>
        <p:grpSpPr>
          <a:xfrm>
            <a:off x="633730" y="3810635"/>
            <a:ext cx="11031220" cy="1647825"/>
            <a:chOff x="998" y="6001"/>
            <a:chExt cx="17372" cy="2595"/>
          </a:xfrm>
        </p:grpSpPr>
        <p:sp>
          <p:nvSpPr>
            <p:cNvPr id="13" name="文本框 12"/>
            <p:cNvSpPr txBox="1"/>
            <p:nvPr/>
          </p:nvSpPr>
          <p:spPr>
            <a:xfrm>
              <a:off x="998" y="6001"/>
              <a:ext cx="17372" cy="1234"/>
            </a:xfrm>
            <a:prstGeom prst="rect">
              <a:avLst/>
            </a:prstGeom>
          </p:spPr>
          <p:txBody>
            <a:bodyPr wrap="square">
              <a:spAutoFit/>
            </a:bodyPr>
            <a:lstStyle/>
            <a:p>
              <a:pPr marL="285750" indent="-285750" fontAlgn="auto">
                <a:lnSpc>
                  <a:spcPct val="125000"/>
                </a:lnSpc>
                <a:buFont typeface="Arial" panose="020B0604020202020204" pitchFamily="34" charset="0"/>
                <a:buChar char="•"/>
              </a:pPr>
              <a:r>
                <a:rPr lang="en-US" altLang="zh-CN" b="1">
                  <a:solidFill>
                    <a:srgbClr val="000000"/>
                  </a:solidFill>
                  <a:latin typeface="Georgia" panose="02040502050405020303" charset="0"/>
                  <a:ea typeface="CMR10"/>
                  <a:cs typeface="Georgia" panose="02040502050405020303" charset="0"/>
                </a:rPr>
                <a:t>Centralized Graph Generator:</a:t>
              </a:r>
              <a:r>
                <a:rPr lang="en-US" altLang="zh-CN">
                  <a:solidFill>
                    <a:srgbClr val="000000"/>
                  </a:solidFill>
                  <a:latin typeface="Georgia" panose="02040502050405020303" charset="0"/>
                  <a:ea typeface="CMR10"/>
                  <a:cs typeface="Georgia" panose="02040502050405020303" charset="0"/>
                </a:rPr>
                <a:t> Maximize its decision effectiveness while considering the two g</a:t>
              </a:r>
              <a:r>
                <a:rPr lang="en-US" altLang="zh-CN">
                  <a:solidFill>
                    <a:srgbClr val="000000"/>
                  </a:solidFill>
                  <a:latin typeface="Georgia" panose="02040502050405020303" charset="0"/>
                  <a:ea typeface="CMBX12"/>
                  <a:cs typeface="Georgia" panose="02040502050405020303" charset="0"/>
                  <a:sym typeface="+mn-ea"/>
                </a:rPr>
                <a:t>raph-theoretic loss functions.</a:t>
              </a:r>
              <a:endParaRPr lang="en-US" altLang="zh-CN">
                <a:solidFill>
                  <a:srgbClr val="000000"/>
                </a:solidFill>
                <a:latin typeface="Georgia" panose="02040502050405020303" charset="0"/>
                <a:ea typeface="CMBX12"/>
                <a:cs typeface="Georgia" panose="02040502050405020303" charset="0"/>
                <a:sym typeface="+mn-ea"/>
              </a:endParaRPr>
            </a:p>
          </p:txBody>
        </p:sp>
        <p:grpSp>
          <p:nvGrpSpPr>
            <p:cNvPr id="15" name="组合 14"/>
            <p:cNvGrpSpPr/>
            <p:nvPr/>
          </p:nvGrpSpPr>
          <p:grpSpPr>
            <a:xfrm>
              <a:off x="4284" y="7294"/>
              <a:ext cx="10508" cy="1302"/>
              <a:chOff x="4284" y="7294"/>
              <a:chExt cx="10508" cy="1302"/>
            </a:xfrm>
          </p:grpSpPr>
          <p:cxnSp>
            <p:nvCxnSpPr>
              <p:cNvPr id="17" name="直接连接符 16"/>
              <p:cNvCxnSpPr/>
              <p:nvPr/>
            </p:nvCxnSpPr>
            <p:spPr>
              <a:xfrm>
                <a:off x="7955" y="7908"/>
                <a:ext cx="1250" cy="0"/>
              </a:xfrm>
              <a:prstGeom prst="line">
                <a:avLst/>
              </a:prstGeom>
              <a:solidFill>
                <a:srgbClr val="7030A0"/>
              </a:solidFill>
              <a:ln w="19050">
                <a:solidFill>
                  <a:schemeClr val="accent3"/>
                </a:solidFill>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7311" y="7952"/>
                <a:ext cx="2539" cy="644"/>
              </a:xfrm>
              <a:prstGeom prst="rect">
                <a:avLst/>
              </a:prstGeom>
              <a:noFill/>
              <a:ln>
                <a:noFill/>
              </a:ln>
              <a:extLst>
                <a:ext uri="{909E8E84-426E-40DD-AFC4-6F175D3DCCD1}">
                  <a14:hiddenFill xmlns:a14="http://schemas.microsoft.com/office/drawing/2010/main">
                    <a:solidFill>
                      <a:srgbClr val="7030A0"/>
                    </a:solidFill>
                  </a14:hiddenFill>
                </a:ext>
              </a:extLst>
            </p:spPr>
            <p:txBody>
              <a:bodyPr wrap="square" rtlCol="0">
                <a:spAutoFit/>
              </a:bodyPr>
              <a:lstStyle/>
              <a:p>
                <a:pPr indent="0" algn="ctr" fontAlgn="auto">
                  <a:lnSpc>
                    <a:spcPts val="1240"/>
                  </a:lnSpc>
                </a:pPr>
                <a:r>
                  <a:rPr lang="en-US" altLang="zh-CN" sz="1400">
                    <a:solidFill>
                      <a:schemeClr val="accent3">
                        <a:lumMod val="75000"/>
                      </a:schemeClr>
                    </a:solidFill>
                    <a:cs typeface="+mn-lt"/>
                  </a:rPr>
                  <a:t>transshipment return</a:t>
                </a:r>
                <a:endParaRPr lang="en-US" altLang="zh-CN" sz="1400">
                  <a:solidFill>
                    <a:schemeClr val="accent3">
                      <a:lumMod val="75000"/>
                    </a:schemeClr>
                  </a:solidFill>
                  <a:cs typeface="+mn-lt"/>
                </a:endParaRPr>
              </a:p>
            </p:txBody>
          </p:sp>
          <p:cxnSp>
            <p:nvCxnSpPr>
              <p:cNvPr id="19" name="直接连接符 18"/>
              <p:cNvCxnSpPr/>
              <p:nvPr/>
            </p:nvCxnSpPr>
            <p:spPr>
              <a:xfrm>
                <a:off x="10494" y="7908"/>
                <a:ext cx="1250" cy="0"/>
              </a:xfrm>
              <a:prstGeom prst="line">
                <a:avLst/>
              </a:prstGeom>
              <a:solidFill>
                <a:srgbClr val="7030A0"/>
              </a:solidFill>
              <a:ln w="19050">
                <a:solidFill>
                  <a:schemeClr val="accent4"/>
                </a:solidFill>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10185" y="7952"/>
                <a:ext cx="1896" cy="644"/>
              </a:xfrm>
              <a:prstGeom prst="rect">
                <a:avLst/>
              </a:prstGeom>
              <a:noFill/>
              <a:ln>
                <a:noFill/>
              </a:ln>
              <a:extLst>
                <a:ext uri="{909E8E84-426E-40DD-AFC4-6F175D3DCCD1}">
                  <a14:hiddenFill xmlns:a14="http://schemas.microsoft.com/office/drawing/2010/main">
                    <a:solidFill>
                      <a:srgbClr val="7030A0"/>
                    </a:solidFill>
                  </a14:hiddenFill>
                </a:ext>
              </a:extLst>
            </p:spPr>
            <p:txBody>
              <a:bodyPr wrap="square" rtlCol="0">
                <a:spAutoFit/>
              </a:bodyPr>
              <a:lstStyle/>
              <a:p>
                <a:pPr indent="0" algn="ctr" fontAlgn="auto">
                  <a:lnSpc>
                    <a:spcPts val="1240"/>
                  </a:lnSpc>
                </a:pPr>
                <a:r>
                  <a:rPr lang="en-US" altLang="zh-CN" sz="1400">
                    <a:solidFill>
                      <a:srgbClr val="7030A0"/>
                    </a:solidFill>
                    <a:cs typeface="+mn-lt"/>
                  </a:rPr>
                  <a:t>DAGness loss</a:t>
                </a:r>
                <a:endParaRPr lang="en-US" altLang="zh-CN" sz="1400">
                  <a:solidFill>
                    <a:srgbClr val="7030A0"/>
                  </a:solidFill>
                  <a:cs typeface="+mn-lt"/>
                </a:endParaRPr>
              </a:p>
            </p:txBody>
          </p:sp>
          <p:cxnSp>
            <p:nvCxnSpPr>
              <p:cNvPr id="23" name="直接连接符 22"/>
              <p:cNvCxnSpPr/>
              <p:nvPr/>
            </p:nvCxnSpPr>
            <p:spPr>
              <a:xfrm>
                <a:off x="12253" y="7908"/>
                <a:ext cx="2251" cy="0"/>
              </a:xfrm>
              <a:prstGeom prst="line">
                <a:avLst/>
              </a:prstGeom>
              <a:solidFill>
                <a:srgbClr val="7030A0"/>
              </a:solidFill>
              <a:ln w="19050">
                <a:solidFill>
                  <a:schemeClr val="accent4"/>
                </a:solidFill>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12454" y="7952"/>
                <a:ext cx="1896" cy="644"/>
              </a:xfrm>
              <a:prstGeom prst="rect">
                <a:avLst/>
              </a:prstGeom>
              <a:noFill/>
              <a:ln>
                <a:noFill/>
              </a:ln>
              <a:extLst>
                <a:ext uri="{909E8E84-426E-40DD-AFC4-6F175D3DCCD1}">
                  <a14:hiddenFill xmlns:a14="http://schemas.microsoft.com/office/drawing/2010/main">
                    <a:solidFill>
                      <a:srgbClr val="7030A0"/>
                    </a:solidFill>
                  </a14:hiddenFill>
                </a:ext>
              </a:extLst>
            </p:spPr>
            <p:txBody>
              <a:bodyPr wrap="square" rtlCol="0">
                <a:spAutoFit/>
              </a:bodyPr>
              <a:lstStyle/>
              <a:p>
                <a:pPr indent="0" algn="ctr" fontAlgn="auto">
                  <a:lnSpc>
                    <a:spcPts val="1240"/>
                  </a:lnSpc>
                </a:pPr>
                <a:r>
                  <a:rPr lang="en-US" altLang="zh-CN" sz="1400">
                    <a:solidFill>
                      <a:srgbClr val="7030A0"/>
                    </a:solidFill>
                    <a:cs typeface="+mn-lt"/>
                  </a:rPr>
                  <a:t>DAG depth loss</a:t>
                </a:r>
                <a:endParaRPr lang="en-US" altLang="zh-CN" sz="1400">
                  <a:solidFill>
                    <a:srgbClr val="7030A0"/>
                  </a:solidFill>
                  <a:cs typeface="+mn-lt"/>
                </a:endParaRPr>
              </a:p>
            </p:txBody>
          </p:sp>
          <p:pic>
            <p:nvPicPr>
              <p:cNvPr id="5" name="图片 4"/>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284" y="7294"/>
                <a:ext cx="10508" cy="840"/>
              </a:xfrm>
              <a:prstGeom prst="rect">
                <a:avLst/>
              </a:prstGeom>
            </p:spPr>
          </p:pic>
        </p:grpSp>
      </p:grpSp>
    </p:spTree>
    <p:custDataLst>
      <p:tags r:id="rId5"/>
    </p:custDataLst>
  </p:cSld>
  <p:clrMapOvr>
    <a:masterClrMapping/>
  </p:clrMapOvr>
  <mc:AlternateContent xmlns:mc="http://schemas.openxmlformats.org/markup-compatibility/2006">
    <mc:Choice xmlns:p14="http://schemas.microsoft.com/office/powerpoint/2010/main" Requires="p14">
      <p:transition p14:dur="250" advTm="59527">
        <p:wipe dir="d"/>
      </p:transition>
    </mc:Choice>
    <mc:Fallback>
      <p:transition advTm="59527">
        <p:wipe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56970" y="222885"/>
            <a:ext cx="4240530" cy="583565"/>
          </a:xfrm>
          <a:prstGeom prst="rect">
            <a:avLst/>
          </a:prstGeom>
          <a:noFill/>
        </p:spPr>
        <p:txBody>
          <a:bodyPr wrap="square" rtlCol="0">
            <a:spAutoFit/>
          </a:bodyPr>
          <a:lstStyle/>
          <a:p>
            <a:r>
              <a:rPr lang="en-US" altLang="zh-CN" sz="3200" b="1" dirty="0">
                <a:latin typeface="+mj-lt"/>
              </a:rPr>
              <a:t>Pseudocode</a:t>
            </a:r>
            <a:endParaRPr lang="en-US" altLang="zh-CN" sz="3200" b="1" dirty="0">
              <a:latin typeface="+mj-lt"/>
            </a:endParaRPr>
          </a:p>
        </p:txBody>
      </p:sp>
      <p:pic>
        <p:nvPicPr>
          <p:cNvPr id="3" name="图片 2"/>
          <p:cNvPicPr>
            <a:picLocks noChangeAspect="1"/>
          </p:cNvPicPr>
          <p:nvPr/>
        </p:nvPicPr>
        <p:blipFill>
          <a:blip r:embed="rId1"/>
          <a:stretch>
            <a:fillRect/>
          </a:stretch>
        </p:blipFill>
        <p:spPr>
          <a:xfrm>
            <a:off x="312420" y="1889125"/>
            <a:ext cx="5577840" cy="4146550"/>
          </a:xfrm>
          <a:prstGeom prst="rect">
            <a:avLst/>
          </a:prstGeom>
        </p:spPr>
      </p:pic>
      <p:pic>
        <p:nvPicPr>
          <p:cNvPr id="4" name="图片 3"/>
          <p:cNvPicPr>
            <a:picLocks noChangeAspect="1"/>
          </p:cNvPicPr>
          <p:nvPr/>
        </p:nvPicPr>
        <p:blipFill>
          <a:blip r:embed="rId2"/>
          <a:srcRect b="960"/>
          <a:stretch>
            <a:fillRect/>
          </a:stretch>
        </p:blipFill>
        <p:spPr>
          <a:xfrm>
            <a:off x="6142990" y="1672590"/>
            <a:ext cx="5867400" cy="4339590"/>
          </a:xfrm>
          <a:prstGeom prst="rect">
            <a:avLst/>
          </a:prstGeom>
        </p:spPr>
      </p:pic>
      <p:sp>
        <p:nvSpPr>
          <p:cNvPr id="5" name="文本框 4"/>
          <p:cNvSpPr txBox="1"/>
          <p:nvPr/>
        </p:nvSpPr>
        <p:spPr>
          <a:xfrm>
            <a:off x="585470" y="959485"/>
            <a:ext cx="10648950" cy="783590"/>
          </a:xfrm>
          <a:prstGeom prst="rect">
            <a:avLst/>
          </a:prstGeom>
          <a:noFill/>
        </p:spPr>
        <p:txBody>
          <a:bodyPr wrap="square" rtlCol="0">
            <a:spAutoFit/>
          </a:bodyPr>
          <a:lstStyle/>
          <a:p>
            <a:pPr marL="285750" indent="-285750" algn="just">
              <a:lnSpc>
                <a:spcPct val="125000"/>
              </a:lnSpc>
              <a:spcBef>
                <a:spcPts val="0"/>
              </a:spcBef>
              <a:spcAft>
                <a:spcPts val="0"/>
              </a:spcAft>
              <a:buFont typeface="Arial" panose="020B0604020202020204" pitchFamily="34" charset="0"/>
              <a:buChar char="•"/>
            </a:pPr>
            <a:r>
              <a:rPr lang="en-US" altLang="zh-CN">
                <a:latin typeface="Georgia" panose="02040502050405020303" charset="0"/>
                <a:cs typeface="Georgia" panose="02040502050405020303" charset="0"/>
              </a:rPr>
              <a:t>The complete interaction and update procedures of </a:t>
            </a:r>
            <a:r>
              <a:rPr lang="en-US" altLang="zh-CN" i="1">
                <a:latin typeface="Georgia" panose="02040502050405020303" charset="0"/>
                <a:cs typeface="Georgia" panose="02040502050405020303" charset="0"/>
              </a:rPr>
              <a:t>TransG</a:t>
            </a:r>
            <a:r>
              <a:rPr lang="en-US" altLang="zh-CN">
                <a:latin typeface="Georgia" panose="02040502050405020303" charset="0"/>
                <a:cs typeface="Georgia" panose="02040502050405020303" charset="0"/>
              </a:rPr>
              <a:t> in Algorithm 1, in which the procedure of action generation in Algorithm 2 is needed.</a:t>
            </a:r>
            <a:endParaRPr lang="en-US" altLang="zh-CN">
              <a:latin typeface="Georgia" panose="02040502050405020303" charset="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3393">
        <p:wipe dir="d"/>
      </p:transition>
    </mc:Choice>
    <mc:Fallback>
      <p:transition advTm="3393">
        <p:wipe dir="d"/>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39825" y="222885"/>
            <a:ext cx="5106035" cy="583565"/>
          </a:xfrm>
          <a:prstGeom prst="rect">
            <a:avLst/>
          </a:prstGeom>
          <a:noFill/>
        </p:spPr>
        <p:txBody>
          <a:bodyPr wrap="square" rtlCol="0">
            <a:spAutoFit/>
          </a:bodyPr>
          <a:lstStyle/>
          <a:p>
            <a:r>
              <a:rPr lang="en-US" altLang="zh-CN" sz="3200" b="1" dirty="0">
                <a:latin typeface="+mj-lt"/>
              </a:rPr>
              <a:t>Experimental Setup</a:t>
            </a:r>
            <a:endParaRPr lang="zh-CN" altLang="en-US" sz="3200" b="1" dirty="0">
              <a:latin typeface="+mj-lt"/>
            </a:endParaRPr>
          </a:p>
        </p:txBody>
      </p:sp>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 name="文本框 1"/>
          <p:cNvSpPr txBox="1"/>
          <p:nvPr/>
        </p:nvSpPr>
        <p:spPr>
          <a:xfrm>
            <a:off x="629285" y="1287780"/>
            <a:ext cx="6054090" cy="2901950"/>
          </a:xfrm>
          <a:prstGeom prst="rect">
            <a:avLst/>
          </a:prstGeom>
          <a:noFill/>
        </p:spPr>
        <p:txBody>
          <a:bodyPr wrap="square" rtlCol="0">
            <a:spAutoFit/>
          </a:bodyPr>
          <a:lstStyle/>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rPr>
              <a:t>Poisson</a:t>
            </a:r>
            <a:r>
              <a:rPr lang="en-US" altLang="zh-CN">
                <a:latin typeface="Georgia" panose="02040502050405020303" charset="0"/>
                <a:cs typeface="Georgia" panose="02040502050405020303" charset="0"/>
              </a:rPr>
              <a:t>: stationary demands sampled from Poisson distributions;</a:t>
            </a:r>
            <a:endParaRPr lang="en-US" altLang="zh-CN">
              <a:latin typeface="Georgia" panose="02040502050405020303" charset="0"/>
              <a:cs typeface="Georgia" panose="02040502050405020303" charset="0"/>
            </a:endParaRPr>
          </a:p>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rPr>
              <a:t>Merton Jump Diffusion (MJD):</a:t>
            </a:r>
            <a:r>
              <a:rPr lang="en-US" altLang="zh-CN">
                <a:latin typeface="Georgia" panose="02040502050405020303" charset="0"/>
                <a:cs typeface="Georgia" panose="02040502050405020303" charset="0"/>
              </a:rPr>
              <a:t> non-stationary demands generated by Merton jump diffusion model;</a:t>
            </a:r>
            <a:endParaRPr lang="en-US" altLang="zh-CN">
              <a:latin typeface="Georgia" panose="02040502050405020303" charset="0"/>
              <a:cs typeface="Georgia" panose="02040502050405020303" charset="0"/>
            </a:endParaRPr>
          </a:p>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rPr>
              <a:t>Beverage:</a:t>
            </a:r>
            <a:r>
              <a:rPr lang="en-US" altLang="zh-CN">
                <a:latin typeface="Georgia" panose="02040502050405020303" charset="0"/>
                <a:cs typeface="Georgia" panose="02040502050405020303" charset="0"/>
              </a:rPr>
              <a:t> a real-world supply chain and sales data of a beverage supplier with highly uncertainty demand;</a:t>
            </a:r>
            <a:endParaRPr lang="en-US" altLang="zh-CN">
              <a:latin typeface="Georgia" panose="02040502050405020303" charset="0"/>
              <a:cs typeface="Georgia" panose="02040502050405020303" charset="0"/>
            </a:endParaRPr>
          </a:p>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rPr>
              <a:t>UnderHub:</a:t>
            </a:r>
            <a:r>
              <a:rPr lang="en-US" altLang="zh-CN">
                <a:latin typeface="Georgia" panose="02040502050405020303" charset="0"/>
                <a:cs typeface="Georgia" panose="02040502050405020303" charset="0"/>
              </a:rPr>
              <a:t> a real-word </a:t>
            </a:r>
            <a:r>
              <a:rPr lang="en-US" altLang="zh-CN">
                <a:latin typeface="Georgia" panose="02040502050405020303" charset="0"/>
                <a:cs typeface="Georgia" panose="02040502050405020303" charset="0"/>
                <a:sym typeface="+mn-ea"/>
              </a:rPr>
              <a:t>sales data of a </a:t>
            </a:r>
            <a:r>
              <a:rPr lang="en-US" altLang="zh-CN">
                <a:latin typeface="Georgia" panose="02040502050405020303" charset="0"/>
                <a:cs typeface="Georgia" panose="02040502050405020303" charset="0"/>
              </a:rPr>
              <a:t>well-known Chinese underwear retail brand with sparse demand.</a:t>
            </a:r>
            <a:endParaRPr lang="en-US" altLang="zh-CN">
              <a:latin typeface="Georgia" panose="02040502050405020303" charset="0"/>
              <a:cs typeface="Georgia" panose="02040502050405020303" charset="0"/>
            </a:endParaRPr>
          </a:p>
        </p:txBody>
      </p:sp>
      <p:pic>
        <p:nvPicPr>
          <p:cNvPr id="5" name="图片 4" descr="output"/>
          <p:cNvPicPr>
            <a:picLocks noChangeAspect="1"/>
          </p:cNvPicPr>
          <p:nvPr/>
        </p:nvPicPr>
        <p:blipFill>
          <a:blip r:embed="rId1"/>
          <a:stretch>
            <a:fillRect/>
          </a:stretch>
        </p:blipFill>
        <p:spPr>
          <a:xfrm>
            <a:off x="6834505" y="1095375"/>
            <a:ext cx="4493260" cy="5248275"/>
          </a:xfrm>
          <a:prstGeom prst="rect">
            <a:avLst/>
          </a:prstGeom>
        </p:spPr>
      </p:pic>
      <p:sp>
        <p:nvSpPr>
          <p:cNvPr id="7" name="文本框 6"/>
          <p:cNvSpPr txBox="1"/>
          <p:nvPr/>
        </p:nvSpPr>
        <p:spPr>
          <a:xfrm>
            <a:off x="629285" y="85471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Dataset</a:t>
            </a:r>
            <a:endParaRPr lang="en-US" altLang="zh-CN" sz="2000" b="1">
              <a:solidFill>
                <a:srgbClr val="000000"/>
              </a:solidFill>
              <a:latin typeface="Georgia" panose="02040502050405020303" charset="0"/>
              <a:ea typeface="CMR10"/>
              <a:cs typeface="Georgia" panose="02040502050405020303" charset="0"/>
            </a:endParaRPr>
          </a:p>
        </p:txBody>
      </p:sp>
      <p:sp>
        <p:nvSpPr>
          <p:cNvPr id="9" name="文本框 8"/>
          <p:cNvSpPr txBox="1"/>
          <p:nvPr/>
        </p:nvSpPr>
        <p:spPr>
          <a:xfrm>
            <a:off x="629285" y="4152265"/>
            <a:ext cx="4646295" cy="447675"/>
          </a:xfrm>
          <a:prstGeom prst="rect">
            <a:avLst/>
          </a:prstGeom>
        </p:spPr>
        <p:txBody>
          <a:bodyPr wrap="square">
            <a:no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Evaluated Metrics</a:t>
            </a:r>
            <a:endParaRPr lang="en-US" altLang="zh-CN" sz="2000" b="1">
              <a:solidFill>
                <a:srgbClr val="000000"/>
              </a:solidFill>
              <a:latin typeface="Georgia" panose="02040502050405020303" charset="0"/>
              <a:ea typeface="CMR10"/>
              <a:cs typeface="Georgia" panose="02040502050405020303" charset="0"/>
            </a:endParaRPr>
          </a:p>
        </p:txBody>
      </p:sp>
      <p:sp>
        <p:nvSpPr>
          <p:cNvPr id="10" name="文本框 9"/>
          <p:cNvSpPr txBox="1"/>
          <p:nvPr/>
        </p:nvSpPr>
        <p:spPr>
          <a:xfrm>
            <a:off x="629285" y="4580255"/>
            <a:ext cx="6054090" cy="1854200"/>
          </a:xfrm>
          <a:prstGeom prst="rect">
            <a:avLst/>
          </a:prstGeom>
          <a:noFill/>
        </p:spPr>
        <p:txBody>
          <a:bodyPr wrap="square" rtlCol="0">
            <a:spAutoFit/>
          </a:bodyPr>
          <a:lstStyle/>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sym typeface="+mn-ea"/>
              </a:rPr>
              <a:t>Profit</a:t>
            </a:r>
            <a:r>
              <a:rPr lang="en-US" altLang="zh-CN">
                <a:latin typeface="Georgia" panose="02040502050405020303" charset="0"/>
                <a:cs typeface="Georgia" panose="02040502050405020303" charset="0"/>
                <a:sym typeface="+mn-ea"/>
              </a:rPr>
              <a:t>: averaged profits of all retailers;</a:t>
            </a:r>
            <a:endParaRPr lang="en-US" altLang="zh-CN" b="1">
              <a:latin typeface="Georgia" panose="02040502050405020303" charset="0"/>
              <a:cs typeface="Georgia" panose="02040502050405020303" charset="0"/>
              <a:sym typeface="+mn-ea"/>
            </a:endParaRPr>
          </a:p>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rPr>
              <a:t>Out-of-Stock Rate (OOS):</a:t>
            </a:r>
            <a:r>
              <a:rPr lang="en-US" altLang="zh-CN">
                <a:latin typeface="Georgia" panose="02040502050405020303" charset="0"/>
                <a:cs typeface="Georgia" panose="02040502050405020303" charset="0"/>
              </a:rPr>
              <a:t> the proportion of days with lost sales due to stockouts;</a:t>
            </a:r>
            <a:endParaRPr lang="en-US" altLang="zh-CN">
              <a:latin typeface="Georgia" panose="02040502050405020303" charset="0"/>
              <a:cs typeface="Georgia" panose="02040502050405020303" charset="0"/>
            </a:endParaRPr>
          </a:p>
          <a:p>
            <a:pPr marL="342900" indent="-342900" algn="just" fontAlgn="auto">
              <a:lnSpc>
                <a:spcPct val="120000"/>
              </a:lnSpc>
              <a:spcBef>
                <a:spcPts val="400"/>
              </a:spcBef>
              <a:buFont typeface="+mj-lt"/>
              <a:buAutoNum type="alphaLcParenR"/>
            </a:pPr>
            <a:r>
              <a:rPr lang="en-US" altLang="zh-CN" b="1">
                <a:latin typeface="Georgia" panose="02040502050405020303" charset="0"/>
                <a:cs typeface="Georgia" panose="02040502050405020303" charset="0"/>
                <a:sym typeface="+mn-ea"/>
              </a:rPr>
              <a:t>Days-in-Inventory (DII):</a:t>
            </a:r>
            <a:r>
              <a:rPr lang="en-US" altLang="zh-CN">
                <a:latin typeface="Georgia" panose="02040502050405020303" charset="0"/>
                <a:cs typeface="Georgia" panose="02040502050405020303" charset="0"/>
                <a:sym typeface="+mn-ea"/>
              </a:rPr>
              <a:t> the ratio of inventory quantity to sales volume, a type of turnover rate.</a:t>
            </a:r>
            <a:endParaRPr lang="en-US" altLang="zh-CN">
              <a:latin typeface="Georgia" panose="02040502050405020303" charset="0"/>
              <a:cs typeface="Georgia" panose="02040502050405020303" charset="0"/>
              <a:sym typeface="+mn-ea"/>
            </a:endParaRPr>
          </a:p>
        </p:txBody>
      </p:sp>
      <p:sp>
        <p:nvSpPr>
          <p:cNvPr id="4" name="文本框 3"/>
          <p:cNvSpPr txBox="1"/>
          <p:nvPr/>
        </p:nvSpPr>
        <p:spPr>
          <a:xfrm>
            <a:off x="10177780" y="1958975"/>
            <a:ext cx="1083945" cy="275590"/>
          </a:xfrm>
          <a:prstGeom prst="rect">
            <a:avLst/>
          </a:prstGeom>
          <a:noFill/>
        </p:spPr>
        <p:txBody>
          <a:bodyPr wrap="square" rtlCol="0">
            <a:spAutoFit/>
          </a:bodyPr>
          <a:lstStyle/>
          <a:p>
            <a:pPr algn="ctr"/>
            <a:r>
              <a:rPr lang="en-US" altLang="zh-CN" sz="1200">
                <a:latin typeface="Arial" panose="020B0604020202020204" pitchFamily="34" charset="0"/>
                <a:cs typeface="Arial" panose="020B0604020202020204" pitchFamily="34" charset="0"/>
              </a:rPr>
              <a:t>(5 Retailers)</a:t>
            </a:r>
            <a:endParaRPr lang="zh-CN" altLang="en-US" sz="1200">
              <a:latin typeface="Arial" panose="020B0604020202020204" pitchFamily="34" charset="0"/>
              <a:cs typeface="Arial" panose="020B0604020202020204" pitchFamily="34" charset="0"/>
            </a:endParaRPr>
          </a:p>
        </p:txBody>
      </p:sp>
      <p:sp>
        <p:nvSpPr>
          <p:cNvPr id="8" name="文本框 7"/>
          <p:cNvSpPr txBox="1"/>
          <p:nvPr/>
        </p:nvSpPr>
        <p:spPr>
          <a:xfrm>
            <a:off x="10177780" y="3264535"/>
            <a:ext cx="1083945" cy="275590"/>
          </a:xfrm>
          <a:prstGeom prst="rect">
            <a:avLst/>
          </a:prstGeom>
          <a:noFill/>
        </p:spPr>
        <p:txBody>
          <a:bodyPr wrap="square" rtlCol="0">
            <a:spAutoFit/>
          </a:bodyPr>
          <a:lstStyle/>
          <a:p>
            <a:pPr algn="ctr"/>
            <a:r>
              <a:rPr lang="en-US" altLang="zh-CN" sz="1200">
                <a:latin typeface="Arial" panose="020B0604020202020204" pitchFamily="34" charset="0"/>
                <a:cs typeface="Arial" panose="020B0604020202020204" pitchFamily="34" charset="0"/>
              </a:rPr>
              <a:t>(9 Retailers)</a:t>
            </a:r>
            <a:endParaRPr lang="zh-CN" altLang="en-US" sz="1200">
              <a:latin typeface="Arial" panose="020B0604020202020204" pitchFamily="34" charset="0"/>
              <a:cs typeface="Arial" panose="020B0604020202020204" pitchFamily="34" charset="0"/>
            </a:endParaRPr>
          </a:p>
        </p:txBody>
      </p:sp>
      <p:sp>
        <p:nvSpPr>
          <p:cNvPr id="11" name="文本框 10"/>
          <p:cNvSpPr txBox="1"/>
          <p:nvPr/>
        </p:nvSpPr>
        <p:spPr>
          <a:xfrm>
            <a:off x="10177780" y="4555490"/>
            <a:ext cx="1083945" cy="275590"/>
          </a:xfrm>
          <a:prstGeom prst="rect">
            <a:avLst/>
          </a:prstGeom>
          <a:noFill/>
        </p:spPr>
        <p:txBody>
          <a:bodyPr wrap="square" rtlCol="0">
            <a:spAutoFit/>
          </a:bodyPr>
          <a:lstStyle/>
          <a:p>
            <a:pPr algn="ctr"/>
            <a:r>
              <a:rPr lang="en-US" altLang="zh-CN" sz="1200">
                <a:latin typeface="Arial" panose="020B0604020202020204" pitchFamily="34" charset="0"/>
                <a:cs typeface="Arial" panose="020B0604020202020204" pitchFamily="34" charset="0"/>
              </a:rPr>
              <a:t>(12 Retailers)</a:t>
            </a:r>
            <a:endParaRPr lang="zh-CN" altLang="en-US" sz="1200">
              <a:latin typeface="Arial" panose="020B0604020202020204" pitchFamily="34" charset="0"/>
              <a:cs typeface="Arial" panose="020B0604020202020204" pitchFamily="34" charset="0"/>
            </a:endParaRPr>
          </a:p>
        </p:txBody>
      </p:sp>
      <p:sp>
        <p:nvSpPr>
          <p:cNvPr id="12" name="文本框 11"/>
          <p:cNvSpPr txBox="1"/>
          <p:nvPr/>
        </p:nvSpPr>
        <p:spPr>
          <a:xfrm>
            <a:off x="10177780" y="5888355"/>
            <a:ext cx="1083945" cy="275590"/>
          </a:xfrm>
          <a:prstGeom prst="rect">
            <a:avLst/>
          </a:prstGeom>
          <a:noFill/>
        </p:spPr>
        <p:txBody>
          <a:bodyPr wrap="square" rtlCol="0">
            <a:spAutoFit/>
          </a:bodyPr>
          <a:lstStyle/>
          <a:p>
            <a:pPr algn="ctr"/>
            <a:r>
              <a:rPr lang="en-US" altLang="zh-CN" sz="1200">
                <a:latin typeface="Arial" panose="020B0604020202020204" pitchFamily="34" charset="0"/>
                <a:cs typeface="Arial" panose="020B0604020202020204" pitchFamily="34" charset="0"/>
              </a:rPr>
              <a:t>(34 Retailers)</a:t>
            </a:r>
            <a:endParaRPr lang="zh-CN" altLang="en-US" sz="120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advTm="28261">
        <p:wipe dir="d"/>
      </p:transition>
    </mc:Choice>
    <mc:Fallback>
      <p:transition advTm="28261">
        <p:wipe dir="d"/>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27760" y="235585"/>
            <a:ext cx="6061710" cy="583565"/>
          </a:xfrm>
          <a:prstGeom prst="rect">
            <a:avLst/>
          </a:prstGeom>
          <a:noFill/>
        </p:spPr>
        <p:txBody>
          <a:bodyPr wrap="square" rtlCol="0">
            <a:spAutoFit/>
          </a:bodyPr>
          <a:lstStyle/>
          <a:p>
            <a:r>
              <a:rPr lang="en-US" altLang="zh-CN" sz="3200" b="1" dirty="0">
                <a:latin typeface="+mj-lt"/>
              </a:rPr>
              <a:t>Performance Comparison</a:t>
            </a:r>
            <a:endParaRPr lang="zh-CN" altLang="en-US" sz="3200" b="1" dirty="0">
              <a:latin typeface="+mj-lt"/>
            </a:endParaRPr>
          </a:p>
        </p:txBody>
      </p:sp>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7" name="文本框 6"/>
          <p:cNvSpPr txBox="1"/>
          <p:nvPr/>
        </p:nvSpPr>
        <p:spPr>
          <a:xfrm>
            <a:off x="806450" y="907415"/>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Baseline Comparison</a:t>
            </a:r>
            <a:endParaRPr lang="en-US" altLang="zh-CN" sz="2000" b="1">
              <a:solidFill>
                <a:srgbClr val="000000"/>
              </a:solidFill>
              <a:latin typeface="Georgia" panose="02040502050405020303" charset="0"/>
              <a:ea typeface="CMR10"/>
              <a:cs typeface="Georgia" panose="02040502050405020303" charset="0"/>
            </a:endParaRPr>
          </a:p>
        </p:txBody>
      </p:sp>
      <p:sp>
        <p:nvSpPr>
          <p:cNvPr id="5" name="文本框 4"/>
          <p:cNvSpPr txBox="1"/>
          <p:nvPr/>
        </p:nvSpPr>
        <p:spPr>
          <a:xfrm>
            <a:off x="806450" y="379476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Abalation Study</a:t>
            </a:r>
            <a:endParaRPr lang="en-US" altLang="zh-CN" sz="2000" b="1">
              <a:solidFill>
                <a:srgbClr val="000000"/>
              </a:solidFill>
              <a:latin typeface="Georgia" panose="02040502050405020303" charset="0"/>
              <a:ea typeface="CMR10"/>
              <a:cs typeface="Georgia" panose="02040502050405020303" charset="0"/>
            </a:endParaRPr>
          </a:p>
        </p:txBody>
      </p:sp>
      <p:pic>
        <p:nvPicPr>
          <p:cNvPr id="2" name="图片 1"/>
          <p:cNvPicPr>
            <a:picLocks noChangeAspect="1"/>
          </p:cNvPicPr>
          <p:nvPr/>
        </p:nvPicPr>
        <p:blipFill>
          <a:blip r:embed="rId1"/>
          <a:stretch>
            <a:fillRect/>
          </a:stretch>
        </p:blipFill>
        <p:spPr>
          <a:xfrm>
            <a:off x="2917508" y="1563370"/>
            <a:ext cx="6227445" cy="1990090"/>
          </a:xfrm>
          <a:prstGeom prst="rect">
            <a:avLst/>
          </a:prstGeom>
        </p:spPr>
      </p:pic>
      <p:pic>
        <p:nvPicPr>
          <p:cNvPr id="4" name="图片 3"/>
          <p:cNvPicPr>
            <a:picLocks noChangeAspect="1"/>
          </p:cNvPicPr>
          <p:nvPr/>
        </p:nvPicPr>
        <p:blipFill>
          <a:blip r:embed="rId2"/>
          <a:stretch>
            <a:fillRect/>
          </a:stretch>
        </p:blipFill>
        <p:spPr>
          <a:xfrm>
            <a:off x="2340610" y="4412615"/>
            <a:ext cx="7381240" cy="20123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42579">
        <p:wipe dir="d"/>
      </p:transition>
    </mc:Choice>
    <mc:Fallback>
      <p:transition advTm="42579">
        <p:wipe dir="d"/>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35380" y="21399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sp>
        <p:nvSpPr>
          <p:cNvPr id="7" name="文本框 6"/>
          <p:cNvSpPr txBox="1"/>
          <p:nvPr/>
        </p:nvSpPr>
        <p:spPr>
          <a:xfrm>
            <a:off x="748030" y="986155"/>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Optimality Test</a:t>
            </a:r>
            <a:endParaRPr lang="en-US" altLang="zh-CN" sz="2000" b="1">
              <a:solidFill>
                <a:srgbClr val="000000"/>
              </a:solidFill>
              <a:latin typeface="Georgia" panose="02040502050405020303" charset="0"/>
              <a:ea typeface="CMR10"/>
              <a:cs typeface="Georgia" panose="02040502050405020303" charset="0"/>
            </a:endParaRPr>
          </a:p>
        </p:txBody>
      </p:sp>
      <mc:AlternateContent xmlns:mc="http://schemas.openxmlformats.org/markup-compatibility/2006">
        <mc:Choice xmlns:a14="http://schemas.microsoft.com/office/drawing/2010/main" Requires="a14">
          <p:sp>
            <p:nvSpPr>
              <p:cNvPr id="3" name="文本框 2"/>
              <p:cNvSpPr txBox="1"/>
              <p:nvPr/>
            </p:nvSpPr>
            <p:spPr>
              <a:xfrm>
                <a:off x="873125" y="1469390"/>
                <a:ext cx="10285095" cy="858520"/>
              </a:xfrm>
              <a:prstGeom prst="rect">
                <a:avLst/>
              </a:prstGeom>
              <a:noFill/>
            </p:spPr>
            <p:txBody>
              <a:bodyPr wrap="square" rtlCol="0">
                <a:spAutoFit/>
              </a:bodyPr>
              <a:lstStyle/>
              <a:p>
                <a:pPr marL="285750" indent="-285750" fontAlgn="auto">
                  <a:lnSpc>
                    <a:spcPct val="125000"/>
                  </a:lnSpc>
                  <a:buFont typeface="Arial" panose="020B0604020202020204" pitchFamily="34" charset="0"/>
                  <a:buChar char="•"/>
                </a:pPr>
                <a:r>
                  <a:rPr lang="en-US" altLang="zh-CN">
                    <a:latin typeface="Georgia" panose="02040502050405020303" charset="0"/>
                    <a:cs typeface="Georgia" panose="02040502050405020303" charset="0"/>
                  </a:rPr>
                  <a:t>If the following conditions are met: (i) zero lead time </a:t>
                </a:r>
                <a14:m>
                  <m:oMath xmlns:m="http://schemas.openxmlformats.org/officeDocument/2006/math">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a14:m>
                <a:r>
                  <a:rPr lang="en-US" altLang="zh-CN">
                    <a:latin typeface="Georgia" panose="02040502050405020303" charset="0"/>
                    <a:cs typeface="Georgia" panose="02040502050405020303" charset="0"/>
                  </a:rPr>
                  <a:t>; (ii) no startup inventory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0</m:t>
                        </m:r>
                      </m:sub>
                      <m:sup>
                        <m:r>
                          <a:rPr lang="en-US" altLang="zh-CN" i="1">
                            <a:latin typeface="Cambria Math" panose="02040503050406030204" charset="0"/>
                            <a:cs typeface="Cambria Math" panose="02040503050406030204" charset="0"/>
                          </a:rPr>
                          <m:t>𝑖</m:t>
                        </m:r>
                      </m:sup>
                    </m:sSub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a14:m>
                <a:r>
                  <a:rPr lang="en-US" altLang="zh-CN">
                    <a:latin typeface="Georgia" panose="02040502050405020303" charset="0"/>
                    <a:cs typeface="Georgia" panose="02040502050405020303" charset="0"/>
                  </a:rPr>
                  <a:t>; (iii) lost sales, t</a:t>
                </a:r>
                <a:r>
                  <a:rPr lang="en-US" altLang="zh-CN">
                    <a:latin typeface="Georgia" panose="02040502050405020303" charset="0"/>
                    <a:cs typeface="Georgia" panose="02040502050405020303" charset="0"/>
                    <a:sym typeface="+mn-ea"/>
                  </a:rPr>
                  <a:t>he optimal policy </a:t>
                </a:r>
                <a:r>
                  <a:rPr lang="en-US" altLang="zh-CN">
                    <a:latin typeface="Georgia" panose="02040502050405020303" charset="0"/>
                    <a:cs typeface="Georgia" panose="02040502050405020303" charset="0"/>
                  </a:rPr>
                  <a:t>is replenishment quantity </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m:t>
                        </m:r>
                      </m:sup>
                    </m:sSubSup>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𝑑</m:t>
                        </m:r>
                      </m:e>
                      <m:sub>
                        <m:r>
                          <a:rPr lang="en-US" altLang="zh-CN" i="1">
                            <a:latin typeface="Cambria Math" panose="02040503050406030204" charset="0"/>
                            <a:cs typeface="Cambria Math" panose="02040503050406030204" charset="0"/>
                          </a:rPr>
                          <m:t>𝑡</m:t>
                        </m:r>
                      </m:sub>
                      <m:sup>
                        <m:r>
                          <a:rPr lang="en-US" altLang="zh-CN" i="1">
                            <a:latin typeface="Cambria Math" panose="02040503050406030204" charset="0"/>
                            <a:cs typeface="Cambria Math" panose="02040503050406030204" charset="0"/>
                          </a:rPr>
                          <m:t>𝑖</m:t>
                        </m:r>
                      </m:sup>
                    </m:sSubSup>
                  </m:oMath>
                </a14:m>
                <a:r>
                  <a:rPr lang="en-US" altLang="zh-CN">
                    <a:latin typeface="Georgia" panose="02040502050405020303" charset="0"/>
                    <a:cs typeface="Georgia" panose="02040502050405020303" charset="0"/>
                  </a:rPr>
                  <a:t> and no transshipment.</a:t>
                </a:r>
                <a:endParaRPr lang="en-US" altLang="zh-CN">
                  <a:latin typeface="Georgia" panose="02040502050405020303" charset="0"/>
                  <a:cs typeface="Georgia" panose="02040502050405020303"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873125" y="1469390"/>
                <a:ext cx="10285095" cy="858520"/>
              </a:xfrm>
              <a:prstGeom prst="rect">
                <a:avLst/>
              </a:prstGeom>
              <a:blipFill rotWithShape="1">
                <a:blip r:embed="rId1"/>
                <a:stretch>
                  <a:fillRect/>
                </a:stretch>
              </a:blipFill>
            </p:spPr>
            <p:txBody>
              <a:bodyPr/>
              <a:lstStyle/>
              <a:p>
                <a:r>
                  <a:rPr lang="zh-CN" altLang="en-US">
                    <a:noFill/>
                  </a:rPr>
                  <a:t> </a:t>
                </a:r>
              </a:p>
            </p:txBody>
          </p:sp>
        </mc:Fallback>
      </mc:AlternateContent>
      <p:sp>
        <p:nvSpPr>
          <p:cNvPr id="14" name="文本框 13"/>
          <p:cNvSpPr txBox="1"/>
          <p:nvPr/>
        </p:nvSpPr>
        <p:spPr>
          <a:xfrm>
            <a:off x="873125" y="2420620"/>
            <a:ext cx="7065645" cy="36830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a:latin typeface="Georgia" panose="02040502050405020303" charset="0"/>
                <a:cs typeface="Georgia" panose="02040502050405020303" charset="0"/>
                <a:sym typeface="+mn-ea"/>
              </a:rPr>
              <a:t>Variables under optimal replenishment policy should be:</a:t>
            </a:r>
            <a:endParaRPr lang="en-US" altLang="zh-CN">
              <a:latin typeface="Georgia" panose="02040502050405020303" charset="0"/>
              <a:cs typeface="Georgia" panose="02040502050405020303" charset="0"/>
              <a:sym typeface="+mn-ea"/>
            </a:endParaRPr>
          </a:p>
        </p:txBody>
      </p:sp>
      <p:grpSp>
        <p:nvGrpSpPr>
          <p:cNvPr id="10" name="组合 9"/>
          <p:cNvGrpSpPr/>
          <p:nvPr/>
        </p:nvGrpSpPr>
        <p:grpSpPr>
          <a:xfrm>
            <a:off x="465455" y="2888615"/>
            <a:ext cx="10950575" cy="3141345"/>
            <a:chOff x="733" y="4670"/>
            <a:chExt cx="17245" cy="4947"/>
          </a:xfrm>
        </p:grpSpPr>
        <mc:AlternateContent xmlns:mc="http://schemas.openxmlformats.org/markup-compatibility/2006">
          <mc:Choice xmlns:a14="http://schemas.microsoft.com/office/drawing/2010/main" Requires="a14">
            <p:sp>
              <p:nvSpPr>
                <p:cNvPr id="15" name="文本框 14"/>
                <p:cNvSpPr txBox="1"/>
                <p:nvPr/>
              </p:nvSpPr>
              <p:spPr>
                <a:xfrm>
                  <a:off x="3070" y="4670"/>
                  <a:ext cx="1978" cy="580"/>
                </a:xfrm>
                <a:prstGeom prst="rect">
                  <a:avLst/>
                </a:prstGeom>
                <a:noFill/>
              </p:spPr>
              <p:txBody>
                <a:bodyPr wrap="square" rtlCol="0">
                  <a:spAutoFit/>
                </a:bodyPr>
                <a:lstStyle/>
                <a:p>
                  <a:pPr algn="ctr"/>
                  <a:r>
                    <a:rPr lang="en-US" altLang="zh-CN"/>
                    <a:t>DII </a:t>
                  </a:r>
                  <a14:m>
                    <m:oMath xmlns:m="http://schemas.openxmlformats.org/officeDocument/2006/math">
                      <m:r>
                        <a:rPr lang="en-US" altLang="zh-CN" i="1">
                          <a:latin typeface="Cambria Math" panose="02040503050406030204" charset="0"/>
                          <a:cs typeface="Cambria Math" panose="02040503050406030204" charset="0"/>
                        </a:rPr>
                        <m:t>→</m:t>
                      </m:r>
                    </m:oMath>
                  </a14:m>
                  <a:r>
                    <a:rPr lang="en-US" altLang="zh-CN"/>
                    <a:t> 1</a:t>
                  </a:r>
                  <a:endParaRPr lang="en-US" altLang="zh-CN"/>
                </a:p>
              </p:txBody>
            </p:sp>
          </mc:Choice>
          <mc:Fallback>
            <p:sp>
              <p:nvSpPr>
                <p:cNvPr id="15" name="文本框 14"/>
                <p:cNvSpPr txBox="1">
                  <a:spLocks noRot="1" noChangeAspect="1" noMove="1" noResize="1" noEditPoints="1" noAdjustHandles="1" noChangeArrowheads="1" noChangeShapeType="1" noTextEdit="1"/>
                </p:cNvSpPr>
                <p:nvPr/>
              </p:nvSpPr>
              <p:spPr>
                <a:xfrm>
                  <a:off x="3070" y="4670"/>
                  <a:ext cx="1978" cy="58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7938" y="4670"/>
                  <a:ext cx="3855" cy="580"/>
                </a:xfrm>
                <a:prstGeom prst="rect">
                  <a:avLst/>
                </a:prstGeom>
                <a:noFill/>
              </p:spPr>
              <p:txBody>
                <a:bodyPr wrap="square" rtlCol="0">
                  <a:spAutoFit/>
                </a:bodyPr>
                <a:lstStyle/>
                <a:p>
                  <a:pPr algn="ctr"/>
                  <a:r>
                    <a:rPr lang="en-US" altLang="zh-CN"/>
                    <a:t>Inventory Cost </a:t>
                  </a:r>
                  <a14:m>
                    <m:oMath xmlns:m="http://schemas.openxmlformats.org/officeDocument/2006/math">
                      <m:r>
                        <a:rPr lang="en-US" altLang="zh-CN" i="1">
                          <a:latin typeface="Cambria Math" panose="02040503050406030204" charset="0"/>
                          <a:cs typeface="Cambria Math" panose="02040503050406030204" charset="0"/>
                        </a:rPr>
                        <m:t>→</m:t>
                      </m:r>
                    </m:oMath>
                  </a14:m>
                  <a:r>
                    <a:rPr lang="en-US" altLang="zh-CN"/>
                    <a:t> 0</a:t>
                  </a:r>
                  <a:endParaRPr lang="en-US" altLang="zh-CN"/>
                </a:p>
              </p:txBody>
            </p:sp>
          </mc:Choice>
          <mc:Fallback>
            <p:sp>
              <p:nvSpPr>
                <p:cNvPr id="16" name="文本框 15"/>
                <p:cNvSpPr txBox="1">
                  <a:spLocks noRot="1" noChangeAspect="1" noMove="1" noResize="1" noEditPoints="1" noAdjustHandles="1" noChangeArrowheads="1" noChangeShapeType="1" noTextEdit="1"/>
                </p:cNvSpPr>
                <p:nvPr/>
              </p:nvSpPr>
              <p:spPr>
                <a:xfrm>
                  <a:off x="7938" y="4670"/>
                  <a:ext cx="3855" cy="58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13721" y="4670"/>
                  <a:ext cx="3855" cy="580"/>
                </a:xfrm>
                <a:prstGeom prst="rect">
                  <a:avLst/>
                </a:prstGeom>
                <a:noFill/>
              </p:spPr>
              <p:txBody>
                <a:bodyPr wrap="square" rtlCol="0">
                  <a:spAutoFit/>
                </a:bodyPr>
                <a:lstStyle/>
                <a:p>
                  <a:pPr algn="ctr"/>
                  <a:r>
                    <a:rPr lang="en-US" altLang="zh-CN"/>
                    <a:t>Inventory </a:t>
                  </a:r>
                  <a14:m>
                    <m:oMath xmlns:m="http://schemas.openxmlformats.org/officeDocument/2006/math">
                      <m:r>
                        <a:rPr lang="en-US" altLang="zh-CN" i="1">
                          <a:latin typeface="Cambria Math" panose="02040503050406030204" charset="0"/>
                          <a:cs typeface="Cambria Math" panose="02040503050406030204" charset="0"/>
                        </a:rPr>
                        <m:t>→</m:t>
                      </m:r>
                    </m:oMath>
                  </a14:m>
                  <a:r>
                    <a:rPr lang="en-US" altLang="zh-CN"/>
                    <a:t> 0</a:t>
                  </a:r>
                  <a:endParaRPr lang="en-US" altLang="zh-CN"/>
                </a:p>
              </p:txBody>
            </p:sp>
          </mc:Choice>
          <mc:Fallback>
            <p:sp>
              <p:nvSpPr>
                <p:cNvPr id="17" name="文本框 16"/>
                <p:cNvSpPr txBox="1">
                  <a:spLocks noRot="1" noChangeAspect="1" noMove="1" noResize="1" noEditPoints="1" noAdjustHandles="1" noChangeArrowheads="1" noChangeShapeType="1" noTextEdit="1"/>
                </p:cNvSpPr>
                <p:nvPr/>
              </p:nvSpPr>
              <p:spPr>
                <a:xfrm>
                  <a:off x="13721" y="4670"/>
                  <a:ext cx="3855" cy="580"/>
                </a:xfrm>
                <a:prstGeom prst="rect">
                  <a:avLst/>
                </a:prstGeom>
                <a:blipFill rotWithShape="1">
                  <a:blip r:embed="rId4"/>
                </a:blipFill>
              </p:spPr>
              <p:txBody>
                <a:bodyPr/>
                <a:lstStyle/>
                <a:p>
                  <a:r>
                    <a:rPr lang="zh-CN" altLang="en-US">
                      <a:noFill/>
                    </a:rPr>
                    <a:t> </a:t>
                  </a:r>
                </a:p>
              </p:txBody>
            </p:sp>
          </mc:Fallback>
        </mc:AlternateContent>
        <p:pic>
          <p:nvPicPr>
            <p:cNvPr id="4" name="图片 3" descr="output"/>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733" y="4983"/>
              <a:ext cx="5747" cy="4634"/>
            </a:xfrm>
            <a:prstGeom prst="rect">
              <a:avLst/>
            </a:prstGeom>
          </p:spPr>
        </p:pic>
        <p:pic>
          <p:nvPicPr>
            <p:cNvPr id="8" name="图片 7" descr="output"/>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6575" y="5082"/>
              <a:ext cx="5654" cy="4535"/>
            </a:xfrm>
            <a:prstGeom prst="rect">
              <a:avLst/>
            </a:prstGeom>
          </p:spPr>
        </p:pic>
        <p:pic>
          <p:nvPicPr>
            <p:cNvPr id="9" name="图片 8" descr="output"/>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12324" y="5082"/>
              <a:ext cx="5654" cy="4535"/>
            </a:xfrm>
            <a:prstGeom prst="rect">
              <a:avLst/>
            </a:prstGeom>
          </p:spPr>
        </p:pic>
      </p:grpSp>
      <p:sp>
        <p:nvSpPr>
          <p:cNvPr id="5" name="文本框 4"/>
          <p:cNvSpPr txBox="1"/>
          <p:nvPr/>
        </p:nvSpPr>
        <p:spPr>
          <a:xfrm>
            <a:off x="2498725" y="6177915"/>
            <a:ext cx="7099935" cy="368300"/>
          </a:xfrm>
          <a:prstGeom prst="rect">
            <a:avLst/>
          </a:prstGeom>
        </p:spPr>
        <p:txBody>
          <a:bodyPr wrap="square">
            <a:spAutoFit/>
          </a:bodyPr>
          <a:lstStyle/>
          <a:p>
            <a:pPr algn="ctr" defTabSz="266700"/>
            <a:r>
              <a:rPr lang="en-US">
                <a:solidFill>
                  <a:schemeClr val="accent2"/>
                </a:solidFill>
                <a:latin typeface="Georgia" panose="02040502050405020303" charset="0"/>
                <a:ea typeface="宋体" panose="02010600030101010101" pitchFamily="2" charset="-122"/>
                <a:cs typeface="Georgia" panose="02040502050405020303" charset="0"/>
              </a:rPr>
              <a:t>TransG is converging to the optimal solution during training.</a:t>
            </a:r>
            <a:endParaRPr lang="en-US" altLang="en-US">
              <a:solidFill>
                <a:schemeClr val="accent2"/>
              </a:solidFill>
              <a:latin typeface="Georgia" panose="02040502050405020303" charset="0"/>
              <a:ea typeface="宋体" panose="02010600030101010101" pitchFamily="2" charset="-122"/>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17750">
        <p:wipe dir="d"/>
      </p:transition>
    </mc:Choice>
    <mc:Fallback>
      <p:transition advTm="17750">
        <p:wipe dir="d"/>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23950" y="22288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7" name="文本框 6"/>
          <p:cNvSpPr txBox="1"/>
          <p:nvPr/>
        </p:nvSpPr>
        <p:spPr>
          <a:xfrm>
            <a:off x="762635" y="95631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Sensitivity Analysis</a:t>
            </a:r>
            <a:endParaRPr lang="en-US" altLang="zh-CN" sz="2000" b="1">
              <a:solidFill>
                <a:srgbClr val="000000"/>
              </a:solidFill>
              <a:latin typeface="Georgia" panose="02040502050405020303" charset="0"/>
              <a:ea typeface="CMR10"/>
              <a:cs typeface="Georgia" panose="02040502050405020303" charset="0"/>
            </a:endParaRPr>
          </a:p>
        </p:txBody>
      </p:sp>
      <p:sp>
        <p:nvSpPr>
          <p:cNvPr id="11" name="文本框 10"/>
          <p:cNvSpPr txBox="1"/>
          <p:nvPr/>
        </p:nvSpPr>
        <p:spPr>
          <a:xfrm>
            <a:off x="951230" y="2346960"/>
            <a:ext cx="1770380" cy="783590"/>
          </a:xfrm>
          <a:prstGeom prst="rect">
            <a:avLst/>
          </a:prstGeom>
          <a:noFill/>
        </p:spPr>
        <p:txBody>
          <a:bodyPr wrap="square" rtlCol="0">
            <a:spAutoFit/>
          </a:bodyPr>
          <a:lstStyle/>
          <a:p>
            <a:pPr algn="ctr">
              <a:lnSpc>
                <a:spcPct val="125000"/>
              </a:lnSpc>
              <a:spcBef>
                <a:spcPts val="0"/>
              </a:spcBef>
              <a:spcAft>
                <a:spcPts val="0"/>
              </a:spcAft>
            </a:pPr>
            <a:r>
              <a:rPr lang="en-US" altLang="zh-CN">
                <a:latin typeface="Georgia" panose="02040502050405020303" charset="0"/>
                <a:cs typeface="Georgia" panose="02040502050405020303" charset="0"/>
              </a:rPr>
              <a:t>Inventory</a:t>
            </a:r>
            <a:endParaRPr lang="en-US" altLang="zh-CN">
              <a:latin typeface="Georgia" panose="02040502050405020303" charset="0"/>
              <a:cs typeface="Georgia" panose="02040502050405020303" charset="0"/>
            </a:endParaRPr>
          </a:p>
          <a:p>
            <a:pPr algn="ctr">
              <a:lnSpc>
                <a:spcPct val="125000"/>
              </a:lnSpc>
              <a:spcBef>
                <a:spcPts val="0"/>
              </a:spcBef>
              <a:spcAft>
                <a:spcPts val="0"/>
              </a:spcAft>
            </a:pPr>
            <a:r>
              <a:rPr lang="en-US" altLang="zh-CN">
                <a:latin typeface="Georgia" panose="02040502050405020303" charset="0"/>
                <a:cs typeface="Georgia" panose="02040502050405020303" charset="0"/>
              </a:rPr>
              <a:t>Holding Cost</a:t>
            </a:r>
            <a:endParaRPr lang="en-US" altLang="zh-CN">
              <a:latin typeface="Georgia" panose="02040502050405020303" charset="0"/>
              <a:cs typeface="Georgia" panose="02040502050405020303" charset="0"/>
            </a:endParaRPr>
          </a:p>
        </p:txBody>
      </p:sp>
      <p:sp>
        <p:nvSpPr>
          <p:cNvPr id="13" name="文本框 12"/>
          <p:cNvSpPr txBox="1"/>
          <p:nvPr/>
        </p:nvSpPr>
        <p:spPr>
          <a:xfrm>
            <a:off x="951230" y="4634865"/>
            <a:ext cx="1770380" cy="783590"/>
          </a:xfrm>
          <a:prstGeom prst="rect">
            <a:avLst/>
          </a:prstGeom>
          <a:noFill/>
        </p:spPr>
        <p:txBody>
          <a:bodyPr wrap="square" rtlCol="0">
            <a:spAutoFit/>
          </a:bodyPr>
          <a:lstStyle/>
          <a:p>
            <a:pPr algn="ctr">
              <a:lnSpc>
                <a:spcPct val="125000"/>
              </a:lnSpc>
              <a:spcBef>
                <a:spcPts val="0"/>
              </a:spcBef>
              <a:spcAft>
                <a:spcPts val="0"/>
              </a:spcAft>
            </a:pPr>
            <a:r>
              <a:rPr lang="en-US" altLang="zh-CN">
                <a:latin typeface="Georgia" panose="02040502050405020303" charset="0"/>
                <a:cs typeface="Georgia" panose="02040502050405020303" charset="0"/>
              </a:rPr>
              <a:t>Inventory</a:t>
            </a:r>
            <a:endParaRPr lang="en-US" altLang="zh-CN">
              <a:latin typeface="Georgia" panose="02040502050405020303" charset="0"/>
              <a:cs typeface="Georgia" panose="02040502050405020303" charset="0"/>
            </a:endParaRPr>
          </a:p>
          <a:p>
            <a:pPr algn="ctr">
              <a:lnSpc>
                <a:spcPct val="125000"/>
              </a:lnSpc>
              <a:spcBef>
                <a:spcPts val="0"/>
              </a:spcBef>
              <a:spcAft>
                <a:spcPts val="0"/>
              </a:spcAft>
            </a:pPr>
            <a:r>
              <a:rPr lang="en-US" altLang="zh-CN">
                <a:latin typeface="Georgia" panose="02040502050405020303" charset="0"/>
                <a:cs typeface="Georgia" panose="02040502050405020303" charset="0"/>
              </a:rPr>
              <a:t>Stockout Cost</a:t>
            </a:r>
            <a:endParaRPr lang="en-US" altLang="zh-CN">
              <a:latin typeface="Georgia" panose="02040502050405020303" charset="0"/>
              <a:cs typeface="Georgia" panose="02040502050405020303" charset="0"/>
            </a:endParaRPr>
          </a:p>
        </p:txBody>
      </p:sp>
      <p:pic>
        <p:nvPicPr>
          <p:cNvPr id="4" name="图片 3" descr="output"/>
          <p:cNvPicPr>
            <a:picLocks noChangeAspect="1"/>
          </p:cNvPicPr>
          <p:nvPr/>
        </p:nvPicPr>
        <p:blipFill>
          <a:blip r:embed="rId1"/>
          <a:stretch>
            <a:fillRect/>
          </a:stretch>
        </p:blipFill>
        <p:spPr>
          <a:xfrm>
            <a:off x="2915739" y="1581785"/>
            <a:ext cx="8450215" cy="2448000"/>
          </a:xfrm>
          <a:prstGeom prst="rect">
            <a:avLst/>
          </a:prstGeom>
        </p:spPr>
      </p:pic>
      <p:pic>
        <p:nvPicPr>
          <p:cNvPr id="5" name="图片 4" descr="output"/>
          <p:cNvPicPr>
            <a:picLocks noChangeAspect="1"/>
          </p:cNvPicPr>
          <p:nvPr/>
        </p:nvPicPr>
        <p:blipFill>
          <a:blip r:embed="rId2"/>
          <a:stretch>
            <a:fillRect/>
          </a:stretch>
        </p:blipFill>
        <p:spPr>
          <a:xfrm>
            <a:off x="2915603" y="4051300"/>
            <a:ext cx="8450487" cy="244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9959">
        <p:wipe dir="d"/>
      </p:transition>
    </mc:Choice>
    <mc:Fallback>
      <p:transition advTm="9959">
        <p:wipe dir="d"/>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11" name="文本框 10"/>
          <p:cNvSpPr txBox="1"/>
          <p:nvPr/>
        </p:nvSpPr>
        <p:spPr>
          <a:xfrm>
            <a:off x="662305" y="2395673"/>
            <a:ext cx="2292350" cy="706755"/>
          </a:xfrm>
          <a:prstGeom prst="rect">
            <a:avLst/>
          </a:prstGeom>
          <a:noFill/>
        </p:spPr>
        <p:txBody>
          <a:bodyPr wrap="square" rtlCol="0">
            <a:spAutoFit/>
          </a:bodyPr>
          <a:lstStyle/>
          <a:p>
            <a:pPr algn="ctr">
              <a:lnSpc>
                <a:spcPct val="125000"/>
              </a:lnSpc>
              <a:spcBef>
                <a:spcPts val="0"/>
              </a:spcBef>
              <a:spcAft>
                <a:spcPts val="0"/>
              </a:spcAft>
            </a:pPr>
            <a:r>
              <a:rPr lang="en-US" altLang="zh-CN" sz="1600">
                <a:latin typeface="Georgia" panose="02040502050405020303" charset="0"/>
                <a:cs typeface="Georgia" panose="02040502050405020303" charset="0"/>
              </a:rPr>
              <a:t>Transshipment Cost</a:t>
            </a:r>
            <a:endParaRPr lang="en-US" altLang="zh-CN" sz="1600">
              <a:latin typeface="Georgia" panose="02040502050405020303" charset="0"/>
              <a:cs typeface="Georgia" panose="02040502050405020303" charset="0"/>
            </a:endParaRPr>
          </a:p>
          <a:p>
            <a:pPr algn="ctr">
              <a:lnSpc>
                <a:spcPct val="125000"/>
              </a:lnSpc>
              <a:spcBef>
                <a:spcPts val="0"/>
              </a:spcBef>
              <a:spcAft>
                <a:spcPts val="0"/>
              </a:spcAft>
            </a:pPr>
            <a:r>
              <a:rPr lang="en-US" altLang="zh-CN" sz="1600">
                <a:latin typeface="Georgia" panose="02040502050405020303" charset="0"/>
                <a:cs typeface="Georgia" panose="02040502050405020303" charset="0"/>
              </a:rPr>
              <a:t>Per Unit Per Distance</a:t>
            </a:r>
            <a:endParaRPr lang="en-US" altLang="zh-CN" sz="1600">
              <a:latin typeface="Georgia" panose="02040502050405020303" charset="0"/>
              <a:cs typeface="Georgia" panose="02040502050405020303" charset="0"/>
            </a:endParaRPr>
          </a:p>
        </p:txBody>
      </p:sp>
      <p:sp>
        <p:nvSpPr>
          <p:cNvPr id="13" name="文本框 12"/>
          <p:cNvSpPr txBox="1"/>
          <p:nvPr/>
        </p:nvSpPr>
        <p:spPr>
          <a:xfrm>
            <a:off x="923290" y="4919163"/>
            <a:ext cx="1770380" cy="706755"/>
          </a:xfrm>
          <a:prstGeom prst="rect">
            <a:avLst/>
          </a:prstGeom>
          <a:noFill/>
        </p:spPr>
        <p:txBody>
          <a:bodyPr wrap="square" rtlCol="0">
            <a:spAutoFit/>
          </a:bodyPr>
          <a:lstStyle/>
          <a:p>
            <a:pPr algn="ctr">
              <a:lnSpc>
                <a:spcPct val="125000"/>
              </a:lnSpc>
              <a:spcBef>
                <a:spcPts val="0"/>
              </a:spcBef>
              <a:spcAft>
                <a:spcPts val="0"/>
              </a:spcAft>
            </a:pPr>
            <a:r>
              <a:rPr lang="en-US" altLang="zh-CN" sz="1600">
                <a:latin typeface="Georgia" panose="02040502050405020303" charset="0"/>
                <a:cs typeface="Georgia" panose="02040502050405020303" charset="0"/>
              </a:rPr>
              <a:t>Transshipment Extra Price</a:t>
            </a:r>
            <a:endParaRPr lang="en-US" altLang="zh-CN" sz="1600">
              <a:latin typeface="Georgia" panose="02040502050405020303" charset="0"/>
              <a:cs typeface="Georgia" panose="02040502050405020303" charset="0"/>
            </a:endParaRPr>
          </a:p>
        </p:txBody>
      </p:sp>
      <p:pic>
        <p:nvPicPr>
          <p:cNvPr id="5" name="图片 4" descr="output"/>
          <p:cNvPicPr>
            <a:picLocks noChangeAspect="1"/>
          </p:cNvPicPr>
          <p:nvPr/>
        </p:nvPicPr>
        <p:blipFill>
          <a:blip r:embed="rId1"/>
          <a:stretch>
            <a:fillRect/>
          </a:stretch>
        </p:blipFill>
        <p:spPr>
          <a:xfrm>
            <a:off x="3034900" y="1543050"/>
            <a:ext cx="8312341" cy="2412000"/>
          </a:xfrm>
          <a:prstGeom prst="rect">
            <a:avLst/>
          </a:prstGeom>
        </p:spPr>
      </p:pic>
      <p:pic>
        <p:nvPicPr>
          <p:cNvPr id="8" name="图片 7" descr="output"/>
          <p:cNvPicPr>
            <a:picLocks noChangeAspect="1"/>
          </p:cNvPicPr>
          <p:nvPr/>
        </p:nvPicPr>
        <p:blipFill>
          <a:blip r:embed="rId2"/>
          <a:stretch>
            <a:fillRect/>
          </a:stretch>
        </p:blipFill>
        <p:spPr>
          <a:xfrm>
            <a:off x="3040425" y="4066540"/>
            <a:ext cx="8301292" cy="2412000"/>
          </a:xfrm>
          <a:prstGeom prst="rect">
            <a:avLst/>
          </a:prstGeom>
        </p:spPr>
      </p:pic>
      <p:sp>
        <p:nvSpPr>
          <p:cNvPr id="2" name="文本框 1"/>
          <p:cNvSpPr txBox="1"/>
          <p:nvPr/>
        </p:nvSpPr>
        <p:spPr>
          <a:xfrm>
            <a:off x="1123950" y="22288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sp>
        <p:nvSpPr>
          <p:cNvPr id="4" name="文本框 3"/>
          <p:cNvSpPr txBox="1"/>
          <p:nvPr/>
        </p:nvSpPr>
        <p:spPr>
          <a:xfrm>
            <a:off x="762635" y="95631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Sensitivity Analysis</a:t>
            </a:r>
            <a:endParaRPr lang="en-US" altLang="zh-CN" sz="2000" b="1">
              <a:solidFill>
                <a:srgbClr val="000000"/>
              </a:solidFill>
              <a:latin typeface="Georgia" panose="02040502050405020303" charset="0"/>
              <a:ea typeface="CMR1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3274">
        <p:wipe dir="d"/>
      </p:transition>
    </mc:Choice>
    <mc:Fallback>
      <p:transition advTm="3274">
        <p:wipe dir="d"/>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4" name="文本框 3"/>
          <p:cNvSpPr txBox="1"/>
          <p:nvPr/>
        </p:nvSpPr>
        <p:spPr>
          <a:xfrm>
            <a:off x="762635" y="95631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Sensitivity Analysis</a:t>
            </a:r>
            <a:endParaRPr lang="en-US" altLang="zh-CN" sz="2000" b="1">
              <a:solidFill>
                <a:srgbClr val="000000"/>
              </a:solidFill>
              <a:latin typeface="Georgia" panose="02040502050405020303" charset="0"/>
              <a:ea typeface="CMR10"/>
              <a:cs typeface="Georgia" panose="02040502050405020303" charset="0"/>
            </a:endParaRPr>
          </a:p>
        </p:txBody>
      </p:sp>
      <p:sp>
        <p:nvSpPr>
          <p:cNvPr id="3" name="文本框 2"/>
          <p:cNvSpPr txBox="1"/>
          <p:nvPr/>
        </p:nvSpPr>
        <p:spPr>
          <a:xfrm>
            <a:off x="1123950" y="22288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sp>
        <p:nvSpPr>
          <p:cNvPr id="11" name="文本框 10"/>
          <p:cNvSpPr txBox="1"/>
          <p:nvPr/>
        </p:nvSpPr>
        <p:spPr>
          <a:xfrm>
            <a:off x="718820" y="4932498"/>
            <a:ext cx="2292350" cy="398780"/>
          </a:xfrm>
          <a:prstGeom prst="rect">
            <a:avLst/>
          </a:prstGeom>
          <a:noFill/>
        </p:spPr>
        <p:txBody>
          <a:bodyPr wrap="square" rtlCol="0">
            <a:spAutoFit/>
          </a:bodyPr>
          <a:lstStyle/>
          <a:p>
            <a:pPr algn="ctr">
              <a:lnSpc>
                <a:spcPct val="125000"/>
              </a:lnSpc>
              <a:spcBef>
                <a:spcPts val="0"/>
              </a:spcBef>
              <a:spcAft>
                <a:spcPts val="0"/>
              </a:spcAft>
            </a:pPr>
            <a:r>
              <a:rPr lang="en-US" altLang="zh-CN" sz="1600">
                <a:latin typeface="Georgia" panose="02040502050405020303" charset="0"/>
                <a:cs typeface="Georgia" panose="02040502050405020303" charset="0"/>
              </a:rPr>
              <a:t>Lead Time</a:t>
            </a:r>
            <a:endParaRPr lang="en-US" altLang="zh-CN" sz="1600">
              <a:latin typeface="Georgia" panose="02040502050405020303" charset="0"/>
              <a:cs typeface="Georgia" panose="02040502050405020303" charset="0"/>
            </a:endParaRPr>
          </a:p>
        </p:txBody>
      </p:sp>
      <p:pic>
        <p:nvPicPr>
          <p:cNvPr id="8" name="图片 7" descr="output"/>
          <p:cNvPicPr>
            <a:picLocks noChangeAspect="1"/>
          </p:cNvPicPr>
          <p:nvPr/>
        </p:nvPicPr>
        <p:blipFill>
          <a:blip r:embed="rId1"/>
          <a:stretch>
            <a:fillRect/>
          </a:stretch>
        </p:blipFill>
        <p:spPr>
          <a:xfrm>
            <a:off x="3020695" y="4109085"/>
            <a:ext cx="8326503" cy="2412000"/>
          </a:xfrm>
          <a:prstGeom prst="rect">
            <a:avLst/>
          </a:prstGeom>
        </p:spPr>
      </p:pic>
      <p:pic>
        <p:nvPicPr>
          <p:cNvPr id="9" name="图片 8" descr="output"/>
          <p:cNvPicPr>
            <a:picLocks noChangeAspect="1"/>
          </p:cNvPicPr>
          <p:nvPr/>
        </p:nvPicPr>
        <p:blipFill>
          <a:blip r:embed="rId2"/>
          <a:stretch>
            <a:fillRect/>
          </a:stretch>
        </p:blipFill>
        <p:spPr>
          <a:xfrm>
            <a:off x="3020695" y="1576070"/>
            <a:ext cx="8326503" cy="2412000"/>
          </a:xfrm>
          <a:prstGeom prst="rect">
            <a:avLst/>
          </a:prstGeom>
        </p:spPr>
      </p:pic>
      <p:sp>
        <p:nvSpPr>
          <p:cNvPr id="10" name="文本框 9"/>
          <p:cNvSpPr txBox="1"/>
          <p:nvPr/>
        </p:nvSpPr>
        <p:spPr>
          <a:xfrm>
            <a:off x="718820" y="2275340"/>
            <a:ext cx="2292350" cy="706755"/>
          </a:xfrm>
          <a:prstGeom prst="rect">
            <a:avLst/>
          </a:prstGeom>
          <a:noFill/>
        </p:spPr>
        <p:txBody>
          <a:bodyPr wrap="square" rtlCol="0">
            <a:spAutoFit/>
          </a:bodyPr>
          <a:lstStyle/>
          <a:p>
            <a:pPr algn="ctr">
              <a:lnSpc>
                <a:spcPct val="125000"/>
              </a:lnSpc>
              <a:spcBef>
                <a:spcPts val="0"/>
              </a:spcBef>
              <a:spcAft>
                <a:spcPts val="0"/>
              </a:spcAft>
            </a:pPr>
            <a:r>
              <a:rPr lang="en-US" altLang="zh-CN" sz="1600">
                <a:latin typeface="Georgia" panose="02040502050405020303" charset="0"/>
                <a:cs typeface="Georgia" panose="02040502050405020303" charset="0"/>
              </a:rPr>
              <a:t>Inventory</a:t>
            </a:r>
            <a:endParaRPr lang="en-US" altLang="zh-CN" sz="1600">
              <a:latin typeface="Georgia" panose="02040502050405020303" charset="0"/>
              <a:cs typeface="Georgia" panose="02040502050405020303" charset="0"/>
            </a:endParaRPr>
          </a:p>
          <a:p>
            <a:pPr algn="ctr">
              <a:lnSpc>
                <a:spcPct val="125000"/>
              </a:lnSpc>
              <a:spcBef>
                <a:spcPts val="0"/>
              </a:spcBef>
              <a:spcAft>
                <a:spcPts val="0"/>
              </a:spcAft>
            </a:pPr>
            <a:r>
              <a:rPr lang="en-US" altLang="zh-CN" sz="1600">
                <a:latin typeface="Georgia" panose="02040502050405020303" charset="0"/>
                <a:cs typeface="Georgia" panose="02040502050405020303" charset="0"/>
              </a:rPr>
              <a:t>Purchase Cost</a:t>
            </a:r>
            <a:endParaRPr lang="en-US" altLang="zh-CN" sz="1600">
              <a:latin typeface="Georgia" panose="02040502050405020303" charset="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1570">
        <p:wipe dir="d"/>
      </p:transition>
    </mc:Choice>
    <mc:Fallback>
      <p:transition advTm="1570">
        <p:wipe dir="d"/>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8" name="文本框 7"/>
          <p:cNvSpPr txBox="1"/>
          <p:nvPr/>
        </p:nvSpPr>
        <p:spPr>
          <a:xfrm>
            <a:off x="644525" y="102489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Sensitivity Analysis </a:t>
            </a:r>
            <a:endParaRPr lang="en-US" altLang="zh-CN" sz="2000" b="1">
              <a:solidFill>
                <a:srgbClr val="000000"/>
              </a:solidFill>
              <a:latin typeface="Georgia" panose="02040502050405020303" charset="0"/>
              <a:ea typeface="CMR10"/>
              <a:cs typeface="Georgia" panose="02040502050405020303" charset="0"/>
            </a:endParaRPr>
          </a:p>
        </p:txBody>
      </p:sp>
      <p:sp>
        <p:nvSpPr>
          <p:cNvPr id="9" name="文本框 8"/>
          <p:cNvSpPr txBox="1"/>
          <p:nvPr/>
        </p:nvSpPr>
        <p:spPr>
          <a:xfrm>
            <a:off x="730250" y="1601470"/>
            <a:ext cx="10761345" cy="1164590"/>
          </a:xfrm>
          <a:prstGeom prst="rect">
            <a:avLst/>
          </a:prstGeom>
          <a:noFill/>
        </p:spPr>
        <p:txBody>
          <a:bodyPr wrap="square" rtlCol="0">
            <a:spAutoFit/>
          </a:bodyPr>
          <a:lstStyle/>
          <a:p>
            <a:pPr marL="285750" indent="-285750" algn="just" fontAlgn="auto">
              <a:lnSpc>
                <a:spcPct val="120000"/>
              </a:lnSpc>
              <a:spcBef>
                <a:spcPts val="600"/>
              </a:spcBef>
              <a:buFont typeface="Arial" panose="020B0604020202020204" pitchFamily="34" charset="0"/>
              <a:buChar char="•"/>
            </a:pPr>
            <a:r>
              <a:rPr lang="en-US" altLang="zh-CN">
                <a:solidFill>
                  <a:srgbClr val="000000"/>
                </a:solidFill>
                <a:latin typeface="Georgia" panose="02040502050405020303" charset="0"/>
                <a:ea typeface="CMR10"/>
                <a:cs typeface="Georgia" panose="02040502050405020303" charset="0"/>
                <a:sym typeface="+mn-ea"/>
              </a:rPr>
              <a:t>The transportation cost (per unit per distance) is an additional burden that needs to be borne.</a:t>
            </a:r>
            <a:endParaRPr lang="en-US" altLang="zh-CN">
              <a:solidFill>
                <a:srgbClr val="000000"/>
              </a:solidFill>
              <a:latin typeface="Georgia" panose="02040502050405020303" charset="0"/>
              <a:ea typeface="CMR10"/>
              <a:cs typeface="Georgia" panose="02040502050405020303" charset="0"/>
              <a:sym typeface="+mn-ea"/>
            </a:endParaRPr>
          </a:p>
          <a:p>
            <a:pPr marL="285750" indent="-285750" algn="just" fontAlgn="auto">
              <a:lnSpc>
                <a:spcPct val="120000"/>
              </a:lnSpc>
              <a:spcBef>
                <a:spcPts val="600"/>
              </a:spcBef>
              <a:buFont typeface="Arial" panose="020B0604020202020204" pitchFamily="34" charset="0"/>
              <a:buChar char="•"/>
            </a:pPr>
            <a:r>
              <a:rPr lang="en-US" altLang="zh-CN">
                <a:solidFill>
                  <a:srgbClr val="000000"/>
                </a:solidFill>
                <a:latin typeface="Georgia" panose="02040502050405020303" charset="0"/>
                <a:ea typeface="CMR10"/>
                <a:cs typeface="Georgia" panose="02040502050405020303" charset="0"/>
                <a:sym typeface="+mn-ea"/>
              </a:rPr>
              <a:t>Different from the transshipment cost, the transshipment extra price can be adjusted to modulate the transshipment market’s activity.</a:t>
            </a:r>
            <a:endParaRPr lang="en-US" altLang="zh-CN">
              <a:solidFill>
                <a:srgbClr val="000000"/>
              </a:solidFill>
              <a:latin typeface="Georgia" panose="02040502050405020303" charset="0"/>
              <a:ea typeface="CMR10"/>
              <a:cs typeface="Georgia" panose="02040502050405020303" charset="0"/>
              <a:sym typeface="+mn-ea"/>
            </a:endParaRPr>
          </a:p>
        </p:txBody>
      </p:sp>
      <p:pic>
        <p:nvPicPr>
          <p:cNvPr id="3" name="图片 2" descr="output"/>
          <p:cNvPicPr>
            <a:picLocks noChangeAspect="1"/>
          </p:cNvPicPr>
          <p:nvPr/>
        </p:nvPicPr>
        <p:blipFill>
          <a:blip r:embed="rId1"/>
          <a:stretch>
            <a:fillRect/>
          </a:stretch>
        </p:blipFill>
        <p:spPr>
          <a:xfrm>
            <a:off x="3669030" y="3042285"/>
            <a:ext cx="4724400" cy="3312160"/>
          </a:xfrm>
          <a:prstGeom prst="rect">
            <a:avLst/>
          </a:prstGeom>
        </p:spPr>
      </p:pic>
      <p:sp>
        <p:nvSpPr>
          <p:cNvPr id="4" name="文本框 3"/>
          <p:cNvSpPr txBox="1"/>
          <p:nvPr/>
        </p:nvSpPr>
        <p:spPr>
          <a:xfrm>
            <a:off x="1123950" y="22288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spTree>
  </p:cSld>
  <p:clrMapOvr>
    <a:masterClrMapping/>
  </p:clrMapOvr>
  <mc:AlternateContent xmlns:mc="http://schemas.openxmlformats.org/markup-compatibility/2006">
    <mc:Choice xmlns:p14="http://schemas.microsoft.com/office/powerpoint/2010/main" Requires="p14">
      <p:transition p14:dur="250">
        <p:wipe dir="d"/>
      </p:transition>
    </mc:Choice>
    <mc:Fallback>
      <p:transition>
        <p:wipe dir="d"/>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7" name="文本框 6"/>
          <p:cNvSpPr txBox="1"/>
          <p:nvPr/>
        </p:nvSpPr>
        <p:spPr>
          <a:xfrm>
            <a:off x="617855" y="951865"/>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Effect of Different Reward Setting</a:t>
            </a:r>
            <a:endParaRPr lang="en-US" altLang="zh-CN" sz="2000" b="1">
              <a:solidFill>
                <a:srgbClr val="000000"/>
              </a:solidFill>
              <a:latin typeface="Georgia" panose="02040502050405020303" charset="0"/>
              <a:ea typeface="CMR10"/>
              <a:cs typeface="Georgia" panose="02040502050405020303" charset="0"/>
            </a:endParaRPr>
          </a:p>
        </p:txBody>
      </p:sp>
      <p:sp>
        <p:nvSpPr>
          <p:cNvPr id="14" name="文本框 13"/>
          <p:cNvSpPr txBox="1"/>
          <p:nvPr/>
        </p:nvSpPr>
        <p:spPr>
          <a:xfrm>
            <a:off x="873125" y="3580765"/>
            <a:ext cx="6096000" cy="36830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a:latin typeface="Georgia" panose="02040502050405020303" charset="0"/>
                <a:cs typeface="Georgia" panose="02040502050405020303" charset="0"/>
                <a:sym typeface="+mn-ea"/>
              </a:rPr>
              <a:t>Transshipment Reward Setting:</a:t>
            </a:r>
            <a:endParaRPr lang="en-US" altLang="zh-CN">
              <a:latin typeface="Georgia" panose="02040502050405020303" charset="0"/>
              <a:cs typeface="Georgia" panose="02040502050405020303" charset="0"/>
              <a:sym typeface="+mn-ea"/>
            </a:endParaRPr>
          </a:p>
        </p:txBody>
      </p:sp>
      <p:sp>
        <p:nvSpPr>
          <p:cNvPr id="8" name="文本框 7"/>
          <p:cNvSpPr txBox="1"/>
          <p:nvPr/>
        </p:nvSpPr>
        <p:spPr>
          <a:xfrm>
            <a:off x="873125" y="1621155"/>
            <a:ext cx="3686175" cy="36830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a:latin typeface="Georgia" panose="02040502050405020303" charset="0"/>
                <a:cs typeface="Georgia" panose="02040502050405020303" charset="0"/>
                <a:sym typeface="+mn-ea"/>
              </a:rPr>
              <a:t>Replenishment Reward Setting: </a:t>
            </a:r>
            <a:endParaRPr lang="en-US" altLang="zh-CN">
              <a:latin typeface="Georgia" panose="02040502050405020303" charset="0"/>
              <a:cs typeface="Georgia" panose="02040502050405020303" charset="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1474470" y="2134870"/>
                <a:ext cx="3482340" cy="337185"/>
              </a:xfrm>
              <a:prstGeom prst="rect">
                <a:avLst/>
              </a:prstGeom>
              <a:noFill/>
            </p:spPr>
            <p:txBody>
              <a:bodyPr wrap="square" rtlCol="0" anchor="t">
                <a:spAutoFit/>
              </a:bodyPr>
              <a:lstStyle/>
              <a:p>
                <a:pPr indent="0" algn="ctr">
                  <a:buFont typeface="Arial" panose="020B0604020202020204" pitchFamily="34" charset="0"/>
                  <a:buNone/>
                </a:pPr>
                <a:r>
                  <a:rPr lang="en-US" altLang="zh-CN" sz="1600">
                    <a:latin typeface="Georgia" panose="02040502050405020303" charset="0"/>
                    <a:cs typeface="Georgia" panose="02040502050405020303" charset="0"/>
                    <a:sym typeface="+mn-ea"/>
                  </a:rPr>
                  <a:t>hyperparamter of group weight </a:t>
                </a:r>
                <a14:m>
                  <m:oMath xmlns:m="http://schemas.openxmlformats.org/officeDocument/2006/math">
                    <m:r>
                      <a:rPr lang="en-US" altLang="zh-CN" sz="1600" i="1">
                        <a:latin typeface="Cambria Math" panose="02040503050406030204" charset="0"/>
                        <a:cs typeface="Cambria Math" panose="02040503050406030204" charset="0"/>
                        <a:sym typeface="+mn-ea"/>
                      </a:rPr>
                      <m:t>𝜉</m:t>
                    </m:r>
                  </m:oMath>
                </a14:m>
                <a:r>
                  <a:rPr lang="en-US" altLang="zh-CN" sz="1600" i="1">
                    <a:latin typeface="Cambria Math" panose="02040503050406030204" charset="0"/>
                    <a:cs typeface="Cambria Math" panose="02040503050406030204" charset="0"/>
                    <a:sym typeface="+mn-ea"/>
                  </a:rPr>
                  <a:t> </a:t>
                </a:r>
                <a:endParaRPr lang="en-US" altLang="zh-CN" sz="1600" i="1">
                  <a:latin typeface="Cambria Math" panose="02040503050406030204" charset="0"/>
                  <a:cs typeface="Cambria Math" panose="02040503050406030204" charset="0"/>
                  <a:sym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1474470" y="2134870"/>
                <a:ext cx="3482340" cy="337185"/>
              </a:xfrm>
              <a:prstGeom prst="rect">
                <a:avLst/>
              </a:prstGeom>
              <a:blipFill rotWithShape="1">
                <a:blip r:embed="rId1"/>
                <a:stretch>
                  <a:fillRect/>
                </a:stretch>
              </a:blipFill>
            </p:spPr>
            <p:txBody>
              <a:bodyPr/>
              <a:lstStyle/>
              <a:p>
                <a:r>
                  <a:rPr lang="zh-CN" altLang="en-US">
                    <a:noFill/>
                  </a:rPr>
                  <a:t> </a:t>
                </a:r>
              </a:p>
            </p:txBody>
          </p:sp>
        </mc:Fallback>
      </mc:AlternateContent>
      <p:grpSp>
        <p:nvGrpSpPr>
          <p:cNvPr id="13" name="组合 12"/>
          <p:cNvGrpSpPr/>
          <p:nvPr/>
        </p:nvGrpSpPr>
        <p:grpSpPr>
          <a:xfrm>
            <a:off x="1189355" y="2557145"/>
            <a:ext cx="3916045" cy="746125"/>
            <a:chOff x="3049" y="4266"/>
            <a:chExt cx="6167" cy="1175"/>
          </a:xfrm>
        </p:grpSpPr>
        <mc:AlternateContent xmlns:mc="http://schemas.openxmlformats.org/markup-compatibility/2006">
          <mc:Choice xmlns:a14="http://schemas.microsoft.com/office/drawing/2010/main" Requires="a14">
            <p:sp>
              <p:nvSpPr>
                <p:cNvPr id="11" name="文本框 10"/>
                <p:cNvSpPr txBox="1"/>
                <p:nvPr/>
              </p:nvSpPr>
              <p:spPr>
                <a:xfrm>
                  <a:off x="3049" y="4266"/>
                  <a:ext cx="6167" cy="733"/>
                </a:xfrm>
                <a:prstGeom prst="rect">
                  <a:avLst/>
                </a:prstGeom>
                <a:noFill/>
              </p:spPr>
              <p:txBody>
                <a:bodyPr wrap="square" rtlCol="0" anchor="t">
                  <a:spAutoFit/>
                </a:bodyPr>
                <a:lstStyle/>
                <a:p>
                  <a:pPr algn="ctr"/>
                  <a:r>
                    <a:rPr lang="en-US" altLang="zh-CN" sz="2000">
                      <a:solidFill>
                        <a:schemeClr val="tx1"/>
                      </a:solidFill>
                      <a:latin typeface="Cambria Math" panose="02040503050406030204" charset="0"/>
                      <a:cs typeface="Cambria Math" panose="02040503050406030204" charset="0"/>
                    </a:rPr>
                    <a:t> </a:t>
                  </a:r>
                  <a14:m>
                    <m:oMath xmlns:m="http://schemas.openxmlformats.org/officeDocument/2006/math">
                      <m:sSubSup>
                        <m:sSubSupPr>
                          <m:ctrlPr>
                            <a:rPr lang="en-US" altLang="zh-CN" sz="2000" i="1">
                              <a:solidFill>
                                <a:schemeClr val="tx1"/>
                              </a:solidFill>
                              <a:latin typeface="Cambria Math" panose="02040503050406030204" charset="0"/>
                              <a:cs typeface="Cambria Math" panose="02040503050406030204" charset="0"/>
                            </a:rPr>
                          </m:ctrlPr>
                        </m:sSubSupPr>
                        <m:e>
                          <m:r>
                            <a:rPr lang="en-US" altLang="zh-CN" sz="2000" i="1">
                              <a:solidFill>
                                <a:schemeClr val="tx1"/>
                              </a:solidFill>
                              <a:latin typeface="Cambria Math" panose="02040503050406030204" charset="0"/>
                              <a:cs typeface="Cambria Math" panose="02040503050406030204" charset="0"/>
                            </a:rPr>
                            <m:t>𝑟𝑛</m:t>
                          </m:r>
                        </m:e>
                        <m:sub>
                          <m:r>
                            <a:rPr lang="en-US" altLang="zh-CN" sz="2000" i="1">
                              <a:solidFill>
                                <a:schemeClr val="tx1"/>
                              </a:solidFill>
                              <a:latin typeface="Cambria Math" panose="02040503050406030204" charset="0"/>
                              <a:cs typeface="Cambria Math" panose="02040503050406030204" charset="0"/>
                            </a:rPr>
                            <m:t>𝑡</m:t>
                          </m:r>
                        </m:sub>
                        <m:sup>
                          <m:r>
                            <a:rPr lang="en-US" altLang="zh-CN" sz="2000" i="1">
                              <a:solidFill>
                                <a:schemeClr val="tx1"/>
                              </a:solidFill>
                              <a:latin typeface="Cambria Math" panose="02040503050406030204" charset="0"/>
                              <a:cs typeface="Cambria Math" panose="02040503050406030204" charset="0"/>
                            </a:rPr>
                            <m:t>𝑖</m:t>
                          </m:r>
                        </m:sup>
                      </m:sSubSup>
                      <m:r>
                        <a:rPr lang="en-US" altLang="zh-CN" sz="2000" i="1">
                          <a:solidFill>
                            <a:schemeClr val="tx1"/>
                          </a:solidFill>
                          <a:latin typeface="Cambria Math" panose="02040503050406030204" charset="0"/>
                          <a:cs typeface="Cambria Math" panose="02040503050406030204" charset="0"/>
                        </a:rPr>
                        <m:t>=</m:t>
                      </m:r>
                      <m:d>
                        <m:dPr>
                          <m:ctrlPr>
                            <a:rPr lang="en-US" altLang="zh-CN" sz="2000" i="1">
                              <a:solidFill>
                                <a:srgbClr val="C00000"/>
                              </a:solidFill>
                              <a:latin typeface="Cambria Math" panose="02040503050406030204" charset="0"/>
                              <a:cs typeface="Cambria Math" panose="02040503050406030204" charset="0"/>
                            </a:rPr>
                          </m:ctrlPr>
                        </m:dPr>
                        <m:e>
                          <m:r>
                            <a:rPr lang="en-US" altLang="zh-CN" sz="2000" i="1">
                              <a:solidFill>
                                <a:srgbClr val="C00000"/>
                              </a:solidFill>
                              <a:latin typeface="Cambria Math" panose="02040503050406030204" charset="0"/>
                              <a:cs typeface="Cambria Math" panose="02040503050406030204" charset="0"/>
                            </a:rPr>
                            <m:t>1</m:t>
                          </m:r>
                          <m:r>
                            <a:rPr lang="en-US" altLang="zh-CN" sz="2000" i="1">
                              <a:solidFill>
                                <a:srgbClr val="C00000"/>
                              </a:solidFill>
                              <a:latin typeface="Cambria Math" panose="02040503050406030204" charset="0"/>
                              <a:cs typeface="Cambria Math" panose="02040503050406030204" charset="0"/>
                            </a:rPr>
                            <m:t>−</m:t>
                          </m:r>
                          <m:r>
                            <a:rPr lang="en-US" altLang="zh-CN" sz="2000" i="1">
                              <a:solidFill>
                                <a:srgbClr val="C00000"/>
                              </a:solidFill>
                              <a:latin typeface="Cambria Math" panose="02040503050406030204" charset="0"/>
                              <a:cs typeface="Cambria Math" panose="02040503050406030204" charset="0"/>
                              <a:sym typeface="+mn-ea"/>
                            </a:rPr>
                            <m:t>𝜉</m:t>
                          </m:r>
                        </m:e>
                      </m:d>
                      <m:r>
                        <a:rPr lang="en-US" altLang="zh-CN" sz="2000" i="1">
                          <a:solidFill>
                            <a:srgbClr val="C00000"/>
                          </a:solidFill>
                          <a:latin typeface="Cambria Math" panose="02040503050406030204" charset="0"/>
                          <a:cs typeface="Cambria Math" panose="02040503050406030204" charset="0"/>
                        </a:rPr>
                        <m:t>∙</m:t>
                      </m:r>
                      <m:sSubSup>
                        <m:sSubSupPr>
                          <m:ctrlPr>
                            <a:rPr lang="en-US" altLang="zh-CN" sz="2000" i="1">
                              <a:solidFill>
                                <a:schemeClr val="tx1"/>
                              </a:solidFill>
                              <a:latin typeface="Cambria Math" panose="02040503050406030204" charset="0"/>
                              <a:cs typeface="Cambria Math" panose="02040503050406030204" charset="0"/>
                            </a:rPr>
                          </m:ctrlPr>
                        </m:sSubSupPr>
                        <m:e>
                          <m:r>
                            <a:rPr lang="en-US" altLang="zh-CN" sz="2000" i="1">
                              <a:solidFill>
                                <a:schemeClr val="tx1"/>
                              </a:solidFill>
                              <a:latin typeface="Cambria Math" panose="02040503050406030204" charset="0"/>
                              <a:cs typeface="Cambria Math" panose="02040503050406030204" charset="0"/>
                            </a:rPr>
                            <m:t>𝑅𝑉</m:t>
                          </m:r>
                        </m:e>
                        <m:sub>
                          <m:r>
                            <a:rPr lang="en-US" altLang="zh-CN" sz="2000" i="1">
                              <a:solidFill>
                                <a:schemeClr val="tx1"/>
                              </a:solidFill>
                              <a:latin typeface="Cambria Math" panose="02040503050406030204" charset="0"/>
                              <a:cs typeface="Cambria Math" panose="02040503050406030204" charset="0"/>
                            </a:rPr>
                            <m:t>𝑡</m:t>
                          </m:r>
                        </m:sub>
                        <m:sup>
                          <m:r>
                            <a:rPr lang="en-US" altLang="zh-CN" sz="2000" i="1">
                              <a:solidFill>
                                <a:schemeClr val="tx1"/>
                              </a:solidFill>
                              <a:latin typeface="Cambria Math" panose="02040503050406030204" charset="0"/>
                              <a:cs typeface="Cambria Math" panose="02040503050406030204" charset="0"/>
                            </a:rPr>
                            <m:t>𝑖</m:t>
                          </m:r>
                        </m:sup>
                      </m:sSubSup>
                      <m:r>
                        <a:rPr lang="en-US" altLang="zh-CN" sz="2000" i="1">
                          <a:solidFill>
                            <a:schemeClr val="tx1"/>
                          </a:solidFill>
                          <a:latin typeface="Cambria Math" panose="02040503050406030204" charset="0"/>
                          <a:cs typeface="Cambria Math" panose="02040503050406030204" charset="0"/>
                        </a:rPr>
                        <m:t>+</m:t>
                      </m:r>
                      <m:r>
                        <a:rPr lang="en-US" altLang="zh-CN" sz="2000" i="1">
                          <a:solidFill>
                            <a:srgbClr val="C00000"/>
                          </a:solidFill>
                          <a:latin typeface="Cambria Math" panose="02040503050406030204" charset="0"/>
                          <a:cs typeface="Cambria Math" panose="02040503050406030204" charset="0"/>
                          <a:sym typeface="+mn-ea"/>
                        </a:rPr>
                        <m:t>𝜉</m:t>
                      </m:r>
                      <m:r>
                        <a:rPr lang="en-US" altLang="zh-CN" sz="2000" i="1">
                          <a:solidFill>
                            <a:srgbClr val="C00000"/>
                          </a:solidFill>
                          <a:latin typeface="Cambria Math" panose="02040503050406030204" charset="0"/>
                          <a:cs typeface="Cambria Math" panose="02040503050406030204" charset="0"/>
                          <a:sym typeface="+mn-ea"/>
                        </a:rPr>
                        <m:t>∙</m:t>
                      </m:r>
                      <m:nary>
                        <m:naryPr>
                          <m:chr m:val="∑"/>
                          <m:limLoc m:val="subSup"/>
                          <m:ctrlPr>
                            <a:rPr lang="en-US" altLang="zh-CN" sz="2000" i="1">
                              <a:solidFill>
                                <a:schemeClr val="tx1"/>
                              </a:solidFill>
                              <a:latin typeface="Cambria Math" panose="02040503050406030204" charset="0"/>
                              <a:cs typeface="Cambria Math" panose="02040503050406030204" charset="0"/>
                              <a:sym typeface="+mn-ea"/>
                            </a:rPr>
                          </m:ctrlPr>
                        </m:naryPr>
                        <m:sub>
                          <m:r>
                            <a:rPr lang="en-US" altLang="zh-CN" sz="2000" i="1">
                              <a:solidFill>
                                <a:schemeClr val="tx1"/>
                              </a:solidFill>
                              <a:latin typeface="Cambria Math" panose="02040503050406030204" charset="0"/>
                              <a:cs typeface="Cambria Math" panose="02040503050406030204" charset="0"/>
                              <a:sym typeface="+mn-ea"/>
                            </a:rPr>
                            <m:t>𝑖</m:t>
                          </m:r>
                          <m:r>
                            <a:rPr lang="en-US" altLang="zh-CN" sz="2000" i="1">
                              <a:solidFill>
                                <a:schemeClr val="tx1"/>
                              </a:solidFill>
                              <a:latin typeface="Cambria Math" panose="02040503050406030204" charset="0"/>
                              <a:cs typeface="Cambria Math" panose="02040503050406030204" charset="0"/>
                              <a:sym typeface="+mn-ea"/>
                            </a:rPr>
                            <m:t>=</m:t>
                          </m:r>
                          <m:r>
                            <a:rPr lang="en-US" altLang="zh-CN" sz="2000" i="1">
                              <a:solidFill>
                                <a:schemeClr val="tx1"/>
                              </a:solidFill>
                              <a:latin typeface="Cambria Math" panose="02040503050406030204" charset="0"/>
                              <a:cs typeface="Cambria Math" panose="02040503050406030204" charset="0"/>
                              <a:sym typeface="+mn-ea"/>
                            </a:rPr>
                            <m:t>1</m:t>
                          </m:r>
                        </m:sub>
                        <m:sup>
                          <m:r>
                            <a:rPr lang="en-US" altLang="zh-CN" sz="2000" i="1">
                              <a:solidFill>
                                <a:schemeClr val="tx1"/>
                              </a:solidFill>
                              <a:latin typeface="Cambria Math" panose="02040503050406030204" charset="0"/>
                              <a:cs typeface="Cambria Math" panose="02040503050406030204" charset="0"/>
                              <a:sym typeface="+mn-ea"/>
                            </a:rPr>
                            <m:t>𝑁</m:t>
                          </m:r>
                        </m:sup>
                        <m:e>
                          <m:sSubSup>
                            <m:sSubSupPr>
                              <m:ctrlPr>
                                <a:rPr lang="en-US" altLang="zh-CN" sz="2000" i="1">
                                  <a:solidFill>
                                    <a:schemeClr val="tx1"/>
                                  </a:solidFill>
                                  <a:latin typeface="Cambria Math" panose="02040503050406030204" charset="0"/>
                                  <a:cs typeface="Cambria Math" panose="02040503050406030204" charset="0"/>
                                </a:rPr>
                              </m:ctrlPr>
                            </m:sSubSupPr>
                            <m:e>
                              <m:r>
                                <a:rPr lang="en-US" altLang="zh-CN" sz="2000" i="1">
                                  <a:solidFill>
                                    <a:schemeClr val="tx1"/>
                                  </a:solidFill>
                                  <a:latin typeface="Cambria Math" panose="02040503050406030204" charset="0"/>
                                  <a:cs typeface="Cambria Math" panose="02040503050406030204" charset="0"/>
                                </a:rPr>
                                <m:t>𝑅𝑉</m:t>
                              </m:r>
                            </m:e>
                            <m:sub>
                              <m:r>
                                <a:rPr lang="en-US" altLang="zh-CN" sz="2000" i="1">
                                  <a:solidFill>
                                    <a:schemeClr val="tx1"/>
                                  </a:solidFill>
                                  <a:latin typeface="Cambria Math" panose="02040503050406030204" charset="0"/>
                                  <a:cs typeface="Cambria Math" panose="02040503050406030204" charset="0"/>
                                </a:rPr>
                                <m:t>𝑡</m:t>
                              </m:r>
                            </m:sub>
                            <m:sup>
                              <m:r>
                                <a:rPr lang="en-US" altLang="zh-CN" sz="2000" i="1">
                                  <a:solidFill>
                                    <a:schemeClr val="tx1"/>
                                  </a:solidFill>
                                  <a:latin typeface="Cambria Math" panose="02040503050406030204" charset="0"/>
                                  <a:cs typeface="Cambria Math" panose="02040503050406030204" charset="0"/>
                                </a:rPr>
                                <m:t>𝑖</m:t>
                              </m:r>
                            </m:sup>
                          </m:sSubSup>
                        </m:e>
                      </m:nary>
                    </m:oMath>
                  </a14:m>
                  <a:endParaRPr lang="en-US" altLang="zh-CN" sz="2000" i="1">
                    <a:solidFill>
                      <a:schemeClr val="tx1"/>
                    </a:solidFill>
                    <a:latin typeface="Cambria Math" panose="02040503050406030204" charset="0"/>
                    <a:cs typeface="Cambria Math" panose="02040503050406030204" charset="0"/>
                    <a:sym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3049" y="4266"/>
                  <a:ext cx="6167" cy="733"/>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5001" y="4910"/>
                  <a:ext cx="2263" cy="531"/>
                </a:xfrm>
                <a:prstGeom prst="rect">
                  <a:avLst/>
                </a:prstGeom>
                <a:noFill/>
              </p:spPr>
              <p:txBody>
                <a:bodyPr wrap="square" rtlCol="0" anchor="t">
                  <a:spAutoFit/>
                </a:bodyPr>
                <a:lstStyle/>
                <a:p>
                  <a:pPr algn="ctr"/>
                  <a:r>
                    <a:rPr lang="en-US" altLang="zh-CN" sz="1600">
                      <a:latin typeface="Georgia" panose="02040502050405020303" charset="0"/>
                      <a:cs typeface="Georgia" panose="02040502050405020303" charset="0"/>
                      <a:sym typeface="+mn-ea"/>
                    </a:rPr>
                    <a:t>(default </a:t>
                  </a:r>
                  <a14:m>
                    <m:oMath xmlns:m="http://schemas.openxmlformats.org/officeDocument/2006/math">
                      <m:r>
                        <a:rPr lang="en-US" altLang="zh-CN" sz="1600" i="1">
                          <a:latin typeface="Cambria Math" panose="02040503050406030204" charset="0"/>
                          <a:cs typeface="Cambria Math" panose="02040503050406030204" charset="0"/>
                          <a:sym typeface="+mn-ea"/>
                        </a:rPr>
                        <m:t>𝜉</m:t>
                      </m:r>
                      <m:r>
                        <a:rPr lang="en-US" altLang="zh-CN" sz="1600" i="1">
                          <a:latin typeface="Cambria Math" panose="02040503050406030204" charset="0"/>
                          <a:cs typeface="Cambria Math" panose="02040503050406030204" charset="0"/>
                          <a:sym typeface="+mn-ea"/>
                        </a:rPr>
                        <m:t>=</m:t>
                      </m:r>
                      <m:r>
                        <a:rPr lang="en-US" altLang="zh-CN" sz="1600" i="1">
                          <a:latin typeface="Cambria Math" panose="02040503050406030204" charset="0"/>
                          <a:cs typeface="Cambria Math" panose="02040503050406030204" charset="0"/>
                          <a:sym typeface="+mn-ea"/>
                        </a:rPr>
                        <m:t>0</m:t>
                      </m:r>
                    </m:oMath>
                  </a14:m>
                  <a:r>
                    <a:rPr lang="en-US" altLang="zh-CN" sz="1600">
                      <a:latin typeface="Georgia" panose="02040502050405020303" charset="0"/>
                      <a:cs typeface="Georgia" panose="02040502050405020303" charset="0"/>
                      <a:sym typeface="+mn-ea"/>
                    </a:rPr>
                    <a:t>)</a:t>
                  </a:r>
                  <a:endParaRPr lang="en-US" altLang="zh-CN" sz="1600">
                    <a:latin typeface="Georgia" panose="02040502050405020303" charset="0"/>
                    <a:cs typeface="Georgia" panose="02040502050405020303" charset="0"/>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5001" y="4910"/>
                  <a:ext cx="2263" cy="531"/>
                </a:xfrm>
                <a:prstGeom prst="rect">
                  <a:avLst/>
                </a:prstGeom>
                <a:blipFill rotWithShape="1">
                  <a:blip r:embed="rId3"/>
                </a:blipFill>
              </p:spPr>
              <p:txBody>
                <a:bodyPr/>
                <a:lstStyle/>
                <a:p>
                  <a:r>
                    <a:rPr lang="zh-CN" altLang="en-US">
                      <a:noFill/>
                    </a:rPr>
                    <a:t> </a:t>
                  </a:r>
                </a:p>
              </p:txBody>
            </p:sp>
          </mc:Fallback>
        </mc:AlternateContent>
      </p:grpSp>
      <p:grpSp>
        <p:nvGrpSpPr>
          <p:cNvPr id="34" name="组合 33"/>
          <p:cNvGrpSpPr/>
          <p:nvPr/>
        </p:nvGrpSpPr>
        <p:grpSpPr>
          <a:xfrm>
            <a:off x="9015730" y="2035175"/>
            <a:ext cx="2369820" cy="1487805"/>
            <a:chOff x="1877" y="6757"/>
            <a:chExt cx="3732" cy="2343"/>
          </a:xfrm>
        </p:grpSpPr>
        <p:sp>
          <p:nvSpPr>
            <p:cNvPr id="31" name="圆角矩形 30"/>
            <p:cNvSpPr/>
            <p:nvPr/>
          </p:nvSpPr>
          <p:spPr>
            <a:xfrm>
              <a:off x="1911" y="6757"/>
              <a:ext cx="2028" cy="1945"/>
            </a:xfrm>
            <a:prstGeom prst="roundRect">
              <a:avLst>
                <a:gd name="adj" fmla="val 8308"/>
              </a:avLst>
            </a:prstGeom>
            <a:noFill/>
            <a:ln>
              <a:solidFill>
                <a:schemeClr val="bg1">
                  <a:lumMod val="50000"/>
                </a:schemeClr>
              </a:solidFill>
            </a:ln>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036" y="6815"/>
              <a:ext cx="495" cy="495"/>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A</a:t>
              </a:r>
              <a:endParaRPr lang="en-US" altLang="zh-CN">
                <a:solidFill>
                  <a:schemeClr val="tx1"/>
                </a:solidFill>
              </a:endParaRPr>
            </a:p>
          </p:txBody>
        </p:sp>
        <p:sp>
          <p:nvSpPr>
            <p:cNvPr id="17" name="椭圆 16"/>
            <p:cNvSpPr/>
            <p:nvPr/>
          </p:nvSpPr>
          <p:spPr>
            <a:xfrm>
              <a:off x="3187" y="7482"/>
              <a:ext cx="495" cy="495"/>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B</a:t>
              </a:r>
              <a:endParaRPr lang="en-US" altLang="zh-CN">
                <a:solidFill>
                  <a:schemeClr val="tx1"/>
                </a:solidFill>
              </a:endParaRPr>
            </a:p>
          </p:txBody>
        </p:sp>
        <p:sp>
          <p:nvSpPr>
            <p:cNvPr id="18" name="椭圆 17"/>
            <p:cNvSpPr/>
            <p:nvPr/>
          </p:nvSpPr>
          <p:spPr>
            <a:xfrm>
              <a:off x="2036" y="8149"/>
              <a:ext cx="495" cy="495"/>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C</a:t>
              </a:r>
              <a:endParaRPr lang="en-US" altLang="zh-CN">
                <a:solidFill>
                  <a:schemeClr val="tx1"/>
                </a:solidFill>
              </a:endParaRPr>
            </a:p>
          </p:txBody>
        </p:sp>
        <p:cxnSp>
          <p:nvCxnSpPr>
            <p:cNvPr id="20" name="直接箭头连接符 19"/>
            <p:cNvCxnSpPr>
              <a:stCxn id="16" idx="4"/>
              <a:endCxn id="18" idx="0"/>
            </p:cNvCxnSpPr>
            <p:nvPr/>
          </p:nvCxnSpPr>
          <p:spPr>
            <a:xfrm>
              <a:off x="2284" y="7310"/>
              <a:ext cx="0" cy="839"/>
            </a:xfrm>
            <a:prstGeom prst="straightConnector1">
              <a:avLst/>
            </a:prstGeom>
            <a:ln w="12700">
              <a:solidFill>
                <a:schemeClr val="bg2">
                  <a:lumMod val="75000"/>
                </a:schemeClr>
              </a:solidFill>
              <a:prstDash val="dash"/>
              <a:headEnd type="none"/>
              <a:tailEnd type="none"/>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a:off x="2531" y="7163"/>
              <a:ext cx="706" cy="445"/>
            </a:xfrm>
            <a:prstGeom prst="line">
              <a:avLst/>
            </a:prstGeom>
            <a:ln w="19050">
              <a:solidFill>
                <a:schemeClr val="bg2">
                  <a:lumMod val="50000"/>
                </a:schemeClr>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flipV="1">
              <a:off x="2523" y="7914"/>
              <a:ext cx="741" cy="381"/>
            </a:xfrm>
            <a:prstGeom prst="line">
              <a:avLst/>
            </a:prstGeom>
            <a:ln w="1270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V="1">
              <a:off x="2932" y="7095"/>
              <a:ext cx="228" cy="225"/>
            </a:xfrm>
            <a:prstGeom prst="line">
              <a:avLst/>
            </a:prstGeom>
            <a:ln w="9525">
              <a:solidFill>
                <a:srgbClr val="00B050"/>
              </a:solidFill>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3064" y="6769"/>
              <a:ext cx="1964" cy="386"/>
            </a:xfrm>
            <a:prstGeom prst="rect">
              <a:avLst/>
            </a:prstGeom>
            <a:noFill/>
          </p:spPr>
          <p:txBody>
            <a:bodyPr wrap="square" rtlCol="0">
              <a:spAutoFit/>
            </a:bodyPr>
            <a:lstStyle/>
            <a:p>
              <a:r>
                <a:rPr lang="en-US" altLang="zh-CN" sz="1000">
                  <a:solidFill>
                    <a:srgbClr val="00B050"/>
                  </a:solidFill>
                  <a:latin typeface="Georgia" panose="02040502050405020303" charset="0"/>
                  <a:cs typeface="Georgia" panose="02040502050405020303" charset="0"/>
                </a:rPr>
                <a:t>counter-factual</a:t>
              </a:r>
              <a:endParaRPr lang="en-US" altLang="zh-CN" sz="1000">
                <a:solidFill>
                  <a:srgbClr val="00B050"/>
                </a:solidFill>
                <a:latin typeface="Georgia" panose="02040502050405020303" charset="0"/>
                <a:cs typeface="Georgia" panose="02040502050405020303" charset="0"/>
              </a:endParaRPr>
            </a:p>
          </p:txBody>
        </p:sp>
        <p:sp>
          <p:nvSpPr>
            <p:cNvPr id="25" name="圆角矩形 24"/>
            <p:cNvSpPr/>
            <p:nvPr/>
          </p:nvSpPr>
          <p:spPr>
            <a:xfrm rot="1860000">
              <a:off x="1877" y="7105"/>
              <a:ext cx="1969" cy="596"/>
            </a:xfrm>
            <a:prstGeom prst="roundRect">
              <a:avLst>
                <a:gd name="adj" fmla="val 21942"/>
              </a:avLst>
            </a:prstGeom>
            <a:noFill/>
            <a:ln>
              <a:solidFill>
                <a:srgbClr val="7030A0"/>
              </a:solidFill>
            </a:ln>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flipH="1" flipV="1">
              <a:off x="3590" y="8165"/>
              <a:ext cx="146" cy="210"/>
            </a:xfrm>
            <a:prstGeom prst="line">
              <a:avLst/>
            </a:prstGeom>
            <a:ln w="9525">
              <a:solidFill>
                <a:srgbClr val="7030A0"/>
              </a:solidFill>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3208" y="8280"/>
              <a:ext cx="1110" cy="386"/>
            </a:xfrm>
            <a:prstGeom prst="rect">
              <a:avLst/>
            </a:prstGeom>
            <a:noFill/>
          </p:spPr>
          <p:txBody>
            <a:bodyPr wrap="square" rtlCol="0">
              <a:spAutoFit/>
            </a:bodyPr>
            <a:lstStyle/>
            <a:p>
              <a:pPr algn="ctr"/>
              <a:r>
                <a:rPr lang="en-US" altLang="zh-CN" sz="1000">
                  <a:solidFill>
                    <a:srgbClr val="7030A0"/>
                  </a:solidFill>
                  <a:latin typeface="Georgia" panose="02040502050405020303" charset="0"/>
                  <a:cs typeface="Georgia" panose="02040502050405020303" charset="0"/>
                </a:rPr>
                <a:t>pair-wise</a:t>
              </a:r>
              <a:endParaRPr lang="en-US" altLang="zh-CN" sz="1000">
                <a:solidFill>
                  <a:srgbClr val="7030A0"/>
                </a:solidFill>
                <a:latin typeface="Georgia" panose="02040502050405020303" charset="0"/>
                <a:cs typeface="Georgia" panose="02040502050405020303" charset="0"/>
              </a:endParaRPr>
            </a:p>
          </p:txBody>
        </p:sp>
        <p:sp>
          <p:nvSpPr>
            <p:cNvPr id="28" name="圆角矩形 27"/>
            <p:cNvSpPr/>
            <p:nvPr/>
          </p:nvSpPr>
          <p:spPr>
            <a:xfrm>
              <a:off x="3130" y="7418"/>
              <a:ext cx="624" cy="624"/>
            </a:xfrm>
            <a:prstGeom prst="roundRect">
              <a:avLst/>
            </a:prstGeom>
            <a:noFill/>
            <a:ln>
              <a:solidFill>
                <a:schemeClr val="accent6">
                  <a:lumMod val="75000"/>
                </a:schemeClr>
              </a:solidFill>
            </a:ln>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flipH="1" flipV="1">
              <a:off x="3820" y="7896"/>
              <a:ext cx="206" cy="110"/>
            </a:xfrm>
            <a:prstGeom prst="line">
              <a:avLst/>
            </a:prstGeom>
            <a:ln w="9525">
              <a:solidFill>
                <a:schemeClr val="accent6">
                  <a:lumMod val="75000"/>
                </a:schemeClr>
              </a:solidFill>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3957" y="7846"/>
              <a:ext cx="1653" cy="386"/>
            </a:xfrm>
            <a:prstGeom prst="rect">
              <a:avLst/>
            </a:prstGeom>
            <a:noFill/>
          </p:spPr>
          <p:txBody>
            <a:bodyPr wrap="square" rtlCol="0">
              <a:spAutoFit/>
            </a:bodyPr>
            <a:lstStyle/>
            <a:p>
              <a:r>
                <a:rPr lang="en-US" altLang="zh-CN" sz="1000">
                  <a:solidFill>
                    <a:schemeClr val="accent6">
                      <a:lumMod val="75000"/>
                    </a:schemeClr>
                  </a:solidFill>
                  <a:latin typeface="Georgia" panose="02040502050405020303" charset="0"/>
                  <a:cs typeface="Georgia" panose="02040502050405020303" charset="0"/>
                </a:rPr>
                <a:t>target-oriented</a:t>
              </a:r>
              <a:endParaRPr lang="en-US" altLang="zh-CN" sz="1000">
                <a:solidFill>
                  <a:schemeClr val="accent6">
                    <a:lumMod val="75000"/>
                  </a:schemeClr>
                </a:solidFill>
                <a:latin typeface="Georgia" panose="02040502050405020303" charset="0"/>
                <a:cs typeface="Georgia" panose="02040502050405020303" charset="0"/>
              </a:endParaRPr>
            </a:p>
          </p:txBody>
        </p:sp>
        <p:cxnSp>
          <p:nvCxnSpPr>
            <p:cNvPr id="32" name="直接连接符 31"/>
            <p:cNvCxnSpPr/>
            <p:nvPr/>
          </p:nvCxnSpPr>
          <p:spPr>
            <a:xfrm flipH="1" flipV="1">
              <a:off x="2568" y="8762"/>
              <a:ext cx="206" cy="110"/>
            </a:xfrm>
            <a:prstGeom prst="line">
              <a:avLst/>
            </a:prstGeom>
            <a:ln w="9525">
              <a:solidFill>
                <a:schemeClr val="bg1">
                  <a:lumMod val="50000"/>
                </a:schemeClr>
              </a:solidFill>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2774" y="8714"/>
              <a:ext cx="1707" cy="386"/>
            </a:xfrm>
            <a:prstGeom prst="rect">
              <a:avLst/>
            </a:prstGeom>
            <a:noFill/>
          </p:spPr>
          <p:txBody>
            <a:bodyPr wrap="square" rtlCol="0">
              <a:spAutoFit/>
            </a:bodyPr>
            <a:lstStyle/>
            <a:p>
              <a:r>
                <a:rPr lang="en-US" altLang="zh-CN" sz="1000">
                  <a:solidFill>
                    <a:schemeClr val="bg1">
                      <a:lumMod val="50000"/>
                    </a:schemeClr>
                  </a:solidFill>
                  <a:latin typeface="Georgia" panose="02040502050405020303" charset="0"/>
                  <a:cs typeface="Georgia" panose="02040502050405020303" charset="0"/>
                </a:rPr>
                <a:t>global-oriented</a:t>
              </a:r>
              <a:endParaRPr lang="en-US" altLang="zh-CN" sz="1000">
                <a:solidFill>
                  <a:schemeClr val="bg1">
                    <a:lumMod val="50000"/>
                  </a:schemeClr>
                </a:solidFill>
                <a:latin typeface="Georgia" panose="02040502050405020303" charset="0"/>
                <a:cs typeface="Georgia" panose="02040502050405020303" charset="0"/>
              </a:endParaRPr>
            </a:p>
          </p:txBody>
        </p:sp>
      </p:grpSp>
      <p:pic>
        <p:nvPicPr>
          <p:cNvPr id="4" name="图片 3" descr="output"/>
          <p:cNvPicPr>
            <a:picLocks noChangeAspect="1"/>
          </p:cNvPicPr>
          <p:nvPr/>
        </p:nvPicPr>
        <p:blipFill>
          <a:blip r:embed="rId4"/>
          <a:stretch>
            <a:fillRect/>
          </a:stretch>
        </p:blipFill>
        <p:spPr>
          <a:xfrm>
            <a:off x="5264150" y="1760220"/>
            <a:ext cx="3076575" cy="2037715"/>
          </a:xfrm>
          <a:prstGeom prst="rect">
            <a:avLst/>
          </a:prstGeom>
        </p:spPr>
      </p:pic>
      <p:pic>
        <p:nvPicPr>
          <p:cNvPr id="10" name="图片 9" descr="output"/>
          <p:cNvPicPr>
            <a:picLocks noChangeAspect="1"/>
          </p:cNvPicPr>
          <p:nvPr/>
        </p:nvPicPr>
        <p:blipFill>
          <a:blip r:embed="rId5"/>
          <a:stretch>
            <a:fillRect/>
          </a:stretch>
        </p:blipFill>
        <p:spPr>
          <a:xfrm>
            <a:off x="1998345" y="4000500"/>
            <a:ext cx="8067675" cy="2635250"/>
          </a:xfrm>
          <a:prstGeom prst="rect">
            <a:avLst/>
          </a:prstGeom>
        </p:spPr>
      </p:pic>
      <p:sp>
        <p:nvSpPr>
          <p:cNvPr id="2" name="文本框 1"/>
          <p:cNvSpPr txBox="1"/>
          <p:nvPr/>
        </p:nvSpPr>
        <p:spPr>
          <a:xfrm>
            <a:off x="1123950" y="22288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sp>
        <p:nvSpPr>
          <p:cNvPr id="5" name="文本框 4"/>
          <p:cNvSpPr txBox="1"/>
          <p:nvPr/>
        </p:nvSpPr>
        <p:spPr>
          <a:xfrm>
            <a:off x="5257800" y="918210"/>
            <a:ext cx="6546850" cy="645160"/>
          </a:xfrm>
          <a:prstGeom prst="rect">
            <a:avLst/>
          </a:prstGeom>
        </p:spPr>
        <p:txBody>
          <a:bodyPr wrap="square">
            <a:spAutoFit/>
          </a:bodyPr>
          <a:lstStyle/>
          <a:p>
            <a:pPr algn="ctr" defTabSz="266700"/>
            <a:r>
              <a:rPr lang="en-US">
                <a:solidFill>
                  <a:schemeClr val="accent2"/>
                </a:solidFill>
                <a:latin typeface="Georgia" panose="02040502050405020303" charset="0"/>
                <a:ea typeface="宋体" panose="02010600030101010101" pitchFamily="2" charset="-122"/>
                <a:cs typeface="Georgia" panose="02040502050405020303" charset="0"/>
              </a:rPr>
              <a:t>Unexpected Finding: When using rewards that focus more on global goal, (</a:t>
            </a:r>
            <a:r>
              <a:rPr lang="en-US" i="1">
                <a:solidFill>
                  <a:schemeClr val="accent2"/>
                </a:solidFill>
                <a:latin typeface="Georgia" panose="02040502050405020303" charset="0"/>
                <a:ea typeface="宋体" panose="02010600030101010101" pitchFamily="2" charset="-122"/>
                <a:cs typeface="Georgia" panose="02040502050405020303" charset="0"/>
              </a:rPr>
              <a:t>i.e.</a:t>
            </a:r>
            <a:r>
              <a:rPr lang="en-US">
                <a:solidFill>
                  <a:schemeClr val="accent2"/>
                </a:solidFill>
                <a:latin typeface="Georgia" panose="02040502050405020303" charset="0"/>
                <a:ea typeface="宋体" panose="02010600030101010101" pitchFamily="2" charset="-122"/>
                <a:cs typeface="Georgia" panose="02040502050405020303" charset="0"/>
              </a:rPr>
              <a:t>, total profit), the performance gets worse.</a:t>
            </a:r>
            <a:endParaRPr lang="en-US" altLang="zh-CN">
              <a:solidFill>
                <a:schemeClr val="accent2"/>
              </a:solidFill>
              <a:latin typeface="Georgia" panose="02040502050405020303" charset="0"/>
              <a:ea typeface="宋体" panose="02010600030101010101" pitchFamily="2" charset="-122"/>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16332">
        <p:wipe dir="d"/>
      </p:transition>
    </mc:Choice>
    <mc:Fallback>
      <p:transition advTm="16332">
        <p:wipe dir="d"/>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7" name="文本框 6"/>
          <p:cNvSpPr txBox="1"/>
          <p:nvPr/>
        </p:nvSpPr>
        <p:spPr>
          <a:xfrm>
            <a:off x="614045" y="908050"/>
            <a:ext cx="328993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Cost Structure Analysis</a:t>
            </a:r>
            <a:endParaRPr lang="en-US" altLang="zh-CN" sz="2000" b="1">
              <a:solidFill>
                <a:srgbClr val="000000"/>
              </a:solidFill>
              <a:latin typeface="Georgia" panose="02040502050405020303" charset="0"/>
              <a:ea typeface="CMR10"/>
              <a:cs typeface="Georgia" panose="02040502050405020303" charset="0"/>
            </a:endParaRPr>
          </a:p>
        </p:txBody>
      </p:sp>
      <p:sp>
        <p:nvSpPr>
          <p:cNvPr id="5" name="文本框 4"/>
          <p:cNvSpPr txBox="1"/>
          <p:nvPr/>
        </p:nvSpPr>
        <p:spPr>
          <a:xfrm>
            <a:off x="1123950" y="222885"/>
            <a:ext cx="5106035" cy="583565"/>
          </a:xfrm>
          <a:prstGeom prst="rect">
            <a:avLst/>
          </a:prstGeom>
          <a:noFill/>
        </p:spPr>
        <p:txBody>
          <a:bodyPr wrap="square" rtlCol="0">
            <a:spAutoFit/>
          </a:bodyPr>
          <a:lstStyle/>
          <a:p>
            <a:r>
              <a:rPr lang="en-US" altLang="zh-CN" sz="3200" b="1" dirty="0">
                <a:latin typeface="+mj-lt"/>
              </a:rPr>
              <a:t>Numerical Results</a:t>
            </a:r>
            <a:endParaRPr lang="zh-CN" altLang="en-US" sz="3200" b="1" dirty="0">
              <a:latin typeface="+mj-lt"/>
            </a:endParaRPr>
          </a:p>
        </p:txBody>
      </p:sp>
      <p:grpSp>
        <p:nvGrpSpPr>
          <p:cNvPr id="32" name="组合 31"/>
          <p:cNvGrpSpPr/>
          <p:nvPr>
            <p:custDataLst>
              <p:tags r:id="rId1"/>
            </p:custDataLst>
          </p:nvPr>
        </p:nvGrpSpPr>
        <p:grpSpPr>
          <a:xfrm>
            <a:off x="683895" y="1630680"/>
            <a:ext cx="5247640" cy="2339340"/>
            <a:chOff x="1077" y="2652"/>
            <a:chExt cx="8264" cy="3684"/>
          </a:xfrm>
        </p:grpSpPr>
        <p:sp>
          <p:nvSpPr>
            <p:cNvPr id="6" name="文本框 5"/>
            <p:cNvSpPr txBox="1"/>
            <p:nvPr>
              <p:custDataLst>
                <p:tags r:id="rId2"/>
              </p:custDataLst>
            </p:nvPr>
          </p:nvSpPr>
          <p:spPr>
            <a:xfrm>
              <a:off x="1252" y="3781"/>
              <a:ext cx="1765" cy="580"/>
            </a:xfrm>
            <a:prstGeom prst="rect">
              <a:avLst/>
            </a:prstGeom>
            <a:noFill/>
          </p:spPr>
          <p:txBody>
            <a:bodyPr wrap="square" rtlCol="0">
              <a:spAutoFit/>
            </a:bodyPr>
            <a:lstStyle/>
            <a:p>
              <a:pPr algn="ctr"/>
              <a:r>
                <a:rPr lang="en-US" altLang="zh-CN"/>
                <a:t>Poisson</a:t>
              </a:r>
              <a:endParaRPr lang="en-US" altLang="zh-CN"/>
            </a:p>
          </p:txBody>
        </p:sp>
        <mc:AlternateContent xmlns:mc="http://schemas.openxmlformats.org/markup-compatibility/2006">
          <mc:Choice xmlns:a14="http://schemas.microsoft.com/office/drawing/2010/main" Requires="a14">
            <p:sp>
              <p:nvSpPr>
                <p:cNvPr id="8" name="文本框 7"/>
                <p:cNvSpPr txBox="1"/>
                <p:nvPr>
                  <p:custDataLst>
                    <p:tags r:id="rId3"/>
                  </p:custDataLst>
                </p:nvPr>
              </p:nvSpPr>
              <p:spPr>
                <a:xfrm>
                  <a:off x="1077" y="4306"/>
                  <a:ext cx="2114" cy="661"/>
                </a:xfrm>
                <a:prstGeom prst="rect">
                  <a:avLst/>
                </a:prstGeom>
                <a:noFill/>
              </p:spPr>
              <p:txBody>
                <a:bodyPr wrap="square" rtlCol="0">
                  <a:spAutoFit/>
                </a:bodyPr>
                <a:lstStyle/>
                <a:p>
                  <a:pPr algn="ctr"/>
                  <a:r>
                    <a:rPr lang="en-US" altLang="zh-CN" sz="1600"/>
                    <a:t>(</a:t>
                  </a:r>
                  <a14:m>
                    <m:oMath xmlns:m="http://schemas.openxmlformats.org/officeDocument/2006/math">
                      <m:f>
                        <m:fPr>
                          <m:type m:val="skw"/>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𝑏</m:t>
                          </m:r>
                        </m:num>
                        <m:den>
                          <m:r>
                            <a:rPr lang="en-US" altLang="zh-CN" sz="1600" i="1">
                              <a:latin typeface="Cambria Math" panose="02040503050406030204" charset="0"/>
                              <a:cs typeface="Cambria Math" panose="02040503050406030204" charset="0"/>
                            </a:rPr>
                            <m:t>ℎ</m:t>
                          </m:r>
                        </m:den>
                      </m:f>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13</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3</m:t>
                      </m:r>
                    </m:oMath>
                  </a14:m>
                  <a:r>
                    <a:rPr lang="en-US" altLang="zh-CN" sz="1600"/>
                    <a:t>)</a:t>
                  </a:r>
                  <a:endParaRPr lang="en-US" altLang="zh-CN" sz="1600"/>
                </a:p>
              </p:txBody>
            </p:sp>
          </mc:Choice>
          <mc:Fallback>
            <p:sp>
              <p:nvSpPr>
                <p:cNvPr id="8" name="文本框 7"/>
                <p:cNvSpPr txBox="1">
                  <a:spLocks noRot="1" noChangeAspect="1" noMove="1" noResize="1" noEditPoints="1" noAdjustHandles="1" noChangeArrowheads="1" noChangeShapeType="1" noTextEdit="1"/>
                </p:cNvSpPr>
                <p:nvPr>
                  <p:custDataLst>
                    <p:tags r:id="rId4"/>
                  </p:custDataLst>
                </p:nvPr>
              </p:nvSpPr>
              <p:spPr>
                <a:xfrm>
                  <a:off x="1077" y="4306"/>
                  <a:ext cx="2114" cy="661"/>
                </a:xfrm>
                <a:prstGeom prst="rect">
                  <a:avLst/>
                </a:prstGeom>
                <a:blipFill rotWithShape="1">
                  <a:blip r:embed="rId5"/>
                </a:blipFill>
              </p:spPr>
              <p:txBody>
                <a:bodyPr/>
                <a:lstStyle/>
                <a:p>
                  <a:r>
                    <a:rPr lang="zh-CN" altLang="en-US">
                      <a:noFill/>
                    </a:rPr>
                    <a:t> </a:t>
                  </a:r>
                </a:p>
              </p:txBody>
            </p:sp>
          </mc:Fallback>
        </mc:AlternateContent>
        <p:pic>
          <p:nvPicPr>
            <p:cNvPr id="9" name="图片 8" descr="output"/>
            <p:cNvPicPr>
              <a:picLocks noChangeAspect="1"/>
            </p:cNvPicPr>
            <p:nvPr>
              <p:custDataLst>
                <p:tags r:id="rId6"/>
              </p:custDataLst>
            </p:nvPr>
          </p:nvPicPr>
          <p:blipFill>
            <a:blip r:embed="rId7">
              <a:clrChange>
                <a:clrFrom>
                  <a:srgbClr val="FFFFFF">
                    <a:alpha val="100000"/>
                  </a:srgbClr>
                </a:clrFrom>
                <a:clrTo>
                  <a:srgbClr val="FFFFFF">
                    <a:alpha val="100000"/>
                    <a:alpha val="0"/>
                  </a:srgbClr>
                </a:clrTo>
              </a:clrChange>
            </a:blip>
            <a:stretch>
              <a:fillRect/>
            </a:stretch>
          </p:blipFill>
          <p:spPr>
            <a:xfrm>
              <a:off x="3303" y="2652"/>
              <a:ext cx="6038" cy="3685"/>
            </a:xfrm>
            <a:prstGeom prst="rect">
              <a:avLst/>
            </a:prstGeom>
          </p:spPr>
        </p:pic>
      </p:grpSp>
      <p:grpSp>
        <p:nvGrpSpPr>
          <p:cNvPr id="33" name="组合 32"/>
          <p:cNvGrpSpPr/>
          <p:nvPr>
            <p:custDataLst>
              <p:tags r:id="rId8"/>
            </p:custDataLst>
          </p:nvPr>
        </p:nvGrpSpPr>
        <p:grpSpPr>
          <a:xfrm>
            <a:off x="6132195" y="1668463"/>
            <a:ext cx="5252283" cy="2340000"/>
            <a:chOff x="9657" y="2712"/>
            <a:chExt cx="8271" cy="3685"/>
          </a:xfrm>
        </p:grpSpPr>
        <p:sp>
          <p:nvSpPr>
            <p:cNvPr id="10" name="文本框 9"/>
            <p:cNvSpPr txBox="1"/>
            <p:nvPr>
              <p:custDataLst>
                <p:tags r:id="rId9"/>
              </p:custDataLst>
            </p:nvPr>
          </p:nvSpPr>
          <p:spPr>
            <a:xfrm>
              <a:off x="9831" y="3781"/>
              <a:ext cx="1765" cy="580"/>
            </a:xfrm>
            <a:prstGeom prst="rect">
              <a:avLst/>
            </a:prstGeom>
            <a:noFill/>
          </p:spPr>
          <p:txBody>
            <a:bodyPr wrap="square" rtlCol="0">
              <a:spAutoFit/>
            </a:bodyPr>
            <a:lstStyle/>
            <a:p>
              <a:pPr algn="ctr"/>
              <a:r>
                <a:rPr lang="en-US" altLang="zh-CN"/>
                <a:t>MJD</a:t>
              </a:r>
              <a:endParaRPr lang="en-US" altLang="zh-CN"/>
            </a:p>
          </p:txBody>
        </p:sp>
        <p:pic>
          <p:nvPicPr>
            <p:cNvPr id="11" name="图片 10" descr="output"/>
            <p:cNvPicPr>
              <a:picLocks noChangeAspect="1"/>
            </p:cNvPicPr>
            <p:nvPr>
              <p:custDataLst>
                <p:tags r:id="rId10"/>
              </p:custDataLst>
            </p:nvPr>
          </p:nvPicPr>
          <p:blipFill>
            <a:blip r:embed="rId11"/>
            <a:stretch>
              <a:fillRect/>
            </a:stretch>
          </p:blipFill>
          <p:spPr>
            <a:xfrm>
              <a:off x="11928" y="2712"/>
              <a:ext cx="6001" cy="3685"/>
            </a:xfrm>
            <a:prstGeom prst="rect">
              <a:avLst/>
            </a:prstGeom>
          </p:spPr>
        </p:pic>
        <mc:AlternateContent xmlns:mc="http://schemas.openxmlformats.org/markup-compatibility/2006">
          <mc:Choice xmlns:a14="http://schemas.microsoft.com/office/drawing/2010/main" Requires="a14">
            <p:sp>
              <p:nvSpPr>
                <p:cNvPr id="15" name="文本框 14"/>
                <p:cNvSpPr txBox="1"/>
                <p:nvPr>
                  <p:custDataLst>
                    <p:tags r:id="rId12"/>
                  </p:custDataLst>
                </p:nvPr>
              </p:nvSpPr>
              <p:spPr>
                <a:xfrm>
                  <a:off x="9657" y="4306"/>
                  <a:ext cx="2114" cy="661"/>
                </a:xfrm>
                <a:prstGeom prst="rect">
                  <a:avLst/>
                </a:prstGeom>
                <a:noFill/>
              </p:spPr>
              <p:txBody>
                <a:bodyPr wrap="square" rtlCol="0">
                  <a:spAutoFit/>
                </a:bodyPr>
                <a:lstStyle/>
                <a:p>
                  <a:pPr algn="ctr"/>
                  <a:r>
                    <a:rPr lang="en-US" altLang="zh-CN" sz="1600"/>
                    <a:t>(</a:t>
                  </a:r>
                  <a14:m>
                    <m:oMath xmlns:m="http://schemas.openxmlformats.org/officeDocument/2006/math">
                      <m:f>
                        <m:fPr>
                          <m:type m:val="skw"/>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𝑏</m:t>
                          </m:r>
                        </m:num>
                        <m:den>
                          <m:r>
                            <a:rPr lang="en-US" altLang="zh-CN" sz="1600" i="1">
                              <a:latin typeface="Cambria Math" panose="02040503050406030204" charset="0"/>
                              <a:cs typeface="Cambria Math" panose="02040503050406030204" charset="0"/>
                            </a:rPr>
                            <m:t>ℎ</m:t>
                          </m:r>
                        </m:den>
                      </m:f>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13</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3</m:t>
                      </m:r>
                    </m:oMath>
                  </a14:m>
                  <a:r>
                    <a:rPr lang="en-US" altLang="zh-CN" sz="1600"/>
                    <a:t>)</a:t>
                  </a:r>
                  <a:endParaRPr lang="en-US" altLang="zh-CN" sz="1600"/>
                </a:p>
              </p:txBody>
            </p:sp>
          </mc:Choice>
          <mc:Fallback>
            <p:sp>
              <p:nvSpPr>
                <p:cNvPr id="15" name="文本框 14"/>
                <p:cNvSpPr txBox="1">
                  <a:spLocks noRot="1" noChangeAspect="1" noMove="1" noResize="1" noEditPoints="1" noAdjustHandles="1" noChangeArrowheads="1" noChangeShapeType="1" noTextEdit="1"/>
                </p:cNvSpPr>
                <p:nvPr>
                  <p:custDataLst>
                    <p:tags r:id="rId13"/>
                  </p:custDataLst>
                </p:nvPr>
              </p:nvSpPr>
              <p:spPr>
                <a:xfrm>
                  <a:off x="9657" y="4306"/>
                  <a:ext cx="2114" cy="661"/>
                </a:xfrm>
                <a:prstGeom prst="rect">
                  <a:avLst/>
                </a:prstGeom>
                <a:blipFill rotWithShape="1">
                  <a:blip r:embed="rId5"/>
                </a:blipFill>
              </p:spPr>
              <p:txBody>
                <a:bodyPr/>
                <a:lstStyle/>
                <a:p>
                  <a:r>
                    <a:rPr lang="zh-CN" altLang="en-US">
                      <a:noFill/>
                    </a:rPr>
                    <a:t> </a:t>
                  </a:r>
                </a:p>
              </p:txBody>
            </p:sp>
          </mc:Fallback>
        </mc:AlternateContent>
      </p:grpSp>
      <p:grpSp>
        <p:nvGrpSpPr>
          <p:cNvPr id="31" name="组合 30"/>
          <p:cNvGrpSpPr/>
          <p:nvPr>
            <p:custDataLst>
              <p:tags r:id="rId14"/>
            </p:custDataLst>
          </p:nvPr>
        </p:nvGrpSpPr>
        <p:grpSpPr>
          <a:xfrm>
            <a:off x="673100" y="4224655"/>
            <a:ext cx="5226050" cy="2339340"/>
            <a:chOff x="1060" y="6521"/>
            <a:chExt cx="8230" cy="3684"/>
          </a:xfrm>
        </p:grpSpPr>
        <p:sp>
          <p:nvSpPr>
            <p:cNvPr id="22" name="文本框 21"/>
            <p:cNvSpPr txBox="1"/>
            <p:nvPr>
              <p:custDataLst>
                <p:tags r:id="rId15"/>
              </p:custDataLst>
            </p:nvPr>
          </p:nvSpPr>
          <p:spPr>
            <a:xfrm>
              <a:off x="1060" y="7572"/>
              <a:ext cx="2148" cy="580"/>
            </a:xfrm>
            <a:prstGeom prst="rect">
              <a:avLst/>
            </a:prstGeom>
            <a:noFill/>
          </p:spPr>
          <p:txBody>
            <a:bodyPr wrap="square" rtlCol="0">
              <a:spAutoFit/>
            </a:bodyPr>
            <a:lstStyle/>
            <a:p>
              <a:pPr algn="ctr"/>
              <a:r>
                <a:rPr lang="en-US" altLang="zh-CN"/>
                <a:t>Beverage</a:t>
              </a:r>
              <a:endParaRPr lang="en-US" altLang="zh-CN"/>
            </a:p>
          </p:txBody>
        </p:sp>
        <p:pic>
          <p:nvPicPr>
            <p:cNvPr id="23" name="图片 22" descr="output"/>
            <p:cNvPicPr>
              <a:picLocks noChangeAspect="1"/>
            </p:cNvPicPr>
            <p:nvPr>
              <p:custDataLst>
                <p:tags r:id="rId16"/>
              </p:custDataLst>
            </p:nvPr>
          </p:nvPicPr>
          <p:blipFill>
            <a:blip r:embed="rId17"/>
            <a:stretch>
              <a:fillRect/>
            </a:stretch>
          </p:blipFill>
          <p:spPr>
            <a:xfrm>
              <a:off x="3354" y="6521"/>
              <a:ext cx="5936" cy="3685"/>
            </a:xfrm>
            <a:prstGeom prst="rect">
              <a:avLst/>
            </a:prstGeom>
          </p:spPr>
        </p:pic>
        <mc:AlternateContent xmlns:mc="http://schemas.openxmlformats.org/markup-compatibility/2006">
          <mc:Choice xmlns:a14="http://schemas.microsoft.com/office/drawing/2010/main" Requires="a14">
            <p:sp>
              <p:nvSpPr>
                <p:cNvPr id="27" name="文本框 26"/>
                <p:cNvSpPr txBox="1"/>
                <p:nvPr>
                  <p:custDataLst>
                    <p:tags r:id="rId18"/>
                  </p:custDataLst>
                </p:nvPr>
              </p:nvSpPr>
              <p:spPr>
                <a:xfrm>
                  <a:off x="1077" y="8092"/>
                  <a:ext cx="2114" cy="661"/>
                </a:xfrm>
                <a:prstGeom prst="rect">
                  <a:avLst/>
                </a:prstGeom>
                <a:noFill/>
              </p:spPr>
              <p:txBody>
                <a:bodyPr wrap="square" rtlCol="0">
                  <a:spAutoFit/>
                </a:bodyPr>
                <a:lstStyle/>
                <a:p>
                  <a:pPr algn="ctr"/>
                  <a:r>
                    <a:rPr lang="en-US" altLang="zh-CN" sz="1600"/>
                    <a:t>(</a:t>
                  </a:r>
                  <a14:m>
                    <m:oMath xmlns:m="http://schemas.openxmlformats.org/officeDocument/2006/math">
                      <m:f>
                        <m:fPr>
                          <m:type m:val="skw"/>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𝑏</m:t>
                          </m:r>
                        </m:num>
                        <m:den>
                          <m:r>
                            <a:rPr lang="en-US" altLang="zh-CN" sz="1600" i="1">
                              <a:latin typeface="Cambria Math" panose="02040503050406030204" charset="0"/>
                              <a:cs typeface="Cambria Math" panose="02040503050406030204" charset="0"/>
                            </a:rPr>
                            <m:t>ℎ</m:t>
                          </m:r>
                        </m:den>
                      </m:f>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7</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5</m:t>
                      </m:r>
                    </m:oMath>
                  </a14:m>
                  <a:r>
                    <a:rPr lang="en-US" altLang="zh-CN" sz="1600"/>
                    <a:t>)</a:t>
                  </a:r>
                  <a:endParaRPr lang="en-US" altLang="zh-CN" sz="1600"/>
                </a:p>
              </p:txBody>
            </p:sp>
          </mc:Choice>
          <mc:Fallback>
            <p:sp>
              <p:nvSpPr>
                <p:cNvPr id="27" name="文本框 26"/>
                <p:cNvSpPr txBox="1">
                  <a:spLocks noRot="1" noChangeAspect="1" noMove="1" noResize="1" noEditPoints="1" noAdjustHandles="1" noChangeArrowheads="1" noChangeShapeType="1" noTextEdit="1"/>
                </p:cNvSpPr>
                <p:nvPr>
                  <p:custDataLst>
                    <p:tags r:id="rId19"/>
                  </p:custDataLst>
                </p:nvPr>
              </p:nvSpPr>
              <p:spPr>
                <a:xfrm>
                  <a:off x="1077" y="8092"/>
                  <a:ext cx="2114" cy="661"/>
                </a:xfrm>
                <a:prstGeom prst="rect">
                  <a:avLst/>
                </a:prstGeom>
                <a:blipFill rotWithShape="1">
                  <a:blip r:embed="rId20"/>
                </a:blipFill>
              </p:spPr>
              <p:txBody>
                <a:bodyPr/>
                <a:lstStyle/>
                <a:p>
                  <a:r>
                    <a:rPr lang="zh-CN" altLang="en-US">
                      <a:noFill/>
                    </a:rPr>
                    <a:t> </a:t>
                  </a:r>
                </a:p>
              </p:txBody>
            </p:sp>
          </mc:Fallback>
        </mc:AlternateContent>
      </p:grpSp>
      <p:grpSp>
        <p:nvGrpSpPr>
          <p:cNvPr id="34" name="组合 33"/>
          <p:cNvGrpSpPr/>
          <p:nvPr>
            <p:custDataLst>
              <p:tags r:id="rId21"/>
            </p:custDataLst>
          </p:nvPr>
        </p:nvGrpSpPr>
        <p:grpSpPr>
          <a:xfrm>
            <a:off x="6071870" y="4224655"/>
            <a:ext cx="5333865" cy="2340000"/>
            <a:chOff x="9562" y="6521"/>
            <a:chExt cx="8400" cy="3685"/>
          </a:xfrm>
        </p:grpSpPr>
        <p:sp>
          <p:nvSpPr>
            <p:cNvPr id="28" name="文本框 27"/>
            <p:cNvSpPr txBox="1"/>
            <p:nvPr>
              <p:custDataLst>
                <p:tags r:id="rId22"/>
              </p:custDataLst>
            </p:nvPr>
          </p:nvSpPr>
          <p:spPr>
            <a:xfrm>
              <a:off x="9562" y="7572"/>
              <a:ext cx="2303" cy="580"/>
            </a:xfrm>
            <a:prstGeom prst="rect">
              <a:avLst/>
            </a:prstGeom>
            <a:noFill/>
          </p:spPr>
          <p:txBody>
            <a:bodyPr wrap="square" rtlCol="0">
              <a:spAutoFit/>
            </a:bodyPr>
            <a:lstStyle/>
            <a:p>
              <a:pPr algn="ctr"/>
              <a:r>
                <a:rPr lang="en-US" altLang="zh-CN"/>
                <a:t>UnderHub</a:t>
              </a:r>
              <a:endParaRPr lang="en-US" altLang="zh-CN"/>
            </a:p>
          </p:txBody>
        </p:sp>
        <mc:AlternateContent xmlns:mc="http://schemas.openxmlformats.org/markup-compatibility/2006">
          <mc:Choice xmlns:a14="http://schemas.microsoft.com/office/drawing/2010/main" Requires="a14">
            <p:sp>
              <p:nvSpPr>
                <p:cNvPr id="29" name="文本框 28"/>
                <p:cNvSpPr txBox="1"/>
                <p:nvPr>
                  <p:custDataLst>
                    <p:tags r:id="rId23"/>
                  </p:custDataLst>
                </p:nvPr>
              </p:nvSpPr>
              <p:spPr>
                <a:xfrm>
                  <a:off x="9657" y="8092"/>
                  <a:ext cx="2114" cy="661"/>
                </a:xfrm>
                <a:prstGeom prst="rect">
                  <a:avLst/>
                </a:prstGeom>
                <a:noFill/>
              </p:spPr>
              <p:txBody>
                <a:bodyPr wrap="square" rtlCol="0">
                  <a:spAutoFit/>
                </a:bodyPr>
                <a:lstStyle/>
                <a:p>
                  <a:pPr algn="ctr"/>
                  <a:r>
                    <a:rPr lang="en-US" altLang="zh-CN" sz="1600"/>
                    <a:t>(</a:t>
                  </a:r>
                  <a14:m>
                    <m:oMath xmlns:m="http://schemas.openxmlformats.org/officeDocument/2006/math">
                      <m:f>
                        <m:fPr>
                          <m:type m:val="skw"/>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𝑏</m:t>
                          </m:r>
                        </m:num>
                        <m:den>
                          <m:r>
                            <a:rPr lang="en-US" altLang="zh-CN" sz="1600" i="1">
                              <a:latin typeface="Cambria Math" panose="02040503050406030204" charset="0"/>
                              <a:cs typeface="Cambria Math" panose="02040503050406030204" charset="0"/>
                            </a:rPr>
                            <m:t>ℎ</m:t>
                          </m:r>
                        </m:den>
                      </m:f>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66</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7</m:t>
                      </m:r>
                    </m:oMath>
                  </a14:m>
                  <a:r>
                    <a:rPr lang="en-US" altLang="zh-CN" sz="1600"/>
                    <a:t>)</a:t>
                  </a:r>
                  <a:endParaRPr lang="en-US" altLang="zh-CN" sz="1600"/>
                </a:p>
              </p:txBody>
            </p:sp>
          </mc:Choice>
          <mc:Fallback>
            <p:sp>
              <p:nvSpPr>
                <p:cNvPr id="29" name="文本框 28"/>
                <p:cNvSpPr txBox="1">
                  <a:spLocks noRot="1" noChangeAspect="1" noMove="1" noResize="1" noEditPoints="1" noAdjustHandles="1" noChangeArrowheads="1" noChangeShapeType="1" noTextEdit="1"/>
                </p:cNvSpPr>
                <p:nvPr>
                  <p:custDataLst>
                    <p:tags r:id="rId24"/>
                  </p:custDataLst>
                </p:nvPr>
              </p:nvSpPr>
              <p:spPr>
                <a:xfrm>
                  <a:off x="9657" y="8092"/>
                  <a:ext cx="2114" cy="661"/>
                </a:xfrm>
                <a:prstGeom prst="rect">
                  <a:avLst/>
                </a:prstGeom>
                <a:blipFill rotWithShape="1">
                  <a:blip r:embed="rId25"/>
                </a:blipFill>
              </p:spPr>
              <p:txBody>
                <a:bodyPr/>
                <a:lstStyle/>
                <a:p>
                  <a:r>
                    <a:rPr lang="zh-CN" altLang="en-US">
                      <a:noFill/>
                    </a:rPr>
                    <a:t> </a:t>
                  </a:r>
                </a:p>
              </p:txBody>
            </p:sp>
          </mc:Fallback>
        </mc:AlternateContent>
        <p:pic>
          <p:nvPicPr>
            <p:cNvPr id="30" name="图片 29" descr="output"/>
            <p:cNvPicPr>
              <a:picLocks noChangeAspect="1"/>
            </p:cNvPicPr>
            <p:nvPr>
              <p:custDataLst>
                <p:tags r:id="rId26"/>
              </p:custDataLst>
            </p:nvPr>
          </p:nvPicPr>
          <p:blipFill>
            <a:blip r:embed="rId27"/>
            <a:stretch>
              <a:fillRect/>
            </a:stretch>
          </p:blipFill>
          <p:spPr>
            <a:xfrm>
              <a:off x="11894" y="6521"/>
              <a:ext cx="6068" cy="3685"/>
            </a:xfrm>
            <a:prstGeom prst="rect">
              <a:avLst/>
            </a:prstGeom>
          </p:spPr>
        </p:pic>
      </p:grpSp>
      <p:cxnSp>
        <p:nvCxnSpPr>
          <p:cNvPr id="35" name="直接连接符 34"/>
          <p:cNvCxnSpPr/>
          <p:nvPr>
            <p:custDataLst>
              <p:tags r:id="rId28"/>
            </p:custDataLst>
          </p:nvPr>
        </p:nvCxnSpPr>
        <p:spPr>
          <a:xfrm>
            <a:off x="621665" y="4079875"/>
            <a:ext cx="10908000" cy="0"/>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36" name="直接连接符 35"/>
          <p:cNvCxnSpPr/>
          <p:nvPr>
            <p:custDataLst>
              <p:tags r:id="rId29"/>
            </p:custDataLst>
          </p:nvPr>
        </p:nvCxnSpPr>
        <p:spPr>
          <a:xfrm>
            <a:off x="6071870" y="1508760"/>
            <a:ext cx="0" cy="5148000"/>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4076700" y="908050"/>
            <a:ext cx="7329170" cy="645160"/>
          </a:xfrm>
          <a:prstGeom prst="rect">
            <a:avLst/>
          </a:prstGeom>
          <a:noFill/>
        </p:spPr>
        <p:txBody>
          <a:bodyPr wrap="square" rtlCol="0">
            <a:spAutoFit/>
          </a:bodyPr>
          <a:lstStyle/>
          <a:p>
            <a:pPr algn="ctr"/>
            <a:r>
              <a:rPr lang="en-US" altLang="zh-CN">
                <a:solidFill>
                  <a:schemeClr val="accent2"/>
                </a:solidFill>
                <a:latin typeface="Georgia" panose="02040502050405020303" charset="0"/>
                <a:cs typeface="Georgia" panose="02040502050405020303" charset="0"/>
              </a:rPr>
              <a:t>TransG tends to order less when facing unstable demand. </a:t>
            </a:r>
            <a:endParaRPr lang="en-US" altLang="zh-CN">
              <a:solidFill>
                <a:schemeClr val="accent2"/>
              </a:solidFill>
              <a:latin typeface="Georgia" panose="02040502050405020303" charset="0"/>
              <a:cs typeface="Georgia" panose="02040502050405020303" charset="0"/>
            </a:endParaRPr>
          </a:p>
          <a:p>
            <a:pPr algn="ctr"/>
            <a:r>
              <a:rPr lang="en-US" altLang="zh-CN">
                <a:solidFill>
                  <a:schemeClr val="accent2"/>
                </a:solidFill>
                <a:latin typeface="Georgia" panose="02040502050405020303" charset="0"/>
                <a:cs typeface="Georgia" panose="02040502050405020303" charset="0"/>
              </a:rPr>
              <a:t>(lowers the holding cost, while slightly increasing the stockout cost)</a:t>
            </a:r>
            <a:endParaRPr lang="en-US" altLang="zh-CN">
              <a:solidFill>
                <a:schemeClr val="accent2"/>
              </a:solidFill>
              <a:latin typeface="Georgia" panose="02040502050405020303" charset="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8896">
        <p:wipe dir="d"/>
      </p:transition>
    </mc:Choice>
    <mc:Fallback>
      <p:transition advTm="8896">
        <p:wipe dir="d"/>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7" name="文本框 6"/>
          <p:cNvSpPr txBox="1"/>
          <p:nvPr/>
        </p:nvSpPr>
        <p:spPr>
          <a:xfrm>
            <a:off x="637540" y="96520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Replenishment Policy</a:t>
            </a:r>
            <a:endParaRPr lang="en-US" altLang="zh-CN" sz="2000" b="1">
              <a:solidFill>
                <a:srgbClr val="000000"/>
              </a:solidFill>
              <a:latin typeface="Georgia" panose="02040502050405020303" charset="0"/>
              <a:ea typeface="CMR10"/>
              <a:cs typeface="Georgia" panose="02040502050405020303" charset="0"/>
            </a:endParaRPr>
          </a:p>
        </p:txBody>
      </p:sp>
      <p:sp>
        <p:nvSpPr>
          <p:cNvPr id="13" name="文本框 12"/>
          <p:cNvSpPr txBox="1"/>
          <p:nvPr/>
        </p:nvSpPr>
        <p:spPr>
          <a:xfrm>
            <a:off x="2581593" y="1603693"/>
            <a:ext cx="1376680" cy="398780"/>
          </a:xfrm>
          <a:prstGeom prst="rect">
            <a:avLst/>
          </a:prstGeom>
          <a:noFill/>
        </p:spPr>
        <p:txBody>
          <a:bodyPr wrap="square" rtlCol="0">
            <a:spAutoFit/>
          </a:bodyPr>
          <a:lstStyle/>
          <a:p>
            <a:pPr algn="ctr"/>
            <a:r>
              <a:rPr lang="en-US" altLang="zh-CN" sz="2000"/>
              <a:t>TransG</a:t>
            </a:r>
            <a:endParaRPr lang="en-US" altLang="zh-CN" sz="2000"/>
          </a:p>
        </p:txBody>
      </p:sp>
      <p:sp>
        <p:nvSpPr>
          <p:cNvPr id="14" name="文本框 13"/>
          <p:cNvSpPr txBox="1"/>
          <p:nvPr/>
        </p:nvSpPr>
        <p:spPr>
          <a:xfrm>
            <a:off x="7483158" y="1603693"/>
            <a:ext cx="2724785" cy="398780"/>
          </a:xfrm>
          <a:prstGeom prst="rect">
            <a:avLst/>
          </a:prstGeom>
          <a:noFill/>
        </p:spPr>
        <p:txBody>
          <a:bodyPr wrap="square" rtlCol="0">
            <a:spAutoFit/>
          </a:bodyPr>
          <a:lstStyle/>
          <a:p>
            <a:pPr algn="ctr"/>
            <a:r>
              <a:rPr lang="en-US" altLang="zh-CN" sz="2000"/>
              <a:t>LTO</a:t>
            </a:r>
            <a:endParaRPr lang="en-US" altLang="zh-CN" sz="2000"/>
          </a:p>
        </p:txBody>
      </p:sp>
      <p:cxnSp>
        <p:nvCxnSpPr>
          <p:cNvPr id="15" name="直接连接符 14"/>
          <p:cNvCxnSpPr/>
          <p:nvPr/>
        </p:nvCxnSpPr>
        <p:spPr>
          <a:xfrm>
            <a:off x="562610" y="2011045"/>
            <a:ext cx="11016000" cy="0"/>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528955" y="2070100"/>
            <a:ext cx="5375275" cy="4449445"/>
            <a:chOff x="1192" y="3320"/>
            <a:chExt cx="8196" cy="6784"/>
          </a:xfrm>
        </p:grpSpPr>
        <p:pic>
          <p:nvPicPr>
            <p:cNvPr id="8" name="图片 7" descr="Rep_R5"/>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227" y="4662"/>
              <a:ext cx="8127" cy="1417"/>
            </a:xfrm>
            <a:prstGeom prst="rect">
              <a:avLst/>
            </a:prstGeom>
          </p:spPr>
        </p:pic>
        <p:pic>
          <p:nvPicPr>
            <p:cNvPr id="12" name="图片 11" descr="Rep_R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1227" y="3320"/>
              <a:ext cx="8126" cy="1417"/>
            </a:xfrm>
            <a:prstGeom prst="rect">
              <a:avLst/>
            </a:prstGeom>
          </p:spPr>
        </p:pic>
        <p:pic>
          <p:nvPicPr>
            <p:cNvPr id="17" name="图片 16" descr="Rep_R5"/>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227" y="6004"/>
              <a:ext cx="8126" cy="1417"/>
            </a:xfrm>
            <a:prstGeom prst="rect">
              <a:avLst/>
            </a:prstGeom>
          </p:spPr>
        </p:pic>
        <p:pic>
          <p:nvPicPr>
            <p:cNvPr id="19" name="图片 18" descr="Rep_R9"/>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1192" y="7346"/>
              <a:ext cx="8196" cy="1417"/>
            </a:xfrm>
            <a:prstGeom prst="rect">
              <a:avLst/>
            </a:prstGeom>
          </p:spPr>
        </p:pic>
        <p:pic>
          <p:nvPicPr>
            <p:cNvPr id="20" name="图片 19" descr="Rep_R2"/>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227" y="8688"/>
              <a:ext cx="8126" cy="1417"/>
            </a:xfrm>
            <a:prstGeom prst="rect">
              <a:avLst/>
            </a:prstGeom>
          </p:spPr>
        </p:pic>
      </p:grpSp>
      <p:grpSp>
        <p:nvGrpSpPr>
          <p:cNvPr id="5" name="组合 4"/>
          <p:cNvGrpSpPr/>
          <p:nvPr/>
        </p:nvGrpSpPr>
        <p:grpSpPr>
          <a:xfrm>
            <a:off x="6106795" y="2070100"/>
            <a:ext cx="5416550" cy="4441190"/>
            <a:chOff x="9617" y="3320"/>
            <a:chExt cx="8279" cy="6788"/>
          </a:xfrm>
        </p:grpSpPr>
        <p:pic>
          <p:nvPicPr>
            <p:cNvPr id="9" name="图片 8" descr="Rep_R5"/>
            <p:cNvPicPr>
              <a:picLocks noChangeAspect="1"/>
            </p:cNvPicPr>
            <p:nvPr/>
          </p:nvPicPr>
          <p:blipFill>
            <a:blip r:embed="rId6"/>
            <a:stretch>
              <a:fillRect/>
            </a:stretch>
          </p:blipFill>
          <p:spPr>
            <a:xfrm>
              <a:off x="9646" y="4663"/>
              <a:ext cx="8221" cy="1417"/>
            </a:xfrm>
            <a:prstGeom prst="rect">
              <a:avLst/>
            </a:prstGeom>
          </p:spPr>
        </p:pic>
        <p:pic>
          <p:nvPicPr>
            <p:cNvPr id="10" name="图片 9" descr="Rep_R1"/>
            <p:cNvPicPr>
              <a:picLocks noChangeAspect="1"/>
            </p:cNvPicPr>
            <p:nvPr/>
          </p:nvPicPr>
          <p:blipFill>
            <a:blip r:embed="rId7"/>
            <a:stretch>
              <a:fillRect/>
            </a:stretch>
          </p:blipFill>
          <p:spPr>
            <a:xfrm>
              <a:off x="9647" y="3320"/>
              <a:ext cx="8221" cy="1417"/>
            </a:xfrm>
            <a:prstGeom prst="rect">
              <a:avLst/>
            </a:prstGeom>
          </p:spPr>
        </p:pic>
        <p:pic>
          <p:nvPicPr>
            <p:cNvPr id="18" name="图片 17" descr="Rep_R5"/>
            <p:cNvPicPr>
              <a:picLocks noChangeAspect="1"/>
            </p:cNvPicPr>
            <p:nvPr/>
          </p:nvPicPr>
          <p:blipFill>
            <a:blip r:embed="rId8"/>
            <a:stretch>
              <a:fillRect/>
            </a:stretch>
          </p:blipFill>
          <p:spPr>
            <a:xfrm>
              <a:off x="9646" y="6006"/>
              <a:ext cx="8222" cy="1417"/>
            </a:xfrm>
            <a:prstGeom prst="rect">
              <a:avLst/>
            </a:prstGeom>
          </p:spPr>
        </p:pic>
        <p:pic>
          <p:nvPicPr>
            <p:cNvPr id="21" name="图片 20" descr="Rep_R2"/>
            <p:cNvPicPr>
              <a:picLocks noChangeAspect="1"/>
            </p:cNvPicPr>
            <p:nvPr/>
          </p:nvPicPr>
          <p:blipFill>
            <a:blip r:embed="rId9"/>
            <a:stretch>
              <a:fillRect/>
            </a:stretch>
          </p:blipFill>
          <p:spPr>
            <a:xfrm>
              <a:off x="9617" y="8692"/>
              <a:ext cx="8279" cy="1417"/>
            </a:xfrm>
            <a:prstGeom prst="rect">
              <a:avLst/>
            </a:prstGeom>
          </p:spPr>
        </p:pic>
        <p:pic>
          <p:nvPicPr>
            <p:cNvPr id="22" name="图片 21" descr="Rep_R9"/>
            <p:cNvPicPr>
              <a:picLocks noChangeAspect="1"/>
            </p:cNvPicPr>
            <p:nvPr/>
          </p:nvPicPr>
          <p:blipFill>
            <a:blip r:embed="rId10"/>
            <a:stretch>
              <a:fillRect/>
            </a:stretch>
          </p:blipFill>
          <p:spPr>
            <a:xfrm>
              <a:off x="9618" y="7349"/>
              <a:ext cx="8279" cy="1417"/>
            </a:xfrm>
            <a:prstGeom prst="rect">
              <a:avLst/>
            </a:prstGeom>
          </p:spPr>
        </p:pic>
      </p:grpSp>
      <p:sp>
        <p:nvSpPr>
          <p:cNvPr id="3" name="文本框 2"/>
          <p:cNvSpPr txBox="1"/>
          <p:nvPr/>
        </p:nvSpPr>
        <p:spPr>
          <a:xfrm>
            <a:off x="1140460" y="233045"/>
            <a:ext cx="5106035" cy="583565"/>
          </a:xfrm>
          <a:prstGeom prst="rect">
            <a:avLst/>
          </a:prstGeom>
          <a:noFill/>
        </p:spPr>
        <p:txBody>
          <a:bodyPr wrap="square" rtlCol="0">
            <a:spAutoFit/>
          </a:bodyPr>
          <a:lstStyle/>
          <a:p>
            <a:r>
              <a:rPr lang="en-US" altLang="zh-CN" sz="3200" b="1" dirty="0">
                <a:latin typeface="+mj-lt"/>
              </a:rPr>
              <a:t>Case Study</a:t>
            </a:r>
            <a:endParaRPr lang="zh-CN" altLang="en-US" sz="3200" b="1" dirty="0">
              <a:latin typeface="+mj-lt"/>
            </a:endParaRPr>
          </a:p>
        </p:txBody>
      </p:sp>
      <p:cxnSp>
        <p:nvCxnSpPr>
          <p:cNvPr id="11" name="直接连接符 10"/>
          <p:cNvCxnSpPr/>
          <p:nvPr/>
        </p:nvCxnSpPr>
        <p:spPr>
          <a:xfrm flipV="1">
            <a:off x="6031230" y="1513745"/>
            <a:ext cx="0" cy="5199380"/>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advTm="5106">
        <p:wipe dir="d"/>
      </p:transition>
    </mc:Choice>
    <mc:Fallback>
      <p:transition advTm="5106">
        <p:wipe dir="d"/>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7" name="文本框 6"/>
          <p:cNvSpPr txBox="1"/>
          <p:nvPr/>
        </p:nvSpPr>
        <p:spPr>
          <a:xfrm>
            <a:off x="708660" y="96139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Transshipment Policy</a:t>
            </a:r>
            <a:endParaRPr lang="en-US" altLang="zh-CN" sz="2000" b="1">
              <a:solidFill>
                <a:srgbClr val="000000"/>
              </a:solidFill>
              <a:latin typeface="Georgia" panose="02040502050405020303" charset="0"/>
              <a:ea typeface="CMR10"/>
              <a:cs typeface="Georgia" panose="02040502050405020303" charset="0"/>
            </a:endParaRPr>
          </a:p>
        </p:txBody>
      </p:sp>
      <p:pic>
        <p:nvPicPr>
          <p:cNvPr id="5" name="图片 4" descr="day_71"/>
          <p:cNvPicPr>
            <a:picLocks noChangeAspect="1"/>
          </p:cNvPicPr>
          <p:nvPr/>
        </p:nvPicPr>
        <p:blipFill>
          <a:blip r:embed="rId1"/>
          <a:stretch>
            <a:fillRect/>
          </a:stretch>
        </p:blipFill>
        <p:spPr>
          <a:xfrm>
            <a:off x="2578735" y="1663065"/>
            <a:ext cx="2603360" cy="2160000"/>
          </a:xfrm>
          <a:prstGeom prst="rect">
            <a:avLst/>
          </a:prstGeom>
          <a:effectLst>
            <a:outerShdw blurRad="63500" sx="102000" sy="102000" algn="ctr" rotWithShape="0">
              <a:prstClr val="black">
                <a:alpha val="40000"/>
              </a:prstClr>
            </a:outerShdw>
          </a:effectLst>
        </p:spPr>
      </p:pic>
      <p:pic>
        <p:nvPicPr>
          <p:cNvPr id="3" name="图片 2" descr="day_83"/>
          <p:cNvPicPr>
            <a:picLocks noChangeAspect="1"/>
          </p:cNvPicPr>
          <p:nvPr/>
        </p:nvPicPr>
        <p:blipFill>
          <a:blip r:embed="rId2"/>
          <a:stretch>
            <a:fillRect/>
          </a:stretch>
        </p:blipFill>
        <p:spPr>
          <a:xfrm>
            <a:off x="5599925" y="1663065"/>
            <a:ext cx="2602865" cy="2160000"/>
          </a:xfrm>
          <a:prstGeom prst="rect">
            <a:avLst/>
          </a:prstGeom>
          <a:effectLst>
            <a:outerShdw blurRad="63500" sx="102000" sy="102000" algn="ctr" rotWithShape="0">
              <a:prstClr val="black">
                <a:alpha val="40000"/>
              </a:prstClr>
            </a:outerShdw>
          </a:effectLst>
        </p:spPr>
      </p:pic>
      <p:sp>
        <p:nvSpPr>
          <p:cNvPr id="13" name="文本框 12"/>
          <p:cNvSpPr txBox="1"/>
          <p:nvPr/>
        </p:nvSpPr>
        <p:spPr>
          <a:xfrm>
            <a:off x="814070" y="2543675"/>
            <a:ext cx="1376680" cy="398780"/>
          </a:xfrm>
          <a:prstGeom prst="rect">
            <a:avLst/>
          </a:prstGeom>
          <a:noFill/>
        </p:spPr>
        <p:txBody>
          <a:bodyPr wrap="square" rtlCol="0">
            <a:spAutoFit/>
          </a:bodyPr>
          <a:lstStyle/>
          <a:p>
            <a:pPr algn="ctr"/>
            <a:r>
              <a:rPr lang="en-US" altLang="zh-CN" sz="2000"/>
              <a:t>TransG</a:t>
            </a:r>
            <a:endParaRPr lang="en-US" altLang="zh-CN" sz="2000"/>
          </a:p>
        </p:txBody>
      </p:sp>
      <p:pic>
        <p:nvPicPr>
          <p:cNvPr id="8" name="图片 7" descr="day_48"/>
          <p:cNvPicPr>
            <a:picLocks noChangeAspect="1"/>
          </p:cNvPicPr>
          <p:nvPr/>
        </p:nvPicPr>
        <p:blipFill>
          <a:blip r:embed="rId3"/>
          <a:stretch>
            <a:fillRect/>
          </a:stretch>
        </p:blipFill>
        <p:spPr>
          <a:xfrm>
            <a:off x="8620620" y="1663065"/>
            <a:ext cx="2602865" cy="2160000"/>
          </a:xfrm>
          <a:prstGeom prst="rect">
            <a:avLst/>
          </a:prstGeom>
          <a:effectLst>
            <a:outerShdw blurRad="63500" sx="102000" sy="102000" algn="ctr" rotWithShape="0">
              <a:prstClr val="black">
                <a:alpha val="40000"/>
              </a:prstClr>
            </a:outerShdw>
          </a:effectLst>
        </p:spPr>
      </p:pic>
      <p:pic>
        <p:nvPicPr>
          <p:cNvPr id="9" name="图片 8" descr="day_71"/>
          <p:cNvPicPr>
            <a:picLocks noChangeAspect="1"/>
          </p:cNvPicPr>
          <p:nvPr/>
        </p:nvPicPr>
        <p:blipFill>
          <a:blip r:embed="rId4"/>
          <a:stretch>
            <a:fillRect/>
          </a:stretch>
        </p:blipFill>
        <p:spPr>
          <a:xfrm>
            <a:off x="2578735" y="4165918"/>
            <a:ext cx="2600535" cy="2160000"/>
          </a:xfrm>
          <a:prstGeom prst="rect">
            <a:avLst/>
          </a:prstGeom>
          <a:effectLst>
            <a:outerShdw blurRad="63500" sx="102000" sy="102000" algn="ctr" rotWithShape="0">
              <a:prstClr val="black">
                <a:alpha val="40000"/>
              </a:prstClr>
            </a:outerShdw>
          </a:effectLst>
        </p:spPr>
      </p:pic>
      <p:pic>
        <p:nvPicPr>
          <p:cNvPr id="10" name="图片 9" descr="day_83"/>
          <p:cNvPicPr>
            <a:picLocks noChangeAspect="1"/>
          </p:cNvPicPr>
          <p:nvPr/>
        </p:nvPicPr>
        <p:blipFill>
          <a:blip r:embed="rId5"/>
          <a:stretch>
            <a:fillRect/>
          </a:stretch>
        </p:blipFill>
        <p:spPr>
          <a:xfrm>
            <a:off x="5575510" y="4165918"/>
            <a:ext cx="2652395" cy="2160000"/>
          </a:xfrm>
          <a:prstGeom prst="rect">
            <a:avLst/>
          </a:prstGeom>
          <a:effectLst>
            <a:outerShdw blurRad="63500" sx="102000" sy="102000" algn="ctr" rotWithShape="0">
              <a:prstClr val="black">
                <a:alpha val="40000"/>
              </a:prstClr>
            </a:outerShdw>
          </a:effectLst>
        </p:spPr>
      </p:pic>
      <p:pic>
        <p:nvPicPr>
          <p:cNvPr id="11" name="图片 10" descr="day_48"/>
          <p:cNvPicPr>
            <a:picLocks noChangeAspect="1"/>
          </p:cNvPicPr>
          <p:nvPr/>
        </p:nvPicPr>
        <p:blipFill>
          <a:blip r:embed="rId6"/>
          <a:stretch>
            <a:fillRect/>
          </a:stretch>
        </p:blipFill>
        <p:spPr>
          <a:xfrm>
            <a:off x="8624145" y="4165918"/>
            <a:ext cx="2599055" cy="2160000"/>
          </a:xfrm>
          <a:prstGeom prst="rect">
            <a:avLst/>
          </a:prstGeom>
          <a:effectLst>
            <a:outerShdw blurRad="63500" sx="102000" sy="102000" algn="ctr" rotWithShape="0">
              <a:prstClr val="black">
                <a:alpha val="40000"/>
              </a:prstClr>
            </a:outerShdw>
          </a:effectLst>
        </p:spPr>
      </p:pic>
      <p:cxnSp>
        <p:nvCxnSpPr>
          <p:cNvPr id="15" name="直接连接符 14"/>
          <p:cNvCxnSpPr/>
          <p:nvPr/>
        </p:nvCxnSpPr>
        <p:spPr>
          <a:xfrm>
            <a:off x="765810" y="4007485"/>
            <a:ext cx="10656000" cy="0"/>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814070" y="5046528"/>
            <a:ext cx="1376680" cy="398780"/>
          </a:xfrm>
          <a:prstGeom prst="rect">
            <a:avLst/>
          </a:prstGeom>
          <a:noFill/>
        </p:spPr>
        <p:txBody>
          <a:bodyPr wrap="square" rtlCol="0">
            <a:spAutoFit/>
          </a:bodyPr>
          <a:lstStyle/>
          <a:p>
            <a:pPr algn="ctr"/>
            <a:r>
              <a:rPr lang="en-US" altLang="zh-CN" sz="2000"/>
              <a:t>LTO</a:t>
            </a:r>
            <a:endParaRPr lang="en-US" altLang="zh-CN" sz="2000"/>
          </a:p>
        </p:txBody>
      </p:sp>
      <p:sp>
        <p:nvSpPr>
          <p:cNvPr id="4" name="文本框 3"/>
          <p:cNvSpPr txBox="1"/>
          <p:nvPr/>
        </p:nvSpPr>
        <p:spPr>
          <a:xfrm>
            <a:off x="1140460" y="233045"/>
            <a:ext cx="5106035" cy="583565"/>
          </a:xfrm>
          <a:prstGeom prst="rect">
            <a:avLst/>
          </a:prstGeom>
          <a:noFill/>
        </p:spPr>
        <p:txBody>
          <a:bodyPr wrap="square" rtlCol="0">
            <a:spAutoFit/>
          </a:bodyPr>
          <a:lstStyle/>
          <a:p>
            <a:r>
              <a:rPr lang="en-US" altLang="zh-CN" sz="3200" b="1" dirty="0">
                <a:latin typeface="+mj-lt"/>
              </a:rPr>
              <a:t>Case Study</a:t>
            </a:r>
            <a:endParaRPr lang="zh-CN" altLang="en-US" sz="3200" b="1" dirty="0">
              <a:latin typeface="+mj-lt"/>
            </a:endParaRPr>
          </a:p>
        </p:txBody>
      </p:sp>
      <p:cxnSp>
        <p:nvCxnSpPr>
          <p:cNvPr id="16" name="直接连接符 15"/>
          <p:cNvCxnSpPr/>
          <p:nvPr/>
        </p:nvCxnSpPr>
        <p:spPr>
          <a:xfrm flipV="1">
            <a:off x="2312670" y="1590040"/>
            <a:ext cx="0" cy="4824000"/>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4022725" y="1287780"/>
            <a:ext cx="5757545" cy="368300"/>
          </a:xfrm>
          <a:prstGeom prst="rect">
            <a:avLst/>
          </a:prstGeom>
          <a:noFill/>
        </p:spPr>
        <p:txBody>
          <a:bodyPr wrap="square" rtlCol="0">
            <a:spAutoFit/>
          </a:bodyPr>
          <a:lstStyle/>
          <a:p>
            <a:pPr algn="ctr"/>
            <a:r>
              <a:rPr lang="en-US" altLang="zh-CN">
                <a:solidFill>
                  <a:schemeClr val="accent2"/>
                </a:solidFill>
                <a:latin typeface="Georgia" panose="02040502050405020303" charset="0"/>
                <a:cs typeface="Georgia" panose="02040502050405020303" charset="0"/>
              </a:rPr>
              <a:t>(move large quantities over long distances)</a:t>
            </a:r>
            <a:endParaRPr lang="en-US" altLang="zh-CN">
              <a:solidFill>
                <a:schemeClr val="accent2"/>
              </a:solidFill>
              <a:latin typeface="Georgia" panose="02040502050405020303" charset="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8775">
        <p:wipe dir="d"/>
      </p:transition>
    </mc:Choice>
    <mc:Fallback>
      <p:transition advTm="8775">
        <p:wipe dir="d"/>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6" name="文本框 5"/>
          <p:cNvSpPr txBox="1"/>
          <p:nvPr/>
        </p:nvSpPr>
        <p:spPr>
          <a:xfrm>
            <a:off x="1141730" y="230505"/>
            <a:ext cx="6188075" cy="583565"/>
          </a:xfrm>
          <a:prstGeom prst="rect">
            <a:avLst/>
          </a:prstGeom>
          <a:noFill/>
        </p:spPr>
        <p:txBody>
          <a:bodyPr wrap="square" rtlCol="0">
            <a:spAutoFit/>
          </a:bodyPr>
          <a:lstStyle/>
          <a:p>
            <a:r>
              <a:rPr lang="en-US" altLang="zh-CN" sz="3200" b="1" dirty="0">
                <a:latin typeface="+mj-lt"/>
              </a:rPr>
              <a:t>Discussion &amp; Conclusion</a:t>
            </a:r>
            <a:endParaRPr lang="zh-CN" altLang="en-US" sz="3200" b="1" dirty="0">
              <a:latin typeface="+mj-lt"/>
            </a:endParaRPr>
          </a:p>
        </p:txBody>
      </p:sp>
      <p:sp>
        <p:nvSpPr>
          <p:cNvPr id="4" name="文本框 3"/>
          <p:cNvSpPr txBox="1"/>
          <p:nvPr/>
        </p:nvSpPr>
        <p:spPr>
          <a:xfrm>
            <a:off x="847090" y="1316990"/>
            <a:ext cx="10506710" cy="2901950"/>
          </a:xfrm>
          <a:prstGeom prst="rect">
            <a:avLst/>
          </a:prstGeom>
          <a:noFill/>
        </p:spPr>
        <p:txBody>
          <a:bodyPr wrap="square" rtlCol="0">
            <a:spAutoFit/>
          </a:bodyPr>
          <a:lstStyle/>
          <a:p>
            <a:pPr marL="285750" indent="-285750" algn="just" fontAlgn="auto">
              <a:lnSpc>
                <a:spcPct val="120000"/>
              </a:lnSpc>
              <a:spcBef>
                <a:spcPts val="600"/>
              </a:spcBef>
              <a:spcAft>
                <a:spcPts val="0"/>
              </a:spcAft>
              <a:buFont typeface="Arial" panose="020B0604020202020204" pitchFamily="34" charset="0"/>
              <a:buChar char="•"/>
            </a:pPr>
            <a:r>
              <a:rPr lang="en-US" altLang="zh-CN">
                <a:latin typeface="Georgia" panose="02040502050405020303" charset="0"/>
                <a:cs typeface="Georgia" panose="02040502050405020303" charset="0"/>
              </a:rPr>
              <a:t>We propose a </a:t>
            </a:r>
            <a:r>
              <a:rPr lang="en-US" altLang="zh-CN">
                <a:solidFill>
                  <a:srgbClr val="C00000"/>
                </a:solidFill>
                <a:latin typeface="Georgia" panose="02040502050405020303" charset="0"/>
                <a:cs typeface="Georgia" panose="02040502050405020303" charset="0"/>
              </a:rPr>
              <a:t>graph-based MARL framework, </a:t>
            </a:r>
            <a:r>
              <a:rPr lang="en-US" altLang="zh-CN" i="1">
                <a:solidFill>
                  <a:srgbClr val="C00000"/>
                </a:solidFill>
                <a:latin typeface="Georgia" panose="02040502050405020303" charset="0"/>
                <a:cs typeface="Georgia" panose="02040502050405020303" charset="0"/>
              </a:rPr>
              <a:t>TransG</a:t>
            </a:r>
            <a:r>
              <a:rPr lang="en-US" altLang="zh-CN">
                <a:latin typeface="Georgia" panose="02040502050405020303" charset="0"/>
                <a:cs typeface="Georgia" panose="02040502050405020303" charset="0"/>
              </a:rPr>
              <a:t>, that unifies inventory replenishment and lateral transshipment via graph-structured MDPs with centralized graph generation and DAG constraints, outperforming baselines in profit. </a:t>
            </a:r>
            <a:endParaRPr lang="en-US" altLang="zh-CN">
              <a:latin typeface="Georgia" panose="02040502050405020303" charset="0"/>
              <a:cs typeface="Georgia" panose="02040502050405020303" charset="0"/>
            </a:endParaRPr>
          </a:p>
          <a:p>
            <a:pPr marL="285750" indent="-285750" algn="just" fontAlgn="auto">
              <a:lnSpc>
                <a:spcPct val="120000"/>
              </a:lnSpc>
              <a:spcBef>
                <a:spcPts val="600"/>
              </a:spcBef>
              <a:spcAft>
                <a:spcPts val="0"/>
              </a:spcAft>
              <a:buFont typeface="Arial" panose="020B0604020202020204" pitchFamily="34" charset="0"/>
              <a:buChar char="•"/>
            </a:pPr>
            <a:r>
              <a:rPr lang="en-US" altLang="zh-CN">
                <a:latin typeface="Georgia" panose="02040502050405020303" charset="0"/>
                <a:cs typeface="Georgia" panose="02040502050405020303" charset="0"/>
              </a:rPr>
              <a:t>To the best of our knowledge, we are among the first to solve inventory management problem with lateral transshipment and model MDP based on graph generation perspective.</a:t>
            </a:r>
            <a:endParaRPr lang="en-US" altLang="zh-CN">
              <a:latin typeface="Georgia" panose="02040502050405020303" charset="0"/>
              <a:cs typeface="Georgia" panose="02040502050405020303" charset="0"/>
            </a:endParaRPr>
          </a:p>
          <a:p>
            <a:pPr marL="285750" indent="-285750" algn="just" fontAlgn="auto">
              <a:lnSpc>
                <a:spcPct val="120000"/>
              </a:lnSpc>
              <a:spcBef>
                <a:spcPts val="600"/>
              </a:spcBef>
              <a:spcAft>
                <a:spcPts val="0"/>
              </a:spcAft>
              <a:buFont typeface="Arial" panose="020B0604020202020204" pitchFamily="34" charset="0"/>
              <a:buChar char="•"/>
            </a:pPr>
            <a:r>
              <a:rPr lang="en-US" altLang="zh-CN">
                <a:latin typeface="Georgia" panose="02040502050405020303" charset="0"/>
                <a:cs typeface="Georgia" panose="02040502050405020303" charset="0"/>
              </a:rPr>
              <a:t>The graph perspective bridges decentralized decisions with global coordination, offering insights for modeling multi-agent interdependencies which can also be extended to logistics or resource allocation domains.</a:t>
            </a:r>
            <a:endParaRPr lang="en-US" altLang="zh-CN">
              <a:latin typeface="Georgia" panose="02040502050405020303" charset="0"/>
              <a:cs typeface="Georgia" panose="02040502050405020303" charset="0"/>
            </a:endParaRPr>
          </a:p>
        </p:txBody>
      </p:sp>
      <p:sp>
        <p:nvSpPr>
          <p:cNvPr id="7" name="文本框 6"/>
          <p:cNvSpPr txBox="1"/>
          <p:nvPr/>
        </p:nvSpPr>
        <p:spPr>
          <a:xfrm>
            <a:off x="629285" y="885190"/>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Main Contribution</a:t>
            </a:r>
            <a:endParaRPr lang="en-US" altLang="zh-CN" sz="2000" b="1">
              <a:solidFill>
                <a:srgbClr val="000000"/>
              </a:solidFill>
              <a:latin typeface="Georgia" panose="02040502050405020303" charset="0"/>
              <a:ea typeface="CMR10"/>
              <a:cs typeface="Georgia" panose="02040502050405020303" charset="0"/>
            </a:endParaRPr>
          </a:p>
        </p:txBody>
      </p:sp>
      <p:sp>
        <p:nvSpPr>
          <p:cNvPr id="8" name="文本框 7"/>
          <p:cNvSpPr txBox="1"/>
          <p:nvPr/>
        </p:nvSpPr>
        <p:spPr>
          <a:xfrm>
            <a:off x="629285" y="4175125"/>
            <a:ext cx="4646295" cy="475615"/>
          </a:xfrm>
          <a:prstGeom prst="rect">
            <a:avLst/>
          </a:prstGeom>
        </p:spPr>
        <p:txBody>
          <a:bodyPr wrap="square">
            <a:spAutoFit/>
          </a:bodyPr>
          <a:lstStyle/>
          <a:p>
            <a:pPr indent="0" fontAlgn="auto">
              <a:lnSpc>
                <a:spcPct val="125000"/>
              </a:lnSpc>
            </a:pPr>
            <a:r>
              <a:rPr lang="en-US" altLang="zh-CN" sz="2000" b="1">
                <a:solidFill>
                  <a:srgbClr val="000000"/>
                </a:solidFill>
                <a:latin typeface="Georgia" panose="02040502050405020303" charset="0"/>
                <a:ea typeface="CMR10"/>
                <a:cs typeface="Georgia" panose="02040502050405020303" charset="0"/>
              </a:rPr>
              <a:t>Limitations</a:t>
            </a:r>
            <a:endParaRPr lang="en-US" altLang="zh-CN" sz="2000" b="1">
              <a:solidFill>
                <a:srgbClr val="000000"/>
              </a:solidFill>
              <a:latin typeface="Georgia" panose="02040502050405020303" charset="0"/>
              <a:ea typeface="CMR10"/>
              <a:cs typeface="Georgia" panose="02040502050405020303" charset="0"/>
            </a:endParaRPr>
          </a:p>
        </p:txBody>
      </p:sp>
      <p:sp>
        <p:nvSpPr>
          <p:cNvPr id="10" name="文本框 9"/>
          <p:cNvSpPr txBox="1"/>
          <p:nvPr/>
        </p:nvSpPr>
        <p:spPr>
          <a:xfrm>
            <a:off x="847090" y="4606925"/>
            <a:ext cx="10506075" cy="1905635"/>
          </a:xfrm>
          <a:prstGeom prst="rect">
            <a:avLst/>
          </a:prstGeom>
          <a:noFill/>
        </p:spPr>
        <p:txBody>
          <a:bodyPr wrap="square" rtlCol="0">
            <a:spAutoFit/>
          </a:bodyPr>
          <a:lstStyle/>
          <a:p>
            <a:pPr marL="285750" indent="-285750" algn="just" fontAlgn="auto">
              <a:lnSpc>
                <a:spcPct val="120000"/>
              </a:lnSpc>
              <a:spcBef>
                <a:spcPts val="600"/>
              </a:spcBef>
              <a:buFont typeface="Arial" panose="020B0604020202020204" pitchFamily="34" charset="0"/>
              <a:buChar char="•"/>
            </a:pPr>
            <a:r>
              <a:rPr lang="en-US" altLang="zh-CN">
                <a:latin typeface="Georgia" panose="02040502050405020303" charset="0"/>
                <a:cs typeface="Georgia" panose="02040502050405020303" charset="0"/>
              </a:rPr>
              <a:t>It is still in the preliminary exploration stage, and the structure of each part is relatively simple.</a:t>
            </a:r>
            <a:endParaRPr lang="en-US" altLang="zh-CN">
              <a:latin typeface="Georgia" panose="02040502050405020303" charset="0"/>
              <a:cs typeface="Georgia" panose="02040502050405020303" charset="0"/>
            </a:endParaRPr>
          </a:p>
          <a:p>
            <a:pPr marL="285750" indent="-285750" algn="just" fontAlgn="auto">
              <a:lnSpc>
                <a:spcPct val="120000"/>
              </a:lnSpc>
              <a:spcBef>
                <a:spcPts val="600"/>
              </a:spcBef>
              <a:buFont typeface="Arial" panose="020B0604020202020204" pitchFamily="34" charset="0"/>
              <a:buChar char="•"/>
            </a:pPr>
            <a:r>
              <a:rPr lang="en-US" altLang="zh-CN">
                <a:latin typeface="Georgia" panose="02040502050405020303" charset="0"/>
                <a:cs typeface="Georgia" panose="02040502050405020303" charset="0"/>
              </a:rPr>
              <a:t>Future research may consider improving the limited performance by:</a:t>
            </a:r>
            <a:endParaRPr lang="en-US" altLang="zh-CN">
              <a:latin typeface="Georgia" panose="02040502050405020303" charset="0"/>
              <a:cs typeface="Georgia" panose="02040502050405020303" charset="0"/>
            </a:endParaRPr>
          </a:p>
          <a:p>
            <a:pPr marL="800100" lvl="1" indent="-342900" algn="just" fontAlgn="auto">
              <a:lnSpc>
                <a:spcPct val="120000"/>
              </a:lnSpc>
              <a:spcBef>
                <a:spcPts val="300"/>
              </a:spcBef>
              <a:buFont typeface="+mj-lt"/>
              <a:buAutoNum type="alphaLcParenR"/>
            </a:pPr>
            <a:r>
              <a:rPr lang="en-US" altLang="zh-CN">
                <a:latin typeface="Georgia" panose="02040502050405020303" charset="0"/>
                <a:cs typeface="Georgia" panose="02040502050405020303" charset="0"/>
              </a:rPr>
              <a:t>Designing better mechanisms like topological sorting for integrating graph generation and policy generation stages.</a:t>
            </a:r>
            <a:endParaRPr lang="en-US" altLang="zh-CN">
              <a:latin typeface="Georgia" panose="02040502050405020303" charset="0"/>
              <a:cs typeface="Georgia" panose="02040502050405020303" charset="0"/>
            </a:endParaRPr>
          </a:p>
          <a:p>
            <a:pPr marL="800100" lvl="1" indent="-342900" algn="just" fontAlgn="auto">
              <a:lnSpc>
                <a:spcPct val="120000"/>
              </a:lnSpc>
              <a:spcBef>
                <a:spcPts val="300"/>
              </a:spcBef>
              <a:buFont typeface="+mj-lt"/>
              <a:buAutoNum type="alphaLcParenR"/>
            </a:pPr>
            <a:r>
              <a:rPr lang="en-US" altLang="zh-CN">
                <a:latin typeface="Georgia" panose="02040502050405020303" charset="0"/>
                <a:cs typeface="Georgia" panose="02040502050405020303" charset="0"/>
              </a:rPr>
              <a:t>Resolve partial observation issues between replenishment and transshipment decisions.</a:t>
            </a:r>
            <a:endParaRPr lang="en-US" altLang="zh-CN">
              <a:latin typeface="Georgia" panose="02040502050405020303" charset="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44110">
        <p:wipe dir="d"/>
      </p:transition>
    </mc:Choice>
    <mc:Fallback>
      <p:transition advTm="44110">
        <p:wipe dir="d"/>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876300" y="945134"/>
            <a:ext cx="10172700" cy="3161186"/>
          </a:xfrm>
          <a:prstGeom prst="rect">
            <a:avLst/>
          </a:prstGeom>
          <a:noFill/>
        </p:spPr>
        <p:txBody>
          <a:bodyPr wrap="square">
            <a:spAutoFit/>
          </a:bodyPr>
          <a:lstStyle/>
          <a:p>
            <a:pPr algn="ctr">
              <a:lnSpc>
                <a:spcPct val="200000"/>
              </a:lnSpc>
            </a:pPr>
            <a:r>
              <a:rPr lang="en-US" altLang="zh-CN" sz="5400" b="1" dirty="0">
                <a:latin typeface="Georgia" panose="02040502050405020303" charset="0"/>
                <a:cs typeface="Georgia" panose="02040502050405020303" charset="0"/>
              </a:rPr>
              <a:t>Thank you for listening !</a:t>
            </a:r>
            <a:endParaRPr lang="en-US" altLang="zh-CN" sz="5400" b="1" dirty="0">
              <a:latin typeface="Georgia" panose="02040502050405020303" charset="0"/>
              <a:cs typeface="Georgia" panose="02040502050405020303" charset="0"/>
            </a:endParaRPr>
          </a:p>
          <a:p>
            <a:pPr algn="ctr">
              <a:lnSpc>
                <a:spcPct val="200000"/>
              </a:lnSpc>
            </a:pPr>
            <a:r>
              <a:rPr lang="en-US" altLang="zh-CN" sz="5400" b="1" dirty="0">
                <a:latin typeface="Georgia" panose="02040502050405020303" charset="0"/>
                <a:cs typeface="Georgia" panose="02040502050405020303" charset="0"/>
              </a:rPr>
              <a:t>Any Questions?</a:t>
            </a:r>
            <a:endParaRPr lang="en-US" altLang="zh-CN" sz="5400" b="1" dirty="0">
              <a:latin typeface="Georgia" panose="02040502050405020303" charset="0"/>
              <a:cs typeface="Georgia" panose="02040502050405020303" charset="0"/>
            </a:endParaRPr>
          </a:p>
        </p:txBody>
      </p:sp>
      <p:sp>
        <p:nvSpPr>
          <p:cNvPr id="5" name="文本框 4"/>
          <p:cNvSpPr txBox="1"/>
          <p:nvPr/>
        </p:nvSpPr>
        <p:spPr>
          <a:xfrm>
            <a:off x="1179195" y="4565698"/>
            <a:ext cx="9566910" cy="953135"/>
          </a:xfrm>
          <a:prstGeom prst="rect">
            <a:avLst/>
          </a:prstGeom>
          <a:noFill/>
        </p:spPr>
        <p:txBody>
          <a:bodyPr wrap="square">
            <a:spAutoFit/>
          </a:bodyPr>
          <a:lstStyle/>
          <a:p>
            <a:pPr algn="ctr">
              <a:lnSpc>
                <a:spcPct val="200000"/>
              </a:lnSpc>
            </a:pPr>
            <a:r>
              <a:rPr lang="en-US" altLang="zh-CN" sz="2800" b="1" dirty="0">
                <a:latin typeface="Georgia" panose="02040502050405020303" charset="0"/>
              </a:rPr>
              <a:t>(Apologies for the brevity due to time limitation.)</a:t>
            </a:r>
            <a:endParaRPr lang="en-US" altLang="zh-CN" sz="2800" b="1" dirty="0">
              <a:latin typeface="Georgia" panose="02040502050405020303" charset="0"/>
              <a:cs typeface="Georgia" panose="02040502050405020303" charset="0"/>
            </a:endParaRPr>
          </a:p>
        </p:txBody>
      </p:sp>
    </p:spTree>
  </p:cSld>
  <p:clrMapOvr>
    <a:masterClrMapping/>
  </p:clrMapOvr>
  <mc:AlternateContent xmlns:mc="http://schemas.openxmlformats.org/markup-compatibility/2006">
    <mc:Choice xmlns:p14="http://schemas.microsoft.com/office/powerpoint/2010/main" Requires="p14">
      <p:transition p14:dur="250" advTm="4737">
        <p:wipe dir="d"/>
      </p:transition>
    </mc:Choice>
    <mc:Fallback>
      <p:transition advTm="4737">
        <p:wipe dir="d"/>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TIMING" val="|6.58|9.469|16.212|11.102|6.331"/>
</p:tagLst>
</file>

<file path=ppt/tags/tag3.xml><?xml version="1.0" encoding="utf-8"?>
<p:tagLst xmlns:p="http://schemas.openxmlformats.org/presentationml/2006/main">
  <p:tag name="TABLE_ENDDRAG_ORIGIN_RECT" val="796*121"/>
  <p:tag name="TABLE_ENDDRAG_RECT" val="88*124*796*121"/>
</p:tagLst>
</file>

<file path=ppt/tags/tag4.xml><?xml version="1.0" encoding="utf-8"?>
<p:tagLst xmlns:p="http://schemas.openxmlformats.org/presentationml/2006/main">
  <p:tag name="TIMING" val="|39.345|23.041"/>
</p:tagLst>
</file>

<file path=ppt/tags/tag5.xml><?xml version="1.0" encoding="utf-8"?>
<p:tagLst xmlns:p="http://schemas.openxmlformats.org/presentationml/2006/main">
  <p:tag name="PICID" val="{340f6f18-078b-4675-bf62-b6733b6ae7ae}"/>
</p:tagLst>
</file>

<file path=ppt/tags/tag6.xml><?xml version="1.0" encoding="utf-8"?>
<p:tagLst xmlns:p="http://schemas.openxmlformats.org/presentationml/2006/main">
  <p:tag name="KSO_WM_DIAGRAM_VIRTUALLY_FRAME" val="{&quot;height&quot;:298.95,&quot;left&quot;:65.35,&quot;top&quot;:101.75,&quot;width&quot;:815.55}"/>
</p:tagLst>
</file>

<file path=ppt/tags/tag7.xml><?xml version="1.0" encoding="utf-8"?>
<p:tagLst xmlns:p="http://schemas.openxmlformats.org/presentationml/2006/main">
  <p:tag name="PICID" val="{340f6f18-078b-4675-bf62-b6733b6ae7ae}"/>
</p:tagLst>
</file>

<file path=ppt/tags/tag8.xml><?xml version="1.0" encoding="utf-8"?>
<p:tagLst xmlns:p="http://schemas.openxmlformats.org/presentationml/2006/main">
  <p:tag name="KSO_WM_DIAGRAM_VIRTUALLY_FRAME" val="{&quot;height&quot;:298.95,&quot;left&quot;:65.35,&quot;top&quot;:101.75,&quot;width&quot;:815.55}"/>
</p:tagLst>
</file>

<file path=ppt/tags/tag9.xml><?xml version="1.0" encoding="utf-8"?>
<p:tagLst xmlns:p="http://schemas.openxmlformats.org/presentationml/2006/main">
  <p:tag name="KSO_WM_DIAGRAM_VIRTUALLY_FRAME" val="{&quot;height&quot;:298.95,&quot;left&quot;:65.35,&quot;top&quot;:101.75,&quot;width&quot;:815.55}"/>
</p:tagLst>
</file>

<file path=ppt/tags/tag10.xml><?xml version="1.0" encoding="utf-8"?>
<p:tagLst xmlns:p="http://schemas.openxmlformats.org/presentationml/2006/main">
  <p:tag name="KSO_WM_DIAGRAM_VIRTUALLY_FRAME" val="{&quot;height&quot;:298.95,&quot;left&quot;:65.35,&quot;top&quot;:101.75,&quot;width&quot;:815.55}"/>
</p:tagLst>
</file>

<file path=ppt/tags/tag11.xml><?xml version="1.0" encoding="utf-8"?>
<p:tagLst xmlns:p="http://schemas.openxmlformats.org/presentationml/2006/main">
  <p:tag name="KSO_WM_DIAGRAM_VIRTUALLY_FRAME" val="{&quot;height&quot;:298.95,&quot;left&quot;:65.35,&quot;top&quot;:101.75,&quot;width&quot;:815.55}"/>
</p:tagLst>
</file>

<file path=ppt/tags/tag12.xml><?xml version="1.0" encoding="utf-8"?>
<p:tagLst xmlns:p="http://schemas.openxmlformats.org/presentationml/2006/main">
  <p:tag name="KSO_WM_DIAGRAM_VIRTUALLY_FRAME" val="{&quot;height&quot;:298.95,&quot;left&quot;:65.35,&quot;top&quot;:101.75,&quot;width&quot;:815.55}"/>
</p:tagLst>
</file>

<file path=ppt/tags/tag13.xml><?xml version="1.0" encoding="utf-8"?>
<p:tagLst xmlns:p="http://schemas.openxmlformats.org/presentationml/2006/main">
  <p:tag name="TIMING" val="|14.883|4.542|6.297|4.342|5.53|15.936|16.921|47.358|11.298|19.53|22.55"/>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TIMING" val="|17.179|5.772|7.501|9.685|18.406|15.633|36.498|14.956|16.785"/>
</p:tagLst>
</file>

<file path=ppt/tags/tag50.xml><?xml version="1.0" encoding="utf-8"?>
<p:tagLst xmlns:p="http://schemas.openxmlformats.org/presentationml/2006/main">
  <p:tag name="TABLE_ENDDRAG_ORIGIN_RECT" val="849*336"/>
  <p:tag name="TABLE_ENDDRAG_RECT" val="65*149*849*336"/>
</p:tagLst>
</file>

<file path=ppt/tags/tag51.xml><?xml version="1.0" encoding="utf-8"?>
<p:tagLst xmlns:p="http://schemas.openxmlformats.org/presentationml/2006/main">
  <p:tag name="TABLE_ENDDRAG_ORIGIN_RECT" val="849*336"/>
  <p:tag name="TABLE_ENDDRAG_RECT" val="65*149*849*336"/>
</p:tagLst>
</file>

<file path=ppt/tags/tag52.xml><?xml version="1.0" encoding="utf-8"?>
<p:tagLst xmlns:p="http://schemas.openxmlformats.org/presentationml/2006/main">
  <p:tag name="TIMING" val="|100.839"/>
</p:tagLst>
</file>

<file path=ppt/tags/tag53.xml><?xml version="1.0" encoding="utf-8"?>
<p:tagLst xmlns:p="http://schemas.openxmlformats.org/presentationml/2006/main">
  <p:tag name="TIMING" val="|14.505|19.573|18.411"/>
</p:tagLst>
</file>

<file path=ppt/tags/tag54.xml><?xml version="1.0" encoding="utf-8"?>
<p:tagLst xmlns:p="http://schemas.openxmlformats.org/presentationml/2006/main">
  <p:tag name="TIMING" val="|56.129|20.35|5.143"/>
</p:tagLst>
</file>

<file path=ppt/tags/tag55.xml><?xml version="1.0" encoding="utf-8"?>
<p:tagLst xmlns:p="http://schemas.openxmlformats.org/presentationml/2006/main">
  <p:tag name="TIMING" val="|34.729|16.106"/>
</p:tagLst>
</file>

<file path=ppt/tags/tag56.xml><?xml version="1.0" encoding="utf-8"?>
<p:tagLst xmlns:p="http://schemas.openxmlformats.org/presentationml/2006/main">
  <p:tag name="TIMING" val="|36.485"/>
</p:tagLst>
</file>

<file path=ppt/tags/tag57.xml><?xml version="1.0" encoding="utf-8"?>
<p:tagLst xmlns:p="http://schemas.openxmlformats.org/presentationml/2006/main">
  <p:tag name="KSO_WM_DIAGRAM_VIRTUALLY_FRAME" val="{&quot;height&quot;:411.9543307086615,&quot;left&quot;:48.95,&quot;top&quot;:112.2,&quot;width&quot;:860.6551181102362}"/>
</p:tagLst>
</file>

<file path=ppt/tags/tag58.xml><?xml version="1.0" encoding="utf-8"?>
<p:tagLst xmlns:p="http://schemas.openxmlformats.org/presentationml/2006/main">
  <p:tag name="KSO_WM_DIAGRAM_VIRTUALLY_FRAME" val="{&quot;height&quot;:411.9543307086615,&quot;left&quot;:48.95,&quot;top&quot;:112.2,&quot;width&quot;:860.6551181102362}"/>
</p:tagLst>
</file>

<file path=ppt/tags/tag59.xml><?xml version="1.0" encoding="utf-8"?>
<p:tagLst xmlns:p="http://schemas.openxmlformats.org/presentationml/2006/main">
  <p:tag name="KSO_WM_DIAGRAM_VIRTUALLY_FRAME" val="{&quot;height&quot;:411.9543307086615,&quot;left&quot;:48.95,&quot;top&quot;:112.2,&quot;width&quot;:860.6551181102362}"/>
</p:tagLst>
</file>

<file path=ppt/tags/tag60.xml><?xml version="1.0" encoding="utf-8"?>
<p:tagLst xmlns:p="http://schemas.openxmlformats.org/presentationml/2006/main">
  <p:tag name="KSO_WM_DIAGRAM_VIRTUALLY_FRAME" val="{&quot;height&quot;:411.9543307086615,&quot;left&quot;:48.95,&quot;top&quot;:112.2,&quot;width&quot;:860.6551181102362}"/>
</p:tagLst>
</file>

<file path=ppt/tags/tag61.xml><?xml version="1.0" encoding="utf-8"?>
<p:tagLst xmlns:p="http://schemas.openxmlformats.org/presentationml/2006/main">
  <p:tag name="KSO_WM_DIAGRAM_VIRTUALLY_FRAME" val="{&quot;height&quot;:411.9543307086615,&quot;left&quot;:48.95,&quot;top&quot;:112.2,&quot;width&quot;:860.6551181102362}"/>
</p:tagLst>
</file>

<file path=ppt/tags/tag62.xml><?xml version="1.0" encoding="utf-8"?>
<p:tagLst xmlns:p="http://schemas.openxmlformats.org/presentationml/2006/main">
  <p:tag name="KSO_WM_DIAGRAM_VIRTUALLY_FRAME" val="{&quot;height&quot;:411.9543307086615,&quot;left&quot;:48.95,&quot;top&quot;:112.2,&quot;width&quot;:860.6551181102362}"/>
</p:tagLst>
</file>

<file path=ppt/tags/tag63.xml><?xml version="1.0" encoding="utf-8"?>
<p:tagLst xmlns:p="http://schemas.openxmlformats.org/presentationml/2006/main">
  <p:tag name="KSO_WM_DIAGRAM_VIRTUALLY_FRAME" val="{&quot;height&quot;:411.9543307086615,&quot;left&quot;:48.95,&quot;top&quot;:112.2,&quot;width&quot;:860.6551181102362}"/>
</p:tagLst>
</file>

<file path=ppt/tags/tag64.xml><?xml version="1.0" encoding="utf-8"?>
<p:tagLst xmlns:p="http://schemas.openxmlformats.org/presentationml/2006/main">
  <p:tag name="KSO_WM_DIAGRAM_VIRTUALLY_FRAME" val="{&quot;height&quot;:411.9543307086615,&quot;left&quot;:48.95,&quot;top&quot;:112.2,&quot;width&quot;:860.6551181102362}"/>
</p:tagLst>
</file>

<file path=ppt/tags/tag65.xml><?xml version="1.0" encoding="utf-8"?>
<p:tagLst xmlns:p="http://schemas.openxmlformats.org/presentationml/2006/main">
  <p:tag name="KSO_WM_DIAGRAM_VIRTUALLY_FRAME" val="{&quot;height&quot;:411.9543307086615,&quot;left&quot;:48.95,&quot;top&quot;:112.2,&quot;width&quot;:860.6551181102362}"/>
</p:tagLst>
</file>

<file path=ppt/tags/tag66.xml><?xml version="1.0" encoding="utf-8"?>
<p:tagLst xmlns:p="http://schemas.openxmlformats.org/presentationml/2006/main">
  <p:tag name="KSO_WM_DIAGRAM_VIRTUALLY_FRAME" val="{&quot;height&quot;:411.9543307086615,&quot;left&quot;:48.95,&quot;top&quot;:112.2,&quot;width&quot;:860.6551181102362}"/>
</p:tagLst>
</file>

<file path=ppt/tags/tag67.xml><?xml version="1.0" encoding="utf-8"?>
<p:tagLst xmlns:p="http://schemas.openxmlformats.org/presentationml/2006/main">
  <p:tag name="KSO_WM_DIAGRAM_VIRTUALLY_FRAME" val="{&quot;height&quot;:411.9543307086615,&quot;left&quot;:48.95,&quot;top&quot;:112.2,&quot;width&quot;:860.6551181102362}"/>
</p:tagLst>
</file>

<file path=ppt/tags/tag68.xml><?xml version="1.0" encoding="utf-8"?>
<p:tagLst xmlns:p="http://schemas.openxmlformats.org/presentationml/2006/main">
  <p:tag name="KSO_WM_DIAGRAM_VIRTUALLY_FRAME" val="{&quot;height&quot;:411.9543307086615,&quot;left&quot;:48.95,&quot;top&quot;:112.2,&quot;width&quot;:860.6551181102362}"/>
</p:tagLst>
</file>

<file path=ppt/tags/tag69.xml><?xml version="1.0" encoding="utf-8"?>
<p:tagLst xmlns:p="http://schemas.openxmlformats.org/presentationml/2006/main">
  <p:tag name="KSO_WM_DIAGRAM_VIRTUALLY_FRAME" val="{&quot;height&quot;:411.9543307086615,&quot;left&quot;:48.95,&quot;top&quot;:112.2,&quot;width&quot;:860.6551181102362}"/>
</p:tagLst>
</file>

<file path=ppt/tags/tag70.xml><?xml version="1.0" encoding="utf-8"?>
<p:tagLst xmlns:p="http://schemas.openxmlformats.org/presentationml/2006/main">
  <p:tag name="KSO_WM_DIAGRAM_VIRTUALLY_FRAME" val="{&quot;height&quot;:411.9543307086615,&quot;left&quot;:48.95,&quot;top&quot;:112.2,&quot;width&quot;:860.6551181102362}"/>
</p:tagLst>
</file>

<file path=ppt/tags/tag71.xml><?xml version="1.0" encoding="utf-8"?>
<p:tagLst xmlns:p="http://schemas.openxmlformats.org/presentationml/2006/main">
  <p:tag name="KSO_WM_DIAGRAM_VIRTUALLY_FRAME" val="{&quot;height&quot;:411.9543307086615,&quot;left&quot;:48.95,&quot;top&quot;:112.2,&quot;width&quot;:860.6551181102362}"/>
</p:tagLst>
</file>

<file path=ppt/tags/tag72.xml><?xml version="1.0" encoding="utf-8"?>
<p:tagLst xmlns:p="http://schemas.openxmlformats.org/presentationml/2006/main">
  <p:tag name="KSO_WM_DIAGRAM_VIRTUALLY_FRAME" val="{&quot;height&quot;:411.9543307086615,&quot;left&quot;:48.95,&quot;top&quot;:112.2,&quot;width&quot;:860.6551181102362}"/>
</p:tagLst>
</file>

<file path=ppt/tags/tag73.xml><?xml version="1.0" encoding="utf-8"?>
<p:tagLst xmlns:p="http://schemas.openxmlformats.org/presentationml/2006/main">
  <p:tag name="KSO_WM_DIAGRAM_VIRTUALLY_FRAME" val="{&quot;height&quot;:411.9543307086615,&quot;left&quot;:48.95,&quot;top&quot;:112.2,&quot;width&quot;:860.6551181102362}"/>
</p:tagLst>
</file>

<file path=ppt/tags/tag74.xml><?xml version="1.0" encoding="utf-8"?>
<p:tagLst xmlns:p="http://schemas.openxmlformats.org/presentationml/2006/main">
  <p:tag name="KSO_WM_DIAGRAM_VIRTUALLY_FRAME" val="{&quot;height&quot;:411.9543307086615,&quot;left&quot;:48.95,&quot;top&quot;:112.2,&quot;width&quot;:860.6551181102362}"/>
</p:tagLst>
</file>

<file path=ppt/tags/tag75.xml><?xml version="1.0" encoding="utf-8"?>
<p:tagLst xmlns:p="http://schemas.openxmlformats.org/presentationml/2006/main">
  <p:tag name="KSO_WM_DIAGRAM_VIRTUALLY_FRAME" val="{&quot;height&quot;:411.9543307086615,&quot;left&quot;:48.95,&quot;top&quot;:112.2,&quot;width&quot;:860.6551181102362}"/>
</p:tagLst>
</file>

<file path=ppt/tags/tag76.xml><?xml version="1.0" encoding="utf-8"?>
<p:tagLst xmlns:p="http://schemas.openxmlformats.org/presentationml/2006/main">
  <p:tag name="KSO_WM_DIAGRAM_VIRTUALLY_FRAME" val="{&quot;height&quot;:411.9543307086615,&quot;left&quot;:48.95,&quot;top&quot;:112.2,&quot;width&quot;:860.6551181102362}"/>
</p:tagLst>
</file>

<file path=ppt/tags/tag77.xml><?xml version="1.0" encoding="utf-8"?>
<p:tagLst xmlns:p="http://schemas.openxmlformats.org/presentationml/2006/main">
  <p:tag name="KSO_WM_DIAGRAM_VIRTUALLY_FRAME" val="{&quot;height&quot;:411.9543307086615,&quot;left&quot;:48.95,&quot;top&quot;:112.2,&quot;width&quot;:860.6551181102362}"/>
</p:tagLst>
</file>

<file path=ppt/tags/tag78.xml><?xml version="1.0" encoding="utf-8"?>
<p:tagLst xmlns:p="http://schemas.openxmlformats.org/presentationml/2006/main">
  <p:tag name="KSO_WM_DIAGRAM_VIRTUALLY_FRAME" val="{&quot;height&quot;:411.9543307086615,&quot;left&quot;:48.95,&quot;top&quot;:112.2,&quot;width&quot;:860.6551181102362}"/>
</p:tagLst>
</file>

<file path=ppt/tags/tag79.xml><?xml version="1.0" encoding="utf-8"?>
<p:tagLst xmlns:p="http://schemas.openxmlformats.org/presentationml/2006/main">
  <p:tag name="COMMONDATA" val="eyJjb3VudCI6MiwiaGRpZCI6ImU2NDU0ZGJiZjA1MzI3NTM5MTRmYTdkY2IxMWZmNDBlIiwidXNlckNvdW50IjoyfQ=="/>
  <p:tag name="RESOURCE_RECORD_KEY" val="{&quot;10&quot;:[21546950,21571662,21570827,21571683,21594576],&quot;29&quot;:[50053044]}"/>
</p:tagLst>
</file>

<file path=ppt/theme/theme1.xml><?xml version="1.0" encoding="utf-8"?>
<a:theme xmlns:a="http://schemas.openxmlformats.org/drawingml/2006/main" name="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Georgia"/>
        <a:ea typeface="微软雅黑"/>
        <a:cs typeface=""/>
      </a:majorFont>
      <a:minorFont>
        <a:latin typeface="Sitka Tex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lumMod val="40000"/>
            <a:lumOff val="60000"/>
          </a:schemeClr>
        </a:solidFill>
        <a:ln>
          <a:noFill/>
        </a:ln>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14559</Words>
  <Application>WPS 演示</Application>
  <PresentationFormat>宽屏</PresentationFormat>
  <Paragraphs>720</Paragraphs>
  <Slides>31</Slides>
  <Notes>15</Notes>
  <HiddenSlides>1</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31</vt:i4>
      </vt:variant>
    </vt:vector>
  </HeadingPairs>
  <TitlesOfParts>
    <vt:vector size="51" baseType="lpstr">
      <vt:lpstr>Arial</vt:lpstr>
      <vt:lpstr>宋体</vt:lpstr>
      <vt:lpstr>Wingdings</vt:lpstr>
      <vt:lpstr>Times New Roman</vt:lpstr>
      <vt:lpstr>Sitka Text</vt:lpstr>
      <vt:lpstr>微软雅黑</vt:lpstr>
      <vt:lpstr>Georgia</vt:lpstr>
      <vt:lpstr>Cambria Math</vt:lpstr>
      <vt:lpstr>Wingdings</vt:lpstr>
      <vt:lpstr>CMR10</vt:lpstr>
      <vt:lpstr>Segoe Print</vt:lpstr>
      <vt:lpstr>MS Mincho</vt:lpstr>
      <vt:lpstr>CMBX12</vt:lpstr>
      <vt:lpstr>Arial Unicode MS</vt:lpstr>
      <vt:lpstr>等线</vt:lpstr>
      <vt:lpstr>CMR7</vt:lpstr>
      <vt:lpstr>CMMI10</vt:lpstr>
      <vt:lpstr>Calibri</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冯子函</cp:lastModifiedBy>
  <cp:revision>176</cp:revision>
  <dcterms:created xsi:type="dcterms:W3CDTF">2021-11-16T03:50:00Z</dcterms:created>
  <dcterms:modified xsi:type="dcterms:W3CDTF">2025-07-18T05:26:16Z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KSOTemplateUUID">
    <vt:lpwstr>v1.0_mb_ZuzXL9ClMdZim8IKtC5/+A==</vt:lpwstr>
  </property>
  <property fmtid="{D5CDD505-2E9C-101B-9397-08002B2CF9AE}" pid="4" name="ICV">
    <vt:lpwstr>FF1BA65B996E40EA945B7B91D3A37D66</vt:lpwstr>
  </property>
</Properties>
</file>